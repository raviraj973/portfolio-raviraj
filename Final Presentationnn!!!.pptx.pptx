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Consolas" panose="020B0609020204030204" pitchFamily="49" charset="0"/>
      <p:regular r:id="rId33"/>
      <p:bold r:id="rId34"/>
      <p:italic r:id="rId35"/>
      <p:boldItalic r:id="rId36"/>
    </p:embeddedFont>
    <p:embeddedFont>
      <p:font typeface="Roboto" panose="02000000000000000000" pitchFamily="2" charset="0"/>
      <p:regular r:id="rId37"/>
    </p:embeddedFont>
    <p:embeddedFont>
      <p:font typeface="Roboto Bold" panose="020B0604020202020204" charset="0"/>
      <p:regular r:id="rId38"/>
    </p:embeddedFont>
    <p:embeddedFont>
      <p:font typeface="Roboto Italics" panose="020B0604020202020204" charset="0"/>
      <p:regular r:id="rId39"/>
    </p:embeddedFont>
    <p:embeddedFont>
      <p:font typeface="Roboto Slab" pitchFamily="2"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79317-45E4-CFDE-A447-7243F7A0F42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05E4E5-C7CB-D34A-6BDA-D5E6F5796F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289973F-9888-AF8D-59E0-87993BAC1E4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6FF4AD0-251A-CB8D-2C1C-D984EDF3872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E9E7167-3FA7-C094-D033-D40A4C7B322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a:extLst>
              <a:ext uri="{FF2B5EF4-FFF2-40B4-BE49-F238E27FC236}">
                <a16:creationId xmlns:a16="http://schemas.microsoft.com/office/drawing/2014/main" id="{6770D2DF-101E-528D-B7D7-DA95DAE02FC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87B5E0A-AA8F-0DF6-406F-65DD324F32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94756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8" y="3816106"/>
            <a:ext cx="9111701" cy="1724383"/>
          </a:xfrm>
          <a:prstGeom prst="rect">
            <a:avLst/>
          </a:prstGeom>
        </p:spPr>
        <p:txBody>
          <a:bodyPr lIns="0" tIns="0" rIns="0" bIns="0" rtlCol="0" anchor="t">
            <a:spAutoFit/>
          </a:bodyPr>
          <a:lstStyle/>
          <a:p>
            <a:pPr algn="l">
              <a:lnSpc>
                <a:spcPts val="6937"/>
              </a:lnSpc>
            </a:pPr>
            <a:r>
              <a:rPr lang="en-US" sz="5562" dirty="0" err="1">
                <a:solidFill>
                  <a:srgbClr val="76B9FF"/>
                </a:solidFill>
                <a:latin typeface="Roboto Slab"/>
                <a:ea typeface="Roboto Slab"/>
                <a:cs typeface="Roboto Slab"/>
                <a:sym typeface="Roboto Slab"/>
              </a:rPr>
              <a:t>FinSight</a:t>
            </a:r>
            <a:r>
              <a:rPr lang="en-US" sz="5562" dirty="0">
                <a:solidFill>
                  <a:srgbClr val="76B9FF"/>
                </a:solidFill>
                <a:latin typeface="Roboto Slab"/>
                <a:ea typeface="Roboto Slab"/>
                <a:cs typeface="Roboto Slab"/>
                <a:sym typeface="Roboto Slab"/>
              </a:rPr>
              <a:t> – Money Manager</a:t>
            </a:r>
          </a:p>
        </p:txBody>
      </p:sp>
      <p:sp>
        <p:nvSpPr>
          <p:cNvPr id="9" name="TextBox 9"/>
          <p:cNvSpPr txBox="1"/>
          <p:nvPr/>
        </p:nvSpPr>
        <p:spPr>
          <a:xfrm>
            <a:off x="7850238" y="5051079"/>
            <a:ext cx="9445523" cy="878061"/>
          </a:xfrm>
          <a:prstGeom prst="rect">
            <a:avLst/>
          </a:prstGeom>
        </p:spPr>
        <p:txBody>
          <a:bodyPr lIns="0" tIns="0" rIns="0" bIns="0" rtlCol="0" anchor="t">
            <a:spAutoFit/>
          </a:bodyPr>
          <a:lstStyle/>
          <a:p>
            <a:pPr algn="l">
              <a:lnSpc>
                <a:spcPts val="3562"/>
              </a:lnSpc>
            </a:pPr>
            <a:endParaRPr lang="en-US" sz="2187" i="1" dirty="0">
              <a:solidFill>
                <a:srgbClr val="D6E5EF"/>
              </a:solidFill>
              <a:latin typeface="Roboto Italics"/>
              <a:ea typeface="Roboto Italics"/>
              <a:cs typeface="Roboto Italics"/>
              <a:sym typeface="Roboto Italics"/>
            </a:endParaRPr>
          </a:p>
          <a:p>
            <a:pPr algn="l">
              <a:lnSpc>
                <a:spcPts val="3562"/>
              </a:lnSpc>
            </a:pPr>
            <a:r>
              <a:rPr lang="en-US" sz="2187" i="1" dirty="0">
                <a:solidFill>
                  <a:srgbClr val="D6E5EF"/>
                </a:solidFill>
                <a:latin typeface="Roboto Italics"/>
                <a:ea typeface="Roboto Italics"/>
                <a:cs typeface="Roboto Italics"/>
                <a:sym typeface="Roboto Italics"/>
              </a:rPr>
              <a:t>Smart Finance. Clear Sight.</a:t>
            </a:r>
          </a:p>
        </p:txBody>
      </p:sp>
      <p:sp>
        <p:nvSpPr>
          <p:cNvPr id="12" name="TextBox 12"/>
          <p:cNvSpPr txBox="1"/>
          <p:nvPr/>
        </p:nvSpPr>
        <p:spPr>
          <a:xfrm>
            <a:off x="8020345" y="5927674"/>
            <a:ext cx="4622006" cy="684483"/>
          </a:xfrm>
          <a:prstGeom prst="rect">
            <a:avLst/>
          </a:prstGeom>
        </p:spPr>
        <p:txBody>
          <a:bodyPr lIns="0" tIns="0" rIns="0" bIns="0" rtlCol="0" anchor="t">
            <a:spAutoFit/>
          </a:bodyPr>
          <a:lstStyle/>
          <a:p>
            <a:pPr algn="l">
              <a:lnSpc>
                <a:spcPts val="2812"/>
              </a:lnSpc>
            </a:pPr>
            <a:endParaRPr lang="en-US" sz="1750" dirty="0">
              <a:solidFill>
                <a:srgbClr val="D6E5EF"/>
              </a:solidFill>
              <a:latin typeface="Roboto"/>
              <a:ea typeface="Roboto"/>
              <a:cs typeface="Roboto"/>
              <a:sym typeface="Roboto"/>
            </a:endParaRPr>
          </a:p>
          <a:p>
            <a:pPr algn="l">
              <a:lnSpc>
                <a:spcPts val="2812"/>
              </a:lnSpc>
            </a:pPr>
            <a:endParaRPr lang="en-US" sz="1750" dirty="0">
              <a:solidFill>
                <a:srgbClr val="D6E5E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1786090"/>
            <a:ext cx="7088238"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What Is Finsight?</a:t>
            </a:r>
          </a:p>
        </p:txBody>
      </p:sp>
      <p:grpSp>
        <p:nvGrpSpPr>
          <p:cNvPr id="11" name="Group 11"/>
          <p:cNvGrpSpPr/>
          <p:nvPr/>
        </p:nvGrpSpPr>
        <p:grpSpPr>
          <a:xfrm>
            <a:off x="992238" y="3116313"/>
            <a:ext cx="4580934" cy="2994574"/>
            <a:chOff x="0" y="0"/>
            <a:chExt cx="6107913" cy="3992766"/>
          </a:xfrm>
        </p:grpSpPr>
        <p:sp>
          <p:nvSpPr>
            <p:cNvPr id="12" name="Freeform 12"/>
            <p:cNvSpPr/>
            <p:nvPr/>
          </p:nvSpPr>
          <p:spPr>
            <a:xfrm>
              <a:off x="0" y="0"/>
              <a:ext cx="6107811" cy="3992753"/>
            </a:xfrm>
            <a:custGeom>
              <a:avLst/>
              <a:gdLst/>
              <a:ahLst/>
              <a:cxnLst/>
              <a:rect l="l" t="t" r="r" b="b"/>
              <a:pathLst>
                <a:path w="6107811" h="3992753">
                  <a:moveTo>
                    <a:pt x="0" y="56642"/>
                  </a:moveTo>
                  <a:cubicBezTo>
                    <a:pt x="0" y="25400"/>
                    <a:pt x="25400" y="0"/>
                    <a:pt x="56642" y="0"/>
                  </a:cubicBezTo>
                  <a:lnTo>
                    <a:pt x="6051169" y="0"/>
                  </a:lnTo>
                  <a:cubicBezTo>
                    <a:pt x="6082538" y="0"/>
                    <a:pt x="6107811" y="25400"/>
                    <a:pt x="6107811" y="56642"/>
                  </a:cubicBezTo>
                  <a:lnTo>
                    <a:pt x="6107811" y="3936111"/>
                  </a:lnTo>
                  <a:cubicBezTo>
                    <a:pt x="6107811" y="3967480"/>
                    <a:pt x="6082411" y="3992753"/>
                    <a:pt x="6051169" y="3992753"/>
                  </a:cubicBezTo>
                  <a:lnTo>
                    <a:pt x="56642" y="3992753"/>
                  </a:lnTo>
                  <a:cubicBezTo>
                    <a:pt x="25273" y="3992753"/>
                    <a:pt x="0" y="3967353"/>
                    <a:pt x="0" y="3936111"/>
                  </a:cubicBezTo>
                  <a:close/>
                </a:path>
              </a:pathLst>
            </a:custGeom>
            <a:solidFill>
              <a:srgbClr val="3F4652"/>
            </a:solidFill>
          </p:spPr>
        </p:sp>
      </p:grpSp>
      <p:sp>
        <p:nvSpPr>
          <p:cNvPr id="13" name="TextBox 13"/>
          <p:cNvSpPr txBox="1"/>
          <p:nvPr/>
        </p:nvSpPr>
        <p:spPr>
          <a:xfrm>
            <a:off x="1275759" y="3380784"/>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Finance + Insight</a:t>
            </a:r>
          </a:p>
        </p:txBody>
      </p:sp>
      <p:sp>
        <p:nvSpPr>
          <p:cNvPr id="14" name="TextBox 14"/>
          <p:cNvSpPr txBox="1"/>
          <p:nvPr/>
        </p:nvSpPr>
        <p:spPr>
          <a:xfrm>
            <a:off x="1275759" y="3917604"/>
            <a:ext cx="4013892" cy="1909762"/>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Finsight combines raw financial data with intelligent processing — turning transactions into clarity and action.</a:t>
            </a:r>
          </a:p>
        </p:txBody>
      </p:sp>
      <p:grpSp>
        <p:nvGrpSpPr>
          <p:cNvPr id="15" name="Group 15"/>
          <p:cNvGrpSpPr/>
          <p:nvPr/>
        </p:nvGrpSpPr>
        <p:grpSpPr>
          <a:xfrm>
            <a:off x="5856684" y="3116313"/>
            <a:ext cx="4581077" cy="2994574"/>
            <a:chOff x="0" y="0"/>
            <a:chExt cx="6108103" cy="3992766"/>
          </a:xfrm>
        </p:grpSpPr>
        <p:sp>
          <p:nvSpPr>
            <p:cNvPr id="16" name="Freeform 16"/>
            <p:cNvSpPr/>
            <p:nvPr/>
          </p:nvSpPr>
          <p:spPr>
            <a:xfrm>
              <a:off x="0" y="0"/>
              <a:ext cx="6108065" cy="3992753"/>
            </a:xfrm>
            <a:custGeom>
              <a:avLst/>
              <a:gdLst/>
              <a:ahLst/>
              <a:cxnLst/>
              <a:rect l="l" t="t" r="r" b="b"/>
              <a:pathLst>
                <a:path w="6108065" h="3992753">
                  <a:moveTo>
                    <a:pt x="0" y="56642"/>
                  </a:moveTo>
                  <a:cubicBezTo>
                    <a:pt x="0" y="25400"/>
                    <a:pt x="25400" y="0"/>
                    <a:pt x="56642" y="0"/>
                  </a:cubicBezTo>
                  <a:lnTo>
                    <a:pt x="6051423" y="0"/>
                  </a:lnTo>
                  <a:cubicBezTo>
                    <a:pt x="6082792" y="0"/>
                    <a:pt x="6108065" y="25400"/>
                    <a:pt x="6108065" y="56642"/>
                  </a:cubicBezTo>
                  <a:lnTo>
                    <a:pt x="6108065" y="3936111"/>
                  </a:lnTo>
                  <a:cubicBezTo>
                    <a:pt x="6108065" y="3967480"/>
                    <a:pt x="6082665" y="3992753"/>
                    <a:pt x="6051423" y="3992753"/>
                  </a:cubicBezTo>
                  <a:lnTo>
                    <a:pt x="56642" y="3992753"/>
                  </a:lnTo>
                  <a:cubicBezTo>
                    <a:pt x="25273" y="3992753"/>
                    <a:pt x="0" y="3967353"/>
                    <a:pt x="0" y="3936111"/>
                  </a:cubicBezTo>
                  <a:close/>
                </a:path>
              </a:pathLst>
            </a:custGeom>
            <a:solidFill>
              <a:srgbClr val="3F4652"/>
            </a:solidFill>
          </p:spPr>
        </p:sp>
      </p:grpSp>
      <p:sp>
        <p:nvSpPr>
          <p:cNvPr id="17" name="TextBox 17"/>
          <p:cNvSpPr txBox="1"/>
          <p:nvPr/>
        </p:nvSpPr>
        <p:spPr>
          <a:xfrm>
            <a:off x="6140206" y="3380784"/>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The Vision</a:t>
            </a:r>
          </a:p>
        </p:txBody>
      </p:sp>
      <p:sp>
        <p:nvSpPr>
          <p:cNvPr id="18" name="TextBox 18"/>
          <p:cNvSpPr txBox="1"/>
          <p:nvPr/>
        </p:nvSpPr>
        <p:spPr>
          <a:xfrm>
            <a:off x="6140206" y="3917604"/>
            <a:ext cx="4014045" cy="1909762"/>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Most people don't lack money — they lack visibility. Finsight turns spending data into meaningful, actionable insights.</a:t>
            </a:r>
          </a:p>
        </p:txBody>
      </p:sp>
      <p:grpSp>
        <p:nvGrpSpPr>
          <p:cNvPr id="19" name="Group 19"/>
          <p:cNvGrpSpPr/>
          <p:nvPr/>
        </p:nvGrpSpPr>
        <p:grpSpPr>
          <a:xfrm>
            <a:off x="992238" y="6394399"/>
            <a:ext cx="9445523" cy="2087318"/>
            <a:chOff x="0" y="0"/>
            <a:chExt cx="12594031" cy="2783091"/>
          </a:xfrm>
        </p:grpSpPr>
        <p:sp>
          <p:nvSpPr>
            <p:cNvPr id="20" name="Freeform 20"/>
            <p:cNvSpPr/>
            <p:nvPr/>
          </p:nvSpPr>
          <p:spPr>
            <a:xfrm>
              <a:off x="0" y="0"/>
              <a:ext cx="12594082" cy="2783078"/>
            </a:xfrm>
            <a:custGeom>
              <a:avLst/>
              <a:gdLst/>
              <a:ahLst/>
              <a:cxnLst/>
              <a:rect l="l" t="t" r="r" b="b"/>
              <a:pathLst>
                <a:path w="12594082" h="2783078">
                  <a:moveTo>
                    <a:pt x="0" y="56769"/>
                  </a:moveTo>
                  <a:cubicBezTo>
                    <a:pt x="0" y="25400"/>
                    <a:pt x="25400" y="0"/>
                    <a:pt x="56769" y="0"/>
                  </a:cubicBezTo>
                  <a:lnTo>
                    <a:pt x="12537313" y="0"/>
                  </a:lnTo>
                  <a:cubicBezTo>
                    <a:pt x="12568682" y="0"/>
                    <a:pt x="12594082" y="25400"/>
                    <a:pt x="12594082" y="56769"/>
                  </a:cubicBezTo>
                  <a:lnTo>
                    <a:pt x="12594082" y="2726309"/>
                  </a:lnTo>
                  <a:cubicBezTo>
                    <a:pt x="12594082" y="2757678"/>
                    <a:pt x="12568682" y="2783078"/>
                    <a:pt x="12537313" y="2783078"/>
                  </a:cubicBezTo>
                  <a:lnTo>
                    <a:pt x="56769" y="2783078"/>
                  </a:lnTo>
                  <a:cubicBezTo>
                    <a:pt x="25400" y="2783078"/>
                    <a:pt x="0" y="2757678"/>
                    <a:pt x="0" y="2726309"/>
                  </a:cubicBezTo>
                  <a:close/>
                </a:path>
              </a:pathLst>
            </a:custGeom>
            <a:solidFill>
              <a:srgbClr val="3F4652"/>
            </a:solidFill>
          </p:spPr>
        </p:sp>
      </p:grpSp>
      <p:sp>
        <p:nvSpPr>
          <p:cNvPr id="21" name="TextBox 21"/>
          <p:cNvSpPr txBox="1"/>
          <p:nvPr/>
        </p:nvSpPr>
        <p:spPr>
          <a:xfrm>
            <a:off x="1275759" y="6658870"/>
            <a:ext cx="4109590"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The Real-World Problem</a:t>
            </a:r>
          </a:p>
        </p:txBody>
      </p:sp>
      <p:sp>
        <p:nvSpPr>
          <p:cNvPr id="22" name="TextBox 22"/>
          <p:cNvSpPr txBox="1"/>
          <p:nvPr/>
        </p:nvSpPr>
        <p:spPr>
          <a:xfrm>
            <a:off x="1275759" y="7195690"/>
            <a:ext cx="8878491"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People struggle to track where their money goes. Finsight simplifies that with a smart, centralized backend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883739" y="2162023"/>
            <a:ext cx="10522591" cy="5962802"/>
            <a:chOff x="0" y="0"/>
            <a:chExt cx="14030122" cy="7950403"/>
          </a:xfrm>
        </p:grpSpPr>
        <p:sp>
          <p:nvSpPr>
            <p:cNvPr id="7" name="Freeform 7" descr="preencoded.png"/>
            <p:cNvSpPr/>
            <p:nvPr/>
          </p:nvSpPr>
          <p:spPr>
            <a:xfrm>
              <a:off x="0" y="0"/>
              <a:ext cx="14030071" cy="7950454"/>
            </a:xfrm>
            <a:custGeom>
              <a:avLst/>
              <a:gdLst/>
              <a:ahLst/>
              <a:cxnLst/>
              <a:rect l="l" t="t" r="r" b="b"/>
              <a:pathLst>
                <a:path w="14030071" h="7950454">
                  <a:moveTo>
                    <a:pt x="0" y="0"/>
                  </a:moveTo>
                  <a:lnTo>
                    <a:pt x="14030071" y="0"/>
                  </a:lnTo>
                  <a:lnTo>
                    <a:pt x="14030071" y="7950454"/>
                  </a:lnTo>
                  <a:lnTo>
                    <a:pt x="0" y="7950454"/>
                  </a:lnTo>
                  <a:lnTo>
                    <a:pt x="0" y="0"/>
                  </a:lnTo>
                  <a:close/>
                </a:path>
              </a:pathLst>
            </a:custGeom>
            <a:blipFill>
              <a:blip r:embed="rId3"/>
              <a:stretch>
                <a:fillRect l="-13" r="-13"/>
              </a:stretch>
            </a:blipFill>
          </p:spPr>
        </p:sp>
      </p:grpSp>
      <p:sp>
        <p:nvSpPr>
          <p:cNvPr id="8" name="TextBox 8"/>
          <p:cNvSpPr txBox="1"/>
          <p:nvPr/>
        </p:nvSpPr>
        <p:spPr>
          <a:xfrm>
            <a:off x="12032009" y="1064714"/>
            <a:ext cx="5381625" cy="808139"/>
          </a:xfrm>
          <a:prstGeom prst="rect">
            <a:avLst/>
          </a:prstGeom>
        </p:spPr>
        <p:txBody>
          <a:bodyPr lIns="0" tIns="0" rIns="0" bIns="0" rtlCol="0" anchor="t">
            <a:spAutoFit/>
          </a:bodyPr>
          <a:lstStyle/>
          <a:p>
            <a:pPr algn="l">
              <a:lnSpc>
                <a:spcPts val="6187"/>
              </a:lnSpc>
            </a:pPr>
            <a:r>
              <a:rPr lang="en-US" sz="4937">
                <a:solidFill>
                  <a:srgbClr val="76B9FF"/>
                </a:solidFill>
                <a:latin typeface="Roboto Slab"/>
                <a:ea typeface="Roboto Slab"/>
                <a:cs typeface="Roboto Slab"/>
                <a:sym typeface="Roboto Slab"/>
              </a:rPr>
              <a:t>The Problem</a:t>
            </a:r>
          </a:p>
        </p:txBody>
      </p:sp>
      <p:grpSp>
        <p:nvGrpSpPr>
          <p:cNvPr id="9" name="Group 9"/>
          <p:cNvGrpSpPr/>
          <p:nvPr/>
        </p:nvGrpSpPr>
        <p:grpSpPr>
          <a:xfrm>
            <a:off x="12017721" y="2111578"/>
            <a:ext cx="5410200" cy="2355647"/>
            <a:chOff x="0" y="0"/>
            <a:chExt cx="7213600" cy="3140862"/>
          </a:xfrm>
        </p:grpSpPr>
        <p:sp>
          <p:nvSpPr>
            <p:cNvPr id="10" name="Freeform 10"/>
            <p:cNvSpPr/>
            <p:nvPr/>
          </p:nvSpPr>
          <p:spPr>
            <a:xfrm>
              <a:off x="19050" y="19050"/>
              <a:ext cx="7175500" cy="3102737"/>
            </a:xfrm>
            <a:custGeom>
              <a:avLst/>
              <a:gdLst/>
              <a:ahLst/>
              <a:cxnLst/>
              <a:rect l="l" t="t" r="r" b="b"/>
              <a:pathLst>
                <a:path w="7175500" h="3102737">
                  <a:moveTo>
                    <a:pt x="0" y="182880"/>
                  </a:moveTo>
                  <a:cubicBezTo>
                    <a:pt x="0" y="81915"/>
                    <a:pt x="82423" y="0"/>
                    <a:pt x="184150" y="0"/>
                  </a:cubicBezTo>
                  <a:lnTo>
                    <a:pt x="6991350" y="0"/>
                  </a:lnTo>
                  <a:cubicBezTo>
                    <a:pt x="7093077" y="0"/>
                    <a:pt x="7175500" y="81915"/>
                    <a:pt x="7175500" y="182880"/>
                  </a:cubicBezTo>
                  <a:lnTo>
                    <a:pt x="7175500" y="2919857"/>
                  </a:lnTo>
                  <a:cubicBezTo>
                    <a:pt x="7175500" y="3020822"/>
                    <a:pt x="7093077" y="3102737"/>
                    <a:pt x="6991350" y="3102737"/>
                  </a:cubicBezTo>
                  <a:lnTo>
                    <a:pt x="184150" y="3102737"/>
                  </a:lnTo>
                  <a:cubicBezTo>
                    <a:pt x="82423" y="3102737"/>
                    <a:pt x="0" y="3020822"/>
                    <a:pt x="0" y="2919857"/>
                  </a:cubicBezTo>
                  <a:close/>
                </a:path>
              </a:pathLst>
            </a:custGeom>
            <a:solidFill>
              <a:srgbClr val="202733"/>
            </a:solidFill>
          </p:spPr>
        </p:sp>
        <p:sp>
          <p:nvSpPr>
            <p:cNvPr id="11" name="Freeform 11"/>
            <p:cNvSpPr/>
            <p:nvPr/>
          </p:nvSpPr>
          <p:spPr>
            <a:xfrm>
              <a:off x="0" y="0"/>
              <a:ext cx="7213600" cy="3140837"/>
            </a:xfrm>
            <a:custGeom>
              <a:avLst/>
              <a:gdLst/>
              <a:ahLst/>
              <a:cxnLst/>
              <a:rect l="l" t="t" r="r" b="b"/>
              <a:pathLst>
                <a:path w="7213600" h="3140837">
                  <a:moveTo>
                    <a:pt x="0" y="201930"/>
                  </a:moveTo>
                  <a:cubicBezTo>
                    <a:pt x="0" y="90297"/>
                    <a:pt x="91059" y="0"/>
                    <a:pt x="203200" y="0"/>
                  </a:cubicBezTo>
                  <a:lnTo>
                    <a:pt x="7010400" y="0"/>
                  </a:lnTo>
                  <a:lnTo>
                    <a:pt x="7010400" y="19050"/>
                  </a:lnTo>
                  <a:lnTo>
                    <a:pt x="7010400" y="0"/>
                  </a:lnTo>
                  <a:cubicBezTo>
                    <a:pt x="7122541" y="0"/>
                    <a:pt x="7213600" y="90297"/>
                    <a:pt x="7213600" y="201930"/>
                  </a:cubicBezTo>
                  <a:lnTo>
                    <a:pt x="7194550" y="201930"/>
                  </a:lnTo>
                  <a:lnTo>
                    <a:pt x="7213600" y="201930"/>
                  </a:lnTo>
                  <a:lnTo>
                    <a:pt x="7213600" y="2938907"/>
                  </a:lnTo>
                  <a:lnTo>
                    <a:pt x="7194550" y="2938907"/>
                  </a:lnTo>
                  <a:lnTo>
                    <a:pt x="7213600" y="2938907"/>
                  </a:lnTo>
                  <a:cubicBezTo>
                    <a:pt x="7213600" y="3050540"/>
                    <a:pt x="7122541" y="3140837"/>
                    <a:pt x="7010400" y="3140837"/>
                  </a:cubicBezTo>
                  <a:lnTo>
                    <a:pt x="7010400" y="3121787"/>
                  </a:lnTo>
                  <a:lnTo>
                    <a:pt x="7010400" y="3140837"/>
                  </a:lnTo>
                  <a:lnTo>
                    <a:pt x="203200" y="3140837"/>
                  </a:lnTo>
                  <a:lnTo>
                    <a:pt x="203200" y="3121787"/>
                  </a:lnTo>
                  <a:lnTo>
                    <a:pt x="203200" y="3140837"/>
                  </a:lnTo>
                  <a:cubicBezTo>
                    <a:pt x="91059" y="3140837"/>
                    <a:pt x="0" y="3050540"/>
                    <a:pt x="0" y="2938907"/>
                  </a:cubicBezTo>
                  <a:lnTo>
                    <a:pt x="0" y="201930"/>
                  </a:lnTo>
                  <a:lnTo>
                    <a:pt x="19050" y="201930"/>
                  </a:lnTo>
                  <a:lnTo>
                    <a:pt x="0" y="201930"/>
                  </a:lnTo>
                  <a:moveTo>
                    <a:pt x="38100" y="201930"/>
                  </a:moveTo>
                  <a:lnTo>
                    <a:pt x="38100" y="2938907"/>
                  </a:lnTo>
                  <a:lnTo>
                    <a:pt x="19050" y="2938907"/>
                  </a:lnTo>
                  <a:lnTo>
                    <a:pt x="38100" y="2938907"/>
                  </a:lnTo>
                  <a:cubicBezTo>
                    <a:pt x="38100" y="3029204"/>
                    <a:pt x="111887" y="3102737"/>
                    <a:pt x="203200" y="3102737"/>
                  </a:cubicBezTo>
                  <a:lnTo>
                    <a:pt x="7010400" y="3102737"/>
                  </a:lnTo>
                  <a:cubicBezTo>
                    <a:pt x="7101713" y="3102737"/>
                    <a:pt x="7175500" y="3029204"/>
                    <a:pt x="7175500" y="2938907"/>
                  </a:cubicBezTo>
                  <a:lnTo>
                    <a:pt x="7175500" y="201930"/>
                  </a:lnTo>
                  <a:cubicBezTo>
                    <a:pt x="7175500" y="111633"/>
                    <a:pt x="7101713" y="38100"/>
                    <a:pt x="7010400" y="38100"/>
                  </a:cubicBezTo>
                  <a:lnTo>
                    <a:pt x="203200" y="38100"/>
                  </a:lnTo>
                  <a:lnTo>
                    <a:pt x="203200" y="19050"/>
                  </a:lnTo>
                  <a:lnTo>
                    <a:pt x="203200" y="38100"/>
                  </a:lnTo>
                  <a:cubicBezTo>
                    <a:pt x="111887" y="38100"/>
                    <a:pt x="38100" y="111633"/>
                    <a:pt x="38100" y="201930"/>
                  </a:cubicBezTo>
                  <a:close/>
                </a:path>
              </a:pathLst>
            </a:custGeom>
            <a:solidFill>
              <a:srgbClr val="585F6B"/>
            </a:solidFill>
          </p:spPr>
        </p:sp>
      </p:grpSp>
      <p:grpSp>
        <p:nvGrpSpPr>
          <p:cNvPr id="12" name="Group 12"/>
          <p:cNvGrpSpPr/>
          <p:nvPr/>
        </p:nvGrpSpPr>
        <p:grpSpPr>
          <a:xfrm>
            <a:off x="12003434" y="2125866"/>
            <a:ext cx="114300" cy="2327072"/>
            <a:chOff x="0" y="0"/>
            <a:chExt cx="152400" cy="3102762"/>
          </a:xfrm>
        </p:grpSpPr>
        <p:sp>
          <p:nvSpPr>
            <p:cNvPr id="13" name="Freeform 13" descr="preencoded.png"/>
            <p:cNvSpPr/>
            <p:nvPr/>
          </p:nvSpPr>
          <p:spPr>
            <a:xfrm>
              <a:off x="0" y="0"/>
              <a:ext cx="152400" cy="3102737"/>
            </a:xfrm>
            <a:custGeom>
              <a:avLst/>
              <a:gdLst/>
              <a:ahLst/>
              <a:cxnLst/>
              <a:rect l="l" t="t" r="r" b="b"/>
              <a:pathLst>
                <a:path w="152400" h="3102737">
                  <a:moveTo>
                    <a:pt x="0" y="0"/>
                  </a:moveTo>
                  <a:lnTo>
                    <a:pt x="152400" y="0"/>
                  </a:lnTo>
                  <a:lnTo>
                    <a:pt x="152400" y="3102737"/>
                  </a:lnTo>
                  <a:lnTo>
                    <a:pt x="0" y="3102737"/>
                  </a:lnTo>
                  <a:lnTo>
                    <a:pt x="0" y="0"/>
                  </a:lnTo>
                  <a:close/>
                </a:path>
              </a:pathLst>
            </a:custGeom>
            <a:blipFill>
              <a:blip r:embed="rId4"/>
              <a:stretch>
                <a:fillRect l="-66" r="-58"/>
              </a:stretch>
            </a:blipFill>
          </p:spPr>
        </p:sp>
      </p:grpSp>
      <p:sp>
        <p:nvSpPr>
          <p:cNvPr id="14" name="TextBox 14"/>
          <p:cNvSpPr txBox="1"/>
          <p:nvPr/>
        </p:nvSpPr>
        <p:spPr>
          <a:xfrm>
            <a:off x="12398721" y="2397328"/>
            <a:ext cx="3156499"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Expense Blindness</a:t>
            </a:r>
          </a:p>
        </p:txBody>
      </p:sp>
      <p:sp>
        <p:nvSpPr>
          <p:cNvPr id="15" name="TextBox 15"/>
          <p:cNvSpPr txBox="1"/>
          <p:nvPr/>
        </p:nvSpPr>
        <p:spPr>
          <a:xfrm>
            <a:off x="12398721" y="2940548"/>
            <a:ext cx="4733925" cy="1231402"/>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Most individuals have no real-time visibility into where their money is going each month.</a:t>
            </a:r>
          </a:p>
        </p:txBody>
      </p:sp>
      <p:grpSp>
        <p:nvGrpSpPr>
          <p:cNvPr id="16" name="Group 16"/>
          <p:cNvGrpSpPr/>
          <p:nvPr/>
        </p:nvGrpSpPr>
        <p:grpSpPr>
          <a:xfrm>
            <a:off x="12017721" y="4663526"/>
            <a:ext cx="5410200" cy="1973761"/>
            <a:chOff x="0" y="0"/>
            <a:chExt cx="7213600" cy="2631681"/>
          </a:xfrm>
        </p:grpSpPr>
        <p:sp>
          <p:nvSpPr>
            <p:cNvPr id="17" name="Freeform 17"/>
            <p:cNvSpPr/>
            <p:nvPr/>
          </p:nvSpPr>
          <p:spPr>
            <a:xfrm>
              <a:off x="19050" y="19050"/>
              <a:ext cx="7175500" cy="2593594"/>
            </a:xfrm>
            <a:custGeom>
              <a:avLst/>
              <a:gdLst/>
              <a:ahLst/>
              <a:cxnLst/>
              <a:rect l="l" t="t" r="r" b="b"/>
              <a:pathLst>
                <a:path w="7175500" h="2593594">
                  <a:moveTo>
                    <a:pt x="0" y="182880"/>
                  </a:moveTo>
                  <a:cubicBezTo>
                    <a:pt x="0" y="81915"/>
                    <a:pt x="82677" y="0"/>
                    <a:pt x="184531" y="0"/>
                  </a:cubicBezTo>
                  <a:lnTo>
                    <a:pt x="6990969" y="0"/>
                  </a:lnTo>
                  <a:cubicBezTo>
                    <a:pt x="7092950" y="0"/>
                    <a:pt x="7175500" y="81915"/>
                    <a:pt x="7175500" y="182880"/>
                  </a:cubicBezTo>
                  <a:lnTo>
                    <a:pt x="7175500" y="2410714"/>
                  </a:lnTo>
                  <a:cubicBezTo>
                    <a:pt x="7175500" y="2511679"/>
                    <a:pt x="7092823" y="2593594"/>
                    <a:pt x="6990969" y="2593594"/>
                  </a:cubicBezTo>
                  <a:lnTo>
                    <a:pt x="184531" y="2593594"/>
                  </a:lnTo>
                  <a:cubicBezTo>
                    <a:pt x="82550" y="2593594"/>
                    <a:pt x="0" y="2511679"/>
                    <a:pt x="0" y="2410714"/>
                  </a:cubicBezTo>
                  <a:close/>
                </a:path>
              </a:pathLst>
            </a:custGeom>
            <a:solidFill>
              <a:srgbClr val="202733"/>
            </a:solidFill>
          </p:spPr>
        </p:sp>
        <p:sp>
          <p:nvSpPr>
            <p:cNvPr id="18" name="Freeform 18"/>
            <p:cNvSpPr/>
            <p:nvPr/>
          </p:nvSpPr>
          <p:spPr>
            <a:xfrm>
              <a:off x="0" y="0"/>
              <a:ext cx="7213600" cy="2631694"/>
            </a:xfrm>
            <a:custGeom>
              <a:avLst/>
              <a:gdLst/>
              <a:ahLst/>
              <a:cxnLst/>
              <a:rect l="l" t="t" r="r" b="b"/>
              <a:pathLst>
                <a:path w="7213600" h="2631694">
                  <a:moveTo>
                    <a:pt x="0" y="201930"/>
                  </a:moveTo>
                  <a:cubicBezTo>
                    <a:pt x="0" y="90297"/>
                    <a:pt x="91313" y="0"/>
                    <a:pt x="203581" y="0"/>
                  </a:cubicBezTo>
                  <a:lnTo>
                    <a:pt x="7010019" y="0"/>
                  </a:lnTo>
                  <a:lnTo>
                    <a:pt x="7010019" y="19050"/>
                  </a:lnTo>
                  <a:lnTo>
                    <a:pt x="7010019" y="0"/>
                  </a:lnTo>
                  <a:cubicBezTo>
                    <a:pt x="7122287" y="0"/>
                    <a:pt x="7213600" y="90297"/>
                    <a:pt x="7213600" y="201930"/>
                  </a:cubicBezTo>
                  <a:lnTo>
                    <a:pt x="7194550" y="201930"/>
                  </a:lnTo>
                  <a:lnTo>
                    <a:pt x="7213600" y="201930"/>
                  </a:lnTo>
                  <a:lnTo>
                    <a:pt x="7213600" y="2429764"/>
                  </a:lnTo>
                  <a:lnTo>
                    <a:pt x="7194550" y="2429764"/>
                  </a:lnTo>
                  <a:lnTo>
                    <a:pt x="7213600" y="2429764"/>
                  </a:lnTo>
                  <a:cubicBezTo>
                    <a:pt x="7213600" y="2541397"/>
                    <a:pt x="7122287" y="2631694"/>
                    <a:pt x="7010019" y="2631694"/>
                  </a:cubicBezTo>
                  <a:lnTo>
                    <a:pt x="7010019" y="2612644"/>
                  </a:lnTo>
                  <a:lnTo>
                    <a:pt x="7010019" y="2631694"/>
                  </a:lnTo>
                  <a:lnTo>
                    <a:pt x="203581" y="2631694"/>
                  </a:lnTo>
                  <a:lnTo>
                    <a:pt x="203581" y="2612644"/>
                  </a:lnTo>
                  <a:lnTo>
                    <a:pt x="203581" y="2631694"/>
                  </a:lnTo>
                  <a:cubicBezTo>
                    <a:pt x="91313" y="2631694"/>
                    <a:pt x="0" y="2541397"/>
                    <a:pt x="0" y="2429764"/>
                  </a:cubicBezTo>
                  <a:lnTo>
                    <a:pt x="0" y="201930"/>
                  </a:lnTo>
                  <a:lnTo>
                    <a:pt x="19050" y="201930"/>
                  </a:lnTo>
                  <a:lnTo>
                    <a:pt x="0" y="201930"/>
                  </a:lnTo>
                  <a:moveTo>
                    <a:pt x="38100" y="201930"/>
                  </a:moveTo>
                  <a:lnTo>
                    <a:pt x="38100" y="2429764"/>
                  </a:lnTo>
                  <a:lnTo>
                    <a:pt x="19050" y="2429764"/>
                  </a:lnTo>
                  <a:lnTo>
                    <a:pt x="38100" y="2429764"/>
                  </a:lnTo>
                  <a:cubicBezTo>
                    <a:pt x="38100" y="2520061"/>
                    <a:pt x="112014" y="2593594"/>
                    <a:pt x="203581" y="2593594"/>
                  </a:cubicBezTo>
                  <a:lnTo>
                    <a:pt x="7010019" y="2593594"/>
                  </a:lnTo>
                  <a:cubicBezTo>
                    <a:pt x="7101586" y="2593594"/>
                    <a:pt x="7175500" y="2520061"/>
                    <a:pt x="7175500" y="2429764"/>
                  </a:cubicBezTo>
                  <a:lnTo>
                    <a:pt x="7175500" y="201930"/>
                  </a:lnTo>
                  <a:cubicBezTo>
                    <a:pt x="7175500" y="111633"/>
                    <a:pt x="7101586" y="38100"/>
                    <a:pt x="7010019" y="38100"/>
                  </a:cubicBezTo>
                  <a:lnTo>
                    <a:pt x="203581" y="38100"/>
                  </a:lnTo>
                  <a:lnTo>
                    <a:pt x="203581" y="19050"/>
                  </a:lnTo>
                  <a:lnTo>
                    <a:pt x="203581" y="38100"/>
                  </a:lnTo>
                  <a:cubicBezTo>
                    <a:pt x="112014" y="38100"/>
                    <a:pt x="38100" y="111633"/>
                    <a:pt x="38100" y="201930"/>
                  </a:cubicBezTo>
                  <a:close/>
                </a:path>
              </a:pathLst>
            </a:custGeom>
            <a:solidFill>
              <a:srgbClr val="585F6B"/>
            </a:solidFill>
          </p:spPr>
        </p:sp>
      </p:grpSp>
      <p:grpSp>
        <p:nvGrpSpPr>
          <p:cNvPr id="19" name="Group 19"/>
          <p:cNvGrpSpPr/>
          <p:nvPr/>
        </p:nvGrpSpPr>
        <p:grpSpPr>
          <a:xfrm>
            <a:off x="12003434" y="4677813"/>
            <a:ext cx="114300" cy="1945186"/>
            <a:chOff x="0" y="0"/>
            <a:chExt cx="152400" cy="2593581"/>
          </a:xfrm>
        </p:grpSpPr>
        <p:sp>
          <p:nvSpPr>
            <p:cNvPr id="20" name="Freeform 20" descr="preencoded.png"/>
            <p:cNvSpPr/>
            <p:nvPr/>
          </p:nvSpPr>
          <p:spPr>
            <a:xfrm>
              <a:off x="0" y="0"/>
              <a:ext cx="152400" cy="2593594"/>
            </a:xfrm>
            <a:custGeom>
              <a:avLst/>
              <a:gdLst/>
              <a:ahLst/>
              <a:cxnLst/>
              <a:rect l="l" t="t" r="r" b="b"/>
              <a:pathLst>
                <a:path w="152400" h="2593594">
                  <a:moveTo>
                    <a:pt x="0" y="0"/>
                  </a:moveTo>
                  <a:lnTo>
                    <a:pt x="152400" y="0"/>
                  </a:lnTo>
                  <a:lnTo>
                    <a:pt x="152400" y="2593594"/>
                  </a:lnTo>
                  <a:lnTo>
                    <a:pt x="0" y="2593594"/>
                  </a:lnTo>
                  <a:lnTo>
                    <a:pt x="0" y="0"/>
                  </a:lnTo>
                  <a:close/>
                </a:path>
              </a:pathLst>
            </a:custGeom>
            <a:blipFill>
              <a:blip r:embed="rId5"/>
              <a:stretch>
                <a:fillRect l="-50" r="-58"/>
              </a:stretch>
            </a:blipFill>
          </p:spPr>
        </p:sp>
      </p:grpSp>
      <p:sp>
        <p:nvSpPr>
          <p:cNvPr id="21" name="TextBox 21"/>
          <p:cNvSpPr txBox="1"/>
          <p:nvPr/>
        </p:nvSpPr>
        <p:spPr>
          <a:xfrm>
            <a:off x="12398721" y="4949276"/>
            <a:ext cx="3643312"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No Financial Awareness</a:t>
            </a:r>
          </a:p>
        </p:txBody>
      </p:sp>
      <p:sp>
        <p:nvSpPr>
          <p:cNvPr id="22" name="TextBox 22"/>
          <p:cNvSpPr txBox="1"/>
          <p:nvPr/>
        </p:nvSpPr>
        <p:spPr>
          <a:xfrm>
            <a:off x="12398721" y="5492506"/>
            <a:ext cx="4733925" cy="849516"/>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Without structured tracking, overspending goes unnoticed until it's too late.</a:t>
            </a:r>
          </a:p>
        </p:txBody>
      </p:sp>
      <p:grpSp>
        <p:nvGrpSpPr>
          <p:cNvPr id="23" name="Group 23"/>
          <p:cNvGrpSpPr/>
          <p:nvPr/>
        </p:nvGrpSpPr>
        <p:grpSpPr>
          <a:xfrm>
            <a:off x="12017721" y="6833597"/>
            <a:ext cx="5410200" cy="2355647"/>
            <a:chOff x="0" y="0"/>
            <a:chExt cx="7213600" cy="3140862"/>
          </a:xfrm>
        </p:grpSpPr>
        <p:sp>
          <p:nvSpPr>
            <p:cNvPr id="24" name="Freeform 24"/>
            <p:cNvSpPr/>
            <p:nvPr/>
          </p:nvSpPr>
          <p:spPr>
            <a:xfrm>
              <a:off x="19050" y="19050"/>
              <a:ext cx="7175500" cy="3102737"/>
            </a:xfrm>
            <a:custGeom>
              <a:avLst/>
              <a:gdLst/>
              <a:ahLst/>
              <a:cxnLst/>
              <a:rect l="l" t="t" r="r" b="b"/>
              <a:pathLst>
                <a:path w="7175500" h="3102737">
                  <a:moveTo>
                    <a:pt x="0" y="182880"/>
                  </a:moveTo>
                  <a:cubicBezTo>
                    <a:pt x="0" y="81915"/>
                    <a:pt x="82423" y="0"/>
                    <a:pt x="184150" y="0"/>
                  </a:cubicBezTo>
                  <a:lnTo>
                    <a:pt x="6991350" y="0"/>
                  </a:lnTo>
                  <a:cubicBezTo>
                    <a:pt x="7093077" y="0"/>
                    <a:pt x="7175500" y="81915"/>
                    <a:pt x="7175500" y="182880"/>
                  </a:cubicBezTo>
                  <a:lnTo>
                    <a:pt x="7175500" y="2919857"/>
                  </a:lnTo>
                  <a:cubicBezTo>
                    <a:pt x="7175500" y="3020822"/>
                    <a:pt x="7093077" y="3102737"/>
                    <a:pt x="6991350" y="3102737"/>
                  </a:cubicBezTo>
                  <a:lnTo>
                    <a:pt x="184150" y="3102737"/>
                  </a:lnTo>
                  <a:cubicBezTo>
                    <a:pt x="82423" y="3102737"/>
                    <a:pt x="0" y="3020822"/>
                    <a:pt x="0" y="2919857"/>
                  </a:cubicBezTo>
                  <a:close/>
                </a:path>
              </a:pathLst>
            </a:custGeom>
            <a:solidFill>
              <a:srgbClr val="202733"/>
            </a:solidFill>
          </p:spPr>
        </p:sp>
        <p:sp>
          <p:nvSpPr>
            <p:cNvPr id="25" name="Freeform 25"/>
            <p:cNvSpPr/>
            <p:nvPr/>
          </p:nvSpPr>
          <p:spPr>
            <a:xfrm>
              <a:off x="0" y="0"/>
              <a:ext cx="7213600" cy="3140837"/>
            </a:xfrm>
            <a:custGeom>
              <a:avLst/>
              <a:gdLst/>
              <a:ahLst/>
              <a:cxnLst/>
              <a:rect l="l" t="t" r="r" b="b"/>
              <a:pathLst>
                <a:path w="7213600" h="3140837">
                  <a:moveTo>
                    <a:pt x="0" y="201930"/>
                  </a:moveTo>
                  <a:cubicBezTo>
                    <a:pt x="0" y="90297"/>
                    <a:pt x="91059" y="0"/>
                    <a:pt x="203200" y="0"/>
                  </a:cubicBezTo>
                  <a:lnTo>
                    <a:pt x="7010400" y="0"/>
                  </a:lnTo>
                  <a:lnTo>
                    <a:pt x="7010400" y="19050"/>
                  </a:lnTo>
                  <a:lnTo>
                    <a:pt x="7010400" y="0"/>
                  </a:lnTo>
                  <a:cubicBezTo>
                    <a:pt x="7122541" y="0"/>
                    <a:pt x="7213600" y="90297"/>
                    <a:pt x="7213600" y="201930"/>
                  </a:cubicBezTo>
                  <a:lnTo>
                    <a:pt x="7194550" y="201930"/>
                  </a:lnTo>
                  <a:lnTo>
                    <a:pt x="7213600" y="201930"/>
                  </a:lnTo>
                  <a:lnTo>
                    <a:pt x="7213600" y="2938907"/>
                  </a:lnTo>
                  <a:lnTo>
                    <a:pt x="7194550" y="2938907"/>
                  </a:lnTo>
                  <a:lnTo>
                    <a:pt x="7213600" y="2938907"/>
                  </a:lnTo>
                  <a:cubicBezTo>
                    <a:pt x="7213600" y="3050540"/>
                    <a:pt x="7122541" y="3140837"/>
                    <a:pt x="7010400" y="3140837"/>
                  </a:cubicBezTo>
                  <a:lnTo>
                    <a:pt x="7010400" y="3121787"/>
                  </a:lnTo>
                  <a:lnTo>
                    <a:pt x="7010400" y="3140837"/>
                  </a:lnTo>
                  <a:lnTo>
                    <a:pt x="203200" y="3140837"/>
                  </a:lnTo>
                  <a:lnTo>
                    <a:pt x="203200" y="3121787"/>
                  </a:lnTo>
                  <a:lnTo>
                    <a:pt x="203200" y="3140837"/>
                  </a:lnTo>
                  <a:cubicBezTo>
                    <a:pt x="91059" y="3140837"/>
                    <a:pt x="0" y="3050540"/>
                    <a:pt x="0" y="2938907"/>
                  </a:cubicBezTo>
                  <a:lnTo>
                    <a:pt x="0" y="201930"/>
                  </a:lnTo>
                  <a:lnTo>
                    <a:pt x="19050" y="201930"/>
                  </a:lnTo>
                  <a:lnTo>
                    <a:pt x="0" y="201930"/>
                  </a:lnTo>
                  <a:moveTo>
                    <a:pt x="38100" y="201930"/>
                  </a:moveTo>
                  <a:lnTo>
                    <a:pt x="38100" y="2938907"/>
                  </a:lnTo>
                  <a:lnTo>
                    <a:pt x="19050" y="2938907"/>
                  </a:lnTo>
                  <a:lnTo>
                    <a:pt x="38100" y="2938907"/>
                  </a:lnTo>
                  <a:cubicBezTo>
                    <a:pt x="38100" y="3029204"/>
                    <a:pt x="111887" y="3102737"/>
                    <a:pt x="203200" y="3102737"/>
                  </a:cubicBezTo>
                  <a:lnTo>
                    <a:pt x="7010400" y="3102737"/>
                  </a:lnTo>
                  <a:cubicBezTo>
                    <a:pt x="7101713" y="3102737"/>
                    <a:pt x="7175500" y="3029204"/>
                    <a:pt x="7175500" y="2938907"/>
                  </a:cubicBezTo>
                  <a:lnTo>
                    <a:pt x="7175500" y="201930"/>
                  </a:lnTo>
                  <a:cubicBezTo>
                    <a:pt x="7175500" y="111633"/>
                    <a:pt x="7101713" y="38100"/>
                    <a:pt x="7010400" y="38100"/>
                  </a:cubicBezTo>
                  <a:lnTo>
                    <a:pt x="203200" y="38100"/>
                  </a:lnTo>
                  <a:lnTo>
                    <a:pt x="203200" y="19050"/>
                  </a:lnTo>
                  <a:lnTo>
                    <a:pt x="203200" y="38100"/>
                  </a:lnTo>
                  <a:cubicBezTo>
                    <a:pt x="111887" y="38100"/>
                    <a:pt x="38100" y="111633"/>
                    <a:pt x="38100" y="201930"/>
                  </a:cubicBezTo>
                  <a:close/>
                </a:path>
              </a:pathLst>
            </a:custGeom>
            <a:solidFill>
              <a:srgbClr val="585F6B"/>
            </a:solidFill>
          </p:spPr>
        </p:sp>
      </p:grpSp>
      <p:grpSp>
        <p:nvGrpSpPr>
          <p:cNvPr id="26" name="Group 26"/>
          <p:cNvGrpSpPr/>
          <p:nvPr/>
        </p:nvGrpSpPr>
        <p:grpSpPr>
          <a:xfrm>
            <a:off x="12003434" y="6847884"/>
            <a:ext cx="114300" cy="2327072"/>
            <a:chOff x="0" y="0"/>
            <a:chExt cx="152400" cy="3102762"/>
          </a:xfrm>
        </p:grpSpPr>
        <p:sp>
          <p:nvSpPr>
            <p:cNvPr id="27" name="Freeform 27" descr="preencoded.png"/>
            <p:cNvSpPr/>
            <p:nvPr/>
          </p:nvSpPr>
          <p:spPr>
            <a:xfrm>
              <a:off x="0" y="0"/>
              <a:ext cx="152400" cy="3102737"/>
            </a:xfrm>
            <a:custGeom>
              <a:avLst/>
              <a:gdLst/>
              <a:ahLst/>
              <a:cxnLst/>
              <a:rect l="l" t="t" r="r" b="b"/>
              <a:pathLst>
                <a:path w="152400" h="3102737">
                  <a:moveTo>
                    <a:pt x="0" y="0"/>
                  </a:moveTo>
                  <a:lnTo>
                    <a:pt x="152400" y="0"/>
                  </a:lnTo>
                  <a:lnTo>
                    <a:pt x="152400" y="3102737"/>
                  </a:lnTo>
                  <a:lnTo>
                    <a:pt x="0" y="3102737"/>
                  </a:lnTo>
                  <a:lnTo>
                    <a:pt x="0" y="0"/>
                  </a:lnTo>
                  <a:close/>
                </a:path>
              </a:pathLst>
            </a:custGeom>
            <a:blipFill>
              <a:blip r:embed="rId4"/>
              <a:stretch>
                <a:fillRect l="-66" r="-58"/>
              </a:stretch>
            </a:blipFill>
          </p:spPr>
        </p:sp>
      </p:grpSp>
      <p:sp>
        <p:nvSpPr>
          <p:cNvPr id="28" name="TextBox 28"/>
          <p:cNvSpPr txBox="1"/>
          <p:nvPr/>
        </p:nvSpPr>
        <p:spPr>
          <a:xfrm>
            <a:off x="12398721" y="7119347"/>
            <a:ext cx="3608041"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Manual Calculation Hell</a:t>
            </a:r>
          </a:p>
        </p:txBody>
      </p:sp>
      <p:sp>
        <p:nvSpPr>
          <p:cNvPr id="29" name="TextBox 29"/>
          <p:cNvSpPr txBox="1"/>
          <p:nvPr/>
        </p:nvSpPr>
        <p:spPr>
          <a:xfrm>
            <a:off x="12398721" y="7662567"/>
            <a:ext cx="4733925" cy="1231402"/>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Spreadsheets and paper logs are error-prone, time-consuming, and simply don't scale.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992238" y="2493169"/>
            <a:ext cx="7088238"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Our Solution</a:t>
            </a:r>
          </a:p>
        </p:txBody>
      </p:sp>
      <p:sp>
        <p:nvSpPr>
          <p:cNvPr id="7" name="TextBox 7"/>
          <p:cNvSpPr txBox="1"/>
          <p:nvPr/>
        </p:nvSpPr>
        <p:spPr>
          <a:xfrm>
            <a:off x="992238" y="3869979"/>
            <a:ext cx="16303523" cy="548878"/>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Finsight delivers a robust, API-driven backend that handles everything from data ingestion to secure categorized reporting.</a:t>
            </a:r>
          </a:p>
        </p:txBody>
      </p:sp>
      <p:sp>
        <p:nvSpPr>
          <p:cNvPr id="8" name="TextBox 8"/>
          <p:cNvSpPr txBox="1"/>
          <p:nvPr/>
        </p:nvSpPr>
        <p:spPr>
          <a:xfrm>
            <a:off x="992238" y="5781827"/>
            <a:ext cx="4214812"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Centralized Management</a:t>
            </a:r>
          </a:p>
        </p:txBody>
      </p:sp>
      <p:sp>
        <p:nvSpPr>
          <p:cNvPr id="9" name="TextBox 9"/>
          <p:cNvSpPr txBox="1"/>
          <p:nvPr/>
        </p:nvSpPr>
        <p:spPr>
          <a:xfrm>
            <a:off x="992238" y="6318647"/>
            <a:ext cx="5198269" cy="1456134"/>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One system for all financial data — expenses, income, and categories — structured and queryable.</a:t>
            </a:r>
          </a:p>
        </p:txBody>
      </p:sp>
      <p:sp>
        <p:nvSpPr>
          <p:cNvPr id="10" name="TextBox 10"/>
          <p:cNvSpPr txBox="1"/>
          <p:nvPr/>
        </p:nvSpPr>
        <p:spPr>
          <a:xfrm>
            <a:off x="6544866" y="5781827"/>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Secure API Backend</a:t>
            </a:r>
          </a:p>
        </p:txBody>
      </p:sp>
      <p:sp>
        <p:nvSpPr>
          <p:cNvPr id="11" name="TextBox 11"/>
          <p:cNvSpPr txBox="1"/>
          <p:nvPr/>
        </p:nvSpPr>
        <p:spPr>
          <a:xfrm>
            <a:off x="6544866" y="6318647"/>
            <a:ext cx="5198269" cy="1456134"/>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REST APIs protected by Spring Security and JWT ensure only authenticated users access sensitive data.</a:t>
            </a:r>
          </a:p>
        </p:txBody>
      </p:sp>
      <p:sp>
        <p:nvSpPr>
          <p:cNvPr id="12" name="TextBox 12"/>
          <p:cNvSpPr txBox="1"/>
          <p:nvPr/>
        </p:nvSpPr>
        <p:spPr>
          <a:xfrm>
            <a:off x="12097493" y="5781827"/>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Smart Categorization</a:t>
            </a:r>
          </a:p>
        </p:txBody>
      </p:sp>
      <p:sp>
        <p:nvSpPr>
          <p:cNvPr id="13" name="TextBox 13"/>
          <p:cNvSpPr txBox="1"/>
          <p:nvPr/>
        </p:nvSpPr>
        <p:spPr>
          <a:xfrm>
            <a:off x="12097493" y="6318647"/>
            <a:ext cx="5198269" cy="1456134"/>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Expenses are automatically tagged and grouped, enabling insightful reports without manual effort.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106"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654673" y="660349"/>
            <a:ext cx="10687345" cy="644151"/>
          </a:xfrm>
          <a:prstGeom prst="rect">
            <a:avLst/>
          </a:prstGeom>
        </p:spPr>
        <p:txBody>
          <a:bodyPr lIns="0" tIns="0" rIns="0" bIns="0" rtlCol="0" anchor="t">
            <a:spAutoFit/>
          </a:bodyPr>
          <a:lstStyle/>
          <a:p>
            <a:pPr algn="l">
              <a:lnSpc>
                <a:spcPts val="5312"/>
              </a:lnSpc>
            </a:pPr>
            <a:r>
              <a:rPr lang="en-US" sz="4250" dirty="0">
                <a:solidFill>
                  <a:srgbClr val="76B9FF"/>
                </a:solidFill>
                <a:latin typeface="Roboto Slab"/>
                <a:ea typeface="Roboto Slab"/>
                <a:cs typeface="Roboto Slab"/>
                <a:sym typeface="Roboto Slab"/>
              </a:rPr>
              <a:t>Technology Stack — Deep Dive </a:t>
            </a:r>
          </a:p>
        </p:txBody>
      </p:sp>
      <p:grpSp>
        <p:nvGrpSpPr>
          <p:cNvPr id="7" name="Group 7"/>
          <p:cNvGrpSpPr/>
          <p:nvPr/>
        </p:nvGrpSpPr>
        <p:grpSpPr>
          <a:xfrm>
            <a:off x="1640386" y="1685334"/>
            <a:ext cx="15007085" cy="1571625"/>
            <a:chOff x="0" y="0"/>
            <a:chExt cx="20009447" cy="2095500"/>
          </a:xfrm>
        </p:grpSpPr>
        <p:sp>
          <p:nvSpPr>
            <p:cNvPr id="8" name="Freeform 8"/>
            <p:cNvSpPr/>
            <p:nvPr/>
          </p:nvSpPr>
          <p:spPr>
            <a:xfrm>
              <a:off x="19050" y="19050"/>
              <a:ext cx="19971258" cy="2057400"/>
            </a:xfrm>
            <a:custGeom>
              <a:avLst/>
              <a:gdLst/>
              <a:ahLst/>
              <a:cxnLst/>
              <a:rect l="l" t="t" r="r" b="b"/>
              <a:pathLst>
                <a:path w="19971258" h="2057400">
                  <a:moveTo>
                    <a:pt x="0" y="43434"/>
                  </a:moveTo>
                  <a:cubicBezTo>
                    <a:pt x="0" y="19431"/>
                    <a:pt x="19812" y="0"/>
                    <a:pt x="44069" y="0"/>
                  </a:cubicBezTo>
                  <a:lnTo>
                    <a:pt x="19927188" y="0"/>
                  </a:lnTo>
                  <a:cubicBezTo>
                    <a:pt x="19951573" y="0"/>
                    <a:pt x="19971258" y="19431"/>
                    <a:pt x="19971258" y="43434"/>
                  </a:cubicBezTo>
                  <a:lnTo>
                    <a:pt x="19971258" y="2013966"/>
                  </a:lnTo>
                  <a:cubicBezTo>
                    <a:pt x="19971258" y="2037969"/>
                    <a:pt x="19951446" y="2057400"/>
                    <a:pt x="19927188" y="2057400"/>
                  </a:cubicBezTo>
                  <a:lnTo>
                    <a:pt x="44069" y="2057400"/>
                  </a:lnTo>
                  <a:cubicBezTo>
                    <a:pt x="19685" y="2057400"/>
                    <a:pt x="0" y="2037969"/>
                    <a:pt x="0" y="2013966"/>
                  </a:cubicBezTo>
                  <a:close/>
                </a:path>
              </a:pathLst>
            </a:custGeom>
            <a:solidFill>
              <a:srgbClr val="202733"/>
            </a:solidFill>
          </p:spPr>
        </p:sp>
        <p:sp>
          <p:nvSpPr>
            <p:cNvPr id="9" name="Freeform 9"/>
            <p:cNvSpPr/>
            <p:nvPr/>
          </p:nvSpPr>
          <p:spPr>
            <a:xfrm>
              <a:off x="0" y="0"/>
              <a:ext cx="20009358" cy="2095500"/>
            </a:xfrm>
            <a:custGeom>
              <a:avLst/>
              <a:gdLst/>
              <a:ahLst/>
              <a:cxnLst/>
              <a:rect l="l" t="t" r="r" b="b"/>
              <a:pathLst>
                <a:path w="20009358" h="2095500">
                  <a:moveTo>
                    <a:pt x="0" y="62484"/>
                  </a:moveTo>
                  <a:cubicBezTo>
                    <a:pt x="0" y="27686"/>
                    <a:pt x="28575" y="0"/>
                    <a:pt x="63119" y="0"/>
                  </a:cubicBezTo>
                  <a:lnTo>
                    <a:pt x="19946238" y="0"/>
                  </a:lnTo>
                  <a:lnTo>
                    <a:pt x="19946238" y="19050"/>
                  </a:lnTo>
                  <a:lnTo>
                    <a:pt x="19946238" y="0"/>
                  </a:lnTo>
                  <a:cubicBezTo>
                    <a:pt x="19980783" y="0"/>
                    <a:pt x="20009358" y="27686"/>
                    <a:pt x="20009358" y="62484"/>
                  </a:cubicBezTo>
                  <a:lnTo>
                    <a:pt x="19990308" y="62484"/>
                  </a:lnTo>
                  <a:lnTo>
                    <a:pt x="20009358" y="62484"/>
                  </a:lnTo>
                  <a:lnTo>
                    <a:pt x="20009358" y="2033016"/>
                  </a:lnTo>
                  <a:lnTo>
                    <a:pt x="19990308" y="2033016"/>
                  </a:lnTo>
                  <a:lnTo>
                    <a:pt x="20009358" y="2033016"/>
                  </a:lnTo>
                  <a:cubicBezTo>
                    <a:pt x="20009358" y="2067814"/>
                    <a:pt x="19980783" y="2095500"/>
                    <a:pt x="19946238" y="2095500"/>
                  </a:cubicBezTo>
                  <a:lnTo>
                    <a:pt x="19946238" y="2076450"/>
                  </a:lnTo>
                  <a:lnTo>
                    <a:pt x="19946238" y="2095500"/>
                  </a:lnTo>
                  <a:lnTo>
                    <a:pt x="63119" y="2095500"/>
                  </a:lnTo>
                  <a:lnTo>
                    <a:pt x="63119" y="2076450"/>
                  </a:lnTo>
                  <a:lnTo>
                    <a:pt x="63119" y="2095500"/>
                  </a:lnTo>
                  <a:cubicBezTo>
                    <a:pt x="28575" y="2095500"/>
                    <a:pt x="0" y="2067814"/>
                    <a:pt x="0" y="2033016"/>
                  </a:cubicBezTo>
                  <a:lnTo>
                    <a:pt x="0" y="62484"/>
                  </a:lnTo>
                  <a:lnTo>
                    <a:pt x="19050" y="62484"/>
                  </a:lnTo>
                  <a:lnTo>
                    <a:pt x="0" y="62484"/>
                  </a:lnTo>
                  <a:moveTo>
                    <a:pt x="38100" y="62484"/>
                  </a:moveTo>
                  <a:lnTo>
                    <a:pt x="38100" y="2033016"/>
                  </a:lnTo>
                  <a:lnTo>
                    <a:pt x="19050" y="2033016"/>
                  </a:lnTo>
                  <a:lnTo>
                    <a:pt x="38100" y="2033016"/>
                  </a:lnTo>
                  <a:cubicBezTo>
                    <a:pt x="38100" y="2046224"/>
                    <a:pt x="49022" y="2057400"/>
                    <a:pt x="63119" y="2057400"/>
                  </a:cubicBezTo>
                  <a:lnTo>
                    <a:pt x="19946238" y="2057400"/>
                  </a:lnTo>
                  <a:cubicBezTo>
                    <a:pt x="19960335" y="2057400"/>
                    <a:pt x="19971258" y="2046224"/>
                    <a:pt x="19971258" y="2033016"/>
                  </a:cubicBezTo>
                  <a:lnTo>
                    <a:pt x="19971258" y="62484"/>
                  </a:lnTo>
                  <a:cubicBezTo>
                    <a:pt x="19971258" y="49276"/>
                    <a:pt x="19960335" y="38100"/>
                    <a:pt x="19946238" y="38100"/>
                  </a:cubicBezTo>
                  <a:lnTo>
                    <a:pt x="63119" y="38100"/>
                  </a:lnTo>
                  <a:lnTo>
                    <a:pt x="63119" y="19050"/>
                  </a:lnTo>
                  <a:lnTo>
                    <a:pt x="63119" y="38100"/>
                  </a:lnTo>
                  <a:cubicBezTo>
                    <a:pt x="49022" y="38100"/>
                    <a:pt x="38100" y="49276"/>
                    <a:pt x="38100" y="62484"/>
                  </a:cubicBezTo>
                  <a:close/>
                </a:path>
              </a:pathLst>
            </a:custGeom>
            <a:solidFill>
              <a:srgbClr val="585F6B"/>
            </a:solidFill>
          </p:spPr>
        </p:sp>
      </p:grpSp>
      <p:grpSp>
        <p:nvGrpSpPr>
          <p:cNvPr id="10" name="Group 10"/>
          <p:cNvGrpSpPr/>
          <p:nvPr/>
        </p:nvGrpSpPr>
        <p:grpSpPr>
          <a:xfrm>
            <a:off x="1683248" y="1728197"/>
            <a:ext cx="868261" cy="1485900"/>
            <a:chOff x="0" y="0"/>
            <a:chExt cx="1157681" cy="1981200"/>
          </a:xfrm>
        </p:grpSpPr>
        <p:sp>
          <p:nvSpPr>
            <p:cNvPr id="11" name="Freeform 11"/>
            <p:cNvSpPr/>
            <p:nvPr/>
          </p:nvSpPr>
          <p:spPr>
            <a:xfrm>
              <a:off x="0" y="0"/>
              <a:ext cx="1157732" cy="1981200"/>
            </a:xfrm>
            <a:custGeom>
              <a:avLst/>
              <a:gdLst/>
              <a:ahLst/>
              <a:cxnLst/>
              <a:rect l="l" t="t" r="r" b="b"/>
              <a:pathLst>
                <a:path w="1157732" h="1981200">
                  <a:moveTo>
                    <a:pt x="0" y="0"/>
                  </a:moveTo>
                  <a:lnTo>
                    <a:pt x="1157732" y="0"/>
                  </a:lnTo>
                  <a:lnTo>
                    <a:pt x="1157732" y="1981200"/>
                  </a:lnTo>
                  <a:lnTo>
                    <a:pt x="0" y="1981200"/>
                  </a:lnTo>
                  <a:close/>
                </a:path>
              </a:pathLst>
            </a:custGeom>
            <a:solidFill>
              <a:srgbClr val="3F4652"/>
            </a:solidFill>
          </p:spPr>
        </p:sp>
      </p:grpSp>
      <p:sp>
        <p:nvSpPr>
          <p:cNvPr id="12" name="TextBox 12"/>
          <p:cNvSpPr txBox="1"/>
          <p:nvPr/>
        </p:nvSpPr>
        <p:spPr>
          <a:xfrm>
            <a:off x="1954559" y="2305793"/>
            <a:ext cx="325488" cy="368798"/>
          </a:xfrm>
          <a:prstGeom prst="rect">
            <a:avLst/>
          </a:prstGeom>
        </p:spPr>
        <p:txBody>
          <a:bodyPr lIns="0" tIns="0" rIns="0" bIns="0" rtlCol="0" anchor="t">
            <a:spAutoFit/>
          </a:bodyPr>
          <a:lstStyle/>
          <a:p>
            <a:pPr algn="l">
              <a:lnSpc>
                <a:spcPts val="2562"/>
              </a:lnSpc>
            </a:pPr>
            <a:r>
              <a:rPr lang="en-US" sz="2562">
                <a:solidFill>
                  <a:srgbClr val="D6E5EF"/>
                </a:solidFill>
                <a:latin typeface="Roboto Slab"/>
                <a:ea typeface="Roboto Slab"/>
                <a:cs typeface="Roboto Slab"/>
                <a:sym typeface="Roboto Slab"/>
              </a:rPr>
              <a:t>1</a:t>
            </a:r>
          </a:p>
        </p:txBody>
      </p:sp>
      <p:sp>
        <p:nvSpPr>
          <p:cNvPr id="13" name="TextBox 13"/>
          <p:cNvSpPr txBox="1"/>
          <p:nvPr/>
        </p:nvSpPr>
        <p:spPr>
          <a:xfrm>
            <a:off x="2717597" y="1935661"/>
            <a:ext cx="2713434" cy="348558"/>
          </a:xfrm>
          <a:prstGeom prst="rect">
            <a:avLst/>
          </a:prstGeom>
        </p:spPr>
        <p:txBody>
          <a:bodyPr lIns="0" tIns="0" rIns="0" bIns="0" rtlCol="0" anchor="t">
            <a:spAutoFit/>
          </a:bodyPr>
          <a:lstStyle/>
          <a:p>
            <a:pPr algn="l">
              <a:lnSpc>
                <a:spcPts val="2625"/>
              </a:lnSpc>
            </a:pPr>
            <a:r>
              <a:rPr lang="en-US" sz="2125">
                <a:solidFill>
                  <a:srgbClr val="D6E5EF"/>
                </a:solidFill>
                <a:latin typeface="Roboto Slab"/>
                <a:ea typeface="Roboto Slab"/>
                <a:cs typeface="Roboto Slab"/>
                <a:sym typeface="Roboto Slab"/>
              </a:rPr>
              <a:t>Java</a:t>
            </a:r>
          </a:p>
        </p:txBody>
      </p:sp>
      <p:sp>
        <p:nvSpPr>
          <p:cNvPr id="14" name="TextBox 14"/>
          <p:cNvSpPr txBox="1"/>
          <p:nvPr/>
        </p:nvSpPr>
        <p:spPr>
          <a:xfrm>
            <a:off x="2717597" y="2345827"/>
            <a:ext cx="13670013" cy="651272"/>
          </a:xfrm>
          <a:prstGeom prst="rect">
            <a:avLst/>
          </a:prstGeom>
        </p:spPr>
        <p:txBody>
          <a:bodyPr lIns="0" tIns="0" rIns="0" bIns="0" rtlCol="0" anchor="t">
            <a:spAutoFit/>
          </a:bodyPr>
          <a:lstStyle/>
          <a:p>
            <a:pPr algn="l">
              <a:lnSpc>
                <a:spcPts val="2375"/>
              </a:lnSpc>
            </a:pPr>
            <a:r>
              <a:rPr lang="en-US" sz="1687">
                <a:solidFill>
                  <a:srgbClr val="D6E5EF"/>
                </a:solidFill>
                <a:latin typeface="Roboto"/>
                <a:ea typeface="Roboto"/>
                <a:cs typeface="Roboto"/>
                <a:sym typeface="Roboto"/>
              </a:rPr>
              <a:t>The foundational programming language for the entire backend. Leverages its robust ecosystem, strong typing, and JVM capabilities for high performance and reliability.</a:t>
            </a:r>
          </a:p>
        </p:txBody>
      </p:sp>
      <p:grpSp>
        <p:nvGrpSpPr>
          <p:cNvPr id="15" name="Group 15"/>
          <p:cNvGrpSpPr/>
          <p:nvPr/>
        </p:nvGrpSpPr>
        <p:grpSpPr>
          <a:xfrm>
            <a:off x="1640386" y="3394472"/>
            <a:ext cx="15007085" cy="1571625"/>
            <a:chOff x="0" y="0"/>
            <a:chExt cx="20009447" cy="2095500"/>
          </a:xfrm>
        </p:grpSpPr>
        <p:sp>
          <p:nvSpPr>
            <p:cNvPr id="16" name="Freeform 16"/>
            <p:cNvSpPr/>
            <p:nvPr/>
          </p:nvSpPr>
          <p:spPr>
            <a:xfrm>
              <a:off x="19050" y="19050"/>
              <a:ext cx="19971258" cy="2057400"/>
            </a:xfrm>
            <a:custGeom>
              <a:avLst/>
              <a:gdLst/>
              <a:ahLst/>
              <a:cxnLst/>
              <a:rect l="l" t="t" r="r" b="b"/>
              <a:pathLst>
                <a:path w="19971258" h="2057400">
                  <a:moveTo>
                    <a:pt x="0" y="43434"/>
                  </a:moveTo>
                  <a:cubicBezTo>
                    <a:pt x="0" y="19431"/>
                    <a:pt x="19812" y="0"/>
                    <a:pt x="44069" y="0"/>
                  </a:cubicBezTo>
                  <a:lnTo>
                    <a:pt x="19927188" y="0"/>
                  </a:lnTo>
                  <a:cubicBezTo>
                    <a:pt x="19951573" y="0"/>
                    <a:pt x="19971258" y="19431"/>
                    <a:pt x="19971258" y="43434"/>
                  </a:cubicBezTo>
                  <a:lnTo>
                    <a:pt x="19971258" y="2013966"/>
                  </a:lnTo>
                  <a:cubicBezTo>
                    <a:pt x="19971258" y="2037969"/>
                    <a:pt x="19951446" y="2057400"/>
                    <a:pt x="19927188" y="2057400"/>
                  </a:cubicBezTo>
                  <a:lnTo>
                    <a:pt x="44069" y="2057400"/>
                  </a:lnTo>
                  <a:cubicBezTo>
                    <a:pt x="19685" y="2057400"/>
                    <a:pt x="0" y="2037969"/>
                    <a:pt x="0" y="2013966"/>
                  </a:cubicBezTo>
                  <a:close/>
                </a:path>
              </a:pathLst>
            </a:custGeom>
            <a:solidFill>
              <a:srgbClr val="202733"/>
            </a:solidFill>
          </p:spPr>
        </p:sp>
        <p:sp>
          <p:nvSpPr>
            <p:cNvPr id="17" name="Freeform 17"/>
            <p:cNvSpPr/>
            <p:nvPr/>
          </p:nvSpPr>
          <p:spPr>
            <a:xfrm>
              <a:off x="0" y="0"/>
              <a:ext cx="20009358" cy="2095500"/>
            </a:xfrm>
            <a:custGeom>
              <a:avLst/>
              <a:gdLst/>
              <a:ahLst/>
              <a:cxnLst/>
              <a:rect l="l" t="t" r="r" b="b"/>
              <a:pathLst>
                <a:path w="20009358" h="2095500">
                  <a:moveTo>
                    <a:pt x="0" y="62484"/>
                  </a:moveTo>
                  <a:cubicBezTo>
                    <a:pt x="0" y="27686"/>
                    <a:pt x="28575" y="0"/>
                    <a:pt x="63119" y="0"/>
                  </a:cubicBezTo>
                  <a:lnTo>
                    <a:pt x="19946238" y="0"/>
                  </a:lnTo>
                  <a:lnTo>
                    <a:pt x="19946238" y="19050"/>
                  </a:lnTo>
                  <a:lnTo>
                    <a:pt x="19946238" y="0"/>
                  </a:lnTo>
                  <a:cubicBezTo>
                    <a:pt x="19980783" y="0"/>
                    <a:pt x="20009358" y="27686"/>
                    <a:pt x="20009358" y="62484"/>
                  </a:cubicBezTo>
                  <a:lnTo>
                    <a:pt x="19990308" y="62484"/>
                  </a:lnTo>
                  <a:lnTo>
                    <a:pt x="20009358" y="62484"/>
                  </a:lnTo>
                  <a:lnTo>
                    <a:pt x="20009358" y="2033016"/>
                  </a:lnTo>
                  <a:lnTo>
                    <a:pt x="19990308" y="2033016"/>
                  </a:lnTo>
                  <a:lnTo>
                    <a:pt x="20009358" y="2033016"/>
                  </a:lnTo>
                  <a:cubicBezTo>
                    <a:pt x="20009358" y="2067814"/>
                    <a:pt x="19980783" y="2095500"/>
                    <a:pt x="19946238" y="2095500"/>
                  </a:cubicBezTo>
                  <a:lnTo>
                    <a:pt x="19946238" y="2076450"/>
                  </a:lnTo>
                  <a:lnTo>
                    <a:pt x="19946238" y="2095500"/>
                  </a:lnTo>
                  <a:lnTo>
                    <a:pt x="63119" y="2095500"/>
                  </a:lnTo>
                  <a:lnTo>
                    <a:pt x="63119" y="2076450"/>
                  </a:lnTo>
                  <a:lnTo>
                    <a:pt x="63119" y="2095500"/>
                  </a:lnTo>
                  <a:cubicBezTo>
                    <a:pt x="28575" y="2095500"/>
                    <a:pt x="0" y="2067814"/>
                    <a:pt x="0" y="2033016"/>
                  </a:cubicBezTo>
                  <a:lnTo>
                    <a:pt x="0" y="62484"/>
                  </a:lnTo>
                  <a:lnTo>
                    <a:pt x="19050" y="62484"/>
                  </a:lnTo>
                  <a:lnTo>
                    <a:pt x="0" y="62484"/>
                  </a:lnTo>
                  <a:moveTo>
                    <a:pt x="38100" y="62484"/>
                  </a:moveTo>
                  <a:lnTo>
                    <a:pt x="38100" y="2033016"/>
                  </a:lnTo>
                  <a:lnTo>
                    <a:pt x="19050" y="2033016"/>
                  </a:lnTo>
                  <a:lnTo>
                    <a:pt x="38100" y="2033016"/>
                  </a:lnTo>
                  <a:cubicBezTo>
                    <a:pt x="38100" y="2046224"/>
                    <a:pt x="49022" y="2057400"/>
                    <a:pt x="63119" y="2057400"/>
                  </a:cubicBezTo>
                  <a:lnTo>
                    <a:pt x="19946238" y="2057400"/>
                  </a:lnTo>
                  <a:cubicBezTo>
                    <a:pt x="19960335" y="2057400"/>
                    <a:pt x="19971258" y="2046224"/>
                    <a:pt x="19971258" y="2033016"/>
                  </a:cubicBezTo>
                  <a:lnTo>
                    <a:pt x="19971258" y="62484"/>
                  </a:lnTo>
                  <a:cubicBezTo>
                    <a:pt x="19971258" y="49276"/>
                    <a:pt x="19960335" y="38100"/>
                    <a:pt x="19946238" y="38100"/>
                  </a:cubicBezTo>
                  <a:lnTo>
                    <a:pt x="63119" y="38100"/>
                  </a:lnTo>
                  <a:lnTo>
                    <a:pt x="63119" y="19050"/>
                  </a:lnTo>
                  <a:lnTo>
                    <a:pt x="63119" y="38100"/>
                  </a:lnTo>
                  <a:cubicBezTo>
                    <a:pt x="49022" y="38100"/>
                    <a:pt x="38100" y="49276"/>
                    <a:pt x="38100" y="62484"/>
                  </a:cubicBezTo>
                  <a:close/>
                </a:path>
              </a:pathLst>
            </a:custGeom>
            <a:solidFill>
              <a:srgbClr val="585F6B"/>
            </a:solidFill>
          </p:spPr>
        </p:sp>
      </p:grpSp>
      <p:grpSp>
        <p:nvGrpSpPr>
          <p:cNvPr id="18" name="Group 18"/>
          <p:cNvGrpSpPr/>
          <p:nvPr/>
        </p:nvGrpSpPr>
        <p:grpSpPr>
          <a:xfrm>
            <a:off x="1683248" y="3437334"/>
            <a:ext cx="868261" cy="1485900"/>
            <a:chOff x="0" y="0"/>
            <a:chExt cx="1157681" cy="1981200"/>
          </a:xfrm>
        </p:grpSpPr>
        <p:sp>
          <p:nvSpPr>
            <p:cNvPr id="19" name="Freeform 19"/>
            <p:cNvSpPr/>
            <p:nvPr/>
          </p:nvSpPr>
          <p:spPr>
            <a:xfrm>
              <a:off x="0" y="0"/>
              <a:ext cx="1157732" cy="1981200"/>
            </a:xfrm>
            <a:custGeom>
              <a:avLst/>
              <a:gdLst/>
              <a:ahLst/>
              <a:cxnLst/>
              <a:rect l="l" t="t" r="r" b="b"/>
              <a:pathLst>
                <a:path w="1157732" h="1981200">
                  <a:moveTo>
                    <a:pt x="0" y="0"/>
                  </a:moveTo>
                  <a:lnTo>
                    <a:pt x="1157732" y="0"/>
                  </a:lnTo>
                  <a:lnTo>
                    <a:pt x="1157732" y="1981200"/>
                  </a:lnTo>
                  <a:lnTo>
                    <a:pt x="0" y="1981200"/>
                  </a:lnTo>
                  <a:close/>
                </a:path>
              </a:pathLst>
            </a:custGeom>
            <a:solidFill>
              <a:srgbClr val="3F4652"/>
            </a:solidFill>
          </p:spPr>
        </p:sp>
      </p:grpSp>
      <p:sp>
        <p:nvSpPr>
          <p:cNvPr id="20" name="TextBox 20"/>
          <p:cNvSpPr txBox="1"/>
          <p:nvPr/>
        </p:nvSpPr>
        <p:spPr>
          <a:xfrm>
            <a:off x="1954559" y="4014940"/>
            <a:ext cx="325488" cy="368798"/>
          </a:xfrm>
          <a:prstGeom prst="rect">
            <a:avLst/>
          </a:prstGeom>
        </p:spPr>
        <p:txBody>
          <a:bodyPr lIns="0" tIns="0" rIns="0" bIns="0" rtlCol="0" anchor="t">
            <a:spAutoFit/>
          </a:bodyPr>
          <a:lstStyle/>
          <a:p>
            <a:pPr algn="l">
              <a:lnSpc>
                <a:spcPts val="2562"/>
              </a:lnSpc>
            </a:pPr>
            <a:r>
              <a:rPr lang="en-US" sz="2562">
                <a:solidFill>
                  <a:srgbClr val="D6E5EF"/>
                </a:solidFill>
                <a:latin typeface="Roboto Slab"/>
                <a:ea typeface="Roboto Slab"/>
                <a:cs typeface="Roboto Slab"/>
                <a:sym typeface="Roboto Slab"/>
              </a:rPr>
              <a:t>2</a:t>
            </a:r>
          </a:p>
        </p:txBody>
      </p:sp>
      <p:sp>
        <p:nvSpPr>
          <p:cNvPr id="21" name="TextBox 21"/>
          <p:cNvSpPr txBox="1"/>
          <p:nvPr/>
        </p:nvSpPr>
        <p:spPr>
          <a:xfrm>
            <a:off x="2717597" y="3644798"/>
            <a:ext cx="2713434" cy="348558"/>
          </a:xfrm>
          <a:prstGeom prst="rect">
            <a:avLst/>
          </a:prstGeom>
        </p:spPr>
        <p:txBody>
          <a:bodyPr lIns="0" tIns="0" rIns="0" bIns="0" rtlCol="0" anchor="t">
            <a:spAutoFit/>
          </a:bodyPr>
          <a:lstStyle/>
          <a:p>
            <a:pPr algn="l">
              <a:lnSpc>
                <a:spcPts val="2625"/>
              </a:lnSpc>
            </a:pPr>
            <a:r>
              <a:rPr lang="en-US" sz="2125">
                <a:solidFill>
                  <a:srgbClr val="D6E5EF"/>
                </a:solidFill>
                <a:latin typeface="Roboto Slab"/>
                <a:ea typeface="Roboto Slab"/>
                <a:cs typeface="Roboto Slab"/>
                <a:sym typeface="Roboto Slab"/>
              </a:rPr>
              <a:t>Spring Boot</a:t>
            </a:r>
          </a:p>
        </p:txBody>
      </p:sp>
      <p:sp>
        <p:nvSpPr>
          <p:cNvPr id="22" name="TextBox 22"/>
          <p:cNvSpPr txBox="1"/>
          <p:nvPr/>
        </p:nvSpPr>
        <p:spPr>
          <a:xfrm>
            <a:off x="2717597" y="4054973"/>
            <a:ext cx="13670013" cy="651272"/>
          </a:xfrm>
          <a:prstGeom prst="rect">
            <a:avLst/>
          </a:prstGeom>
        </p:spPr>
        <p:txBody>
          <a:bodyPr lIns="0" tIns="0" rIns="0" bIns="0" rtlCol="0" anchor="t">
            <a:spAutoFit/>
          </a:bodyPr>
          <a:lstStyle/>
          <a:p>
            <a:pPr algn="l">
              <a:lnSpc>
                <a:spcPts val="2375"/>
              </a:lnSpc>
            </a:pPr>
            <a:r>
              <a:rPr lang="en-US" sz="1687">
                <a:solidFill>
                  <a:srgbClr val="D6E5EF"/>
                </a:solidFill>
                <a:latin typeface="Roboto"/>
                <a:ea typeface="Roboto"/>
                <a:cs typeface="Roboto"/>
                <a:sym typeface="Roboto"/>
              </a:rPr>
              <a:t>Eliminates boilerplate configuration. Auto-wires dependencies and launches a production-ready server in minutes, letting the team focus on business logic.</a:t>
            </a:r>
          </a:p>
        </p:txBody>
      </p:sp>
      <p:grpSp>
        <p:nvGrpSpPr>
          <p:cNvPr id="23" name="Group 23"/>
          <p:cNvGrpSpPr/>
          <p:nvPr/>
        </p:nvGrpSpPr>
        <p:grpSpPr>
          <a:xfrm>
            <a:off x="1640386" y="5103609"/>
            <a:ext cx="15007085" cy="1330966"/>
            <a:chOff x="0" y="0"/>
            <a:chExt cx="20009447" cy="1774622"/>
          </a:xfrm>
        </p:grpSpPr>
        <p:sp>
          <p:nvSpPr>
            <p:cNvPr id="24" name="Freeform 24"/>
            <p:cNvSpPr/>
            <p:nvPr/>
          </p:nvSpPr>
          <p:spPr>
            <a:xfrm>
              <a:off x="19050" y="19050"/>
              <a:ext cx="19971386" cy="1736598"/>
            </a:xfrm>
            <a:custGeom>
              <a:avLst/>
              <a:gdLst/>
              <a:ahLst/>
              <a:cxnLst/>
              <a:rect l="l" t="t" r="r" b="b"/>
              <a:pathLst>
                <a:path w="19971386" h="1736598">
                  <a:moveTo>
                    <a:pt x="0" y="43434"/>
                  </a:moveTo>
                  <a:cubicBezTo>
                    <a:pt x="0" y="19431"/>
                    <a:pt x="19812" y="0"/>
                    <a:pt x="44323" y="0"/>
                  </a:cubicBezTo>
                  <a:lnTo>
                    <a:pt x="19927063" y="0"/>
                  </a:lnTo>
                  <a:cubicBezTo>
                    <a:pt x="19951574" y="0"/>
                    <a:pt x="19971386" y="19431"/>
                    <a:pt x="19971386" y="43434"/>
                  </a:cubicBezTo>
                  <a:lnTo>
                    <a:pt x="19971386" y="1693164"/>
                  </a:lnTo>
                  <a:cubicBezTo>
                    <a:pt x="19971386" y="1717167"/>
                    <a:pt x="19951574" y="1736598"/>
                    <a:pt x="19927063" y="1736598"/>
                  </a:cubicBezTo>
                  <a:lnTo>
                    <a:pt x="44323" y="1736598"/>
                  </a:lnTo>
                  <a:cubicBezTo>
                    <a:pt x="19812" y="1736598"/>
                    <a:pt x="0" y="1717167"/>
                    <a:pt x="0" y="1693164"/>
                  </a:cubicBezTo>
                  <a:close/>
                </a:path>
              </a:pathLst>
            </a:custGeom>
            <a:solidFill>
              <a:srgbClr val="202733"/>
            </a:solidFill>
          </p:spPr>
        </p:sp>
        <p:sp>
          <p:nvSpPr>
            <p:cNvPr id="25" name="Freeform 25"/>
            <p:cNvSpPr/>
            <p:nvPr/>
          </p:nvSpPr>
          <p:spPr>
            <a:xfrm>
              <a:off x="0" y="0"/>
              <a:ext cx="20009486" cy="1774698"/>
            </a:xfrm>
            <a:custGeom>
              <a:avLst/>
              <a:gdLst/>
              <a:ahLst/>
              <a:cxnLst/>
              <a:rect l="l" t="t" r="r" b="b"/>
              <a:pathLst>
                <a:path w="20009486" h="1774698">
                  <a:moveTo>
                    <a:pt x="0" y="62484"/>
                  </a:moveTo>
                  <a:cubicBezTo>
                    <a:pt x="0" y="27559"/>
                    <a:pt x="28702" y="0"/>
                    <a:pt x="63373" y="0"/>
                  </a:cubicBezTo>
                  <a:lnTo>
                    <a:pt x="19946113" y="0"/>
                  </a:lnTo>
                  <a:lnTo>
                    <a:pt x="19946113" y="19050"/>
                  </a:lnTo>
                  <a:lnTo>
                    <a:pt x="19946113" y="0"/>
                  </a:lnTo>
                  <a:cubicBezTo>
                    <a:pt x="19980783" y="0"/>
                    <a:pt x="20009486" y="27559"/>
                    <a:pt x="20009486" y="62484"/>
                  </a:cubicBezTo>
                  <a:lnTo>
                    <a:pt x="19990436" y="62484"/>
                  </a:lnTo>
                  <a:lnTo>
                    <a:pt x="20009486" y="62484"/>
                  </a:lnTo>
                  <a:lnTo>
                    <a:pt x="20009486" y="1712214"/>
                  </a:lnTo>
                  <a:lnTo>
                    <a:pt x="19990436" y="1712214"/>
                  </a:lnTo>
                  <a:lnTo>
                    <a:pt x="20009486" y="1712214"/>
                  </a:lnTo>
                  <a:cubicBezTo>
                    <a:pt x="20009486" y="1747012"/>
                    <a:pt x="19980783" y="1774698"/>
                    <a:pt x="19946113" y="1774698"/>
                  </a:cubicBezTo>
                  <a:lnTo>
                    <a:pt x="19946113" y="1755648"/>
                  </a:lnTo>
                  <a:lnTo>
                    <a:pt x="19946113" y="1774698"/>
                  </a:lnTo>
                  <a:lnTo>
                    <a:pt x="63373" y="1774698"/>
                  </a:lnTo>
                  <a:lnTo>
                    <a:pt x="63373" y="1755648"/>
                  </a:lnTo>
                  <a:lnTo>
                    <a:pt x="63373" y="1774698"/>
                  </a:lnTo>
                  <a:cubicBezTo>
                    <a:pt x="28702" y="1774698"/>
                    <a:pt x="0" y="1747139"/>
                    <a:pt x="0" y="1712214"/>
                  </a:cubicBezTo>
                  <a:lnTo>
                    <a:pt x="0" y="62484"/>
                  </a:lnTo>
                  <a:lnTo>
                    <a:pt x="19050" y="62484"/>
                  </a:lnTo>
                  <a:lnTo>
                    <a:pt x="0" y="62484"/>
                  </a:lnTo>
                  <a:moveTo>
                    <a:pt x="38100" y="62484"/>
                  </a:moveTo>
                  <a:lnTo>
                    <a:pt x="38100" y="1712214"/>
                  </a:lnTo>
                  <a:lnTo>
                    <a:pt x="19050" y="1712214"/>
                  </a:lnTo>
                  <a:lnTo>
                    <a:pt x="38100" y="1712214"/>
                  </a:lnTo>
                  <a:cubicBezTo>
                    <a:pt x="38100" y="1725295"/>
                    <a:pt x="49022" y="1736598"/>
                    <a:pt x="63373" y="1736598"/>
                  </a:cubicBezTo>
                  <a:lnTo>
                    <a:pt x="19946113" y="1736598"/>
                  </a:lnTo>
                  <a:cubicBezTo>
                    <a:pt x="19960464" y="1736598"/>
                    <a:pt x="19971386" y="1725295"/>
                    <a:pt x="19971386" y="1712214"/>
                  </a:cubicBezTo>
                  <a:lnTo>
                    <a:pt x="19971386" y="62484"/>
                  </a:lnTo>
                  <a:cubicBezTo>
                    <a:pt x="19971386" y="49403"/>
                    <a:pt x="19960464" y="38100"/>
                    <a:pt x="19946113" y="38100"/>
                  </a:cubicBezTo>
                  <a:lnTo>
                    <a:pt x="63373" y="38100"/>
                  </a:lnTo>
                  <a:lnTo>
                    <a:pt x="63373" y="19050"/>
                  </a:lnTo>
                  <a:lnTo>
                    <a:pt x="63373" y="38100"/>
                  </a:lnTo>
                  <a:cubicBezTo>
                    <a:pt x="49022" y="38100"/>
                    <a:pt x="38100" y="49403"/>
                    <a:pt x="38100" y="62484"/>
                  </a:cubicBezTo>
                  <a:close/>
                </a:path>
              </a:pathLst>
            </a:custGeom>
            <a:solidFill>
              <a:srgbClr val="585F6B"/>
            </a:solidFill>
          </p:spPr>
        </p:sp>
      </p:grpSp>
      <p:grpSp>
        <p:nvGrpSpPr>
          <p:cNvPr id="26" name="Group 26"/>
          <p:cNvGrpSpPr/>
          <p:nvPr/>
        </p:nvGrpSpPr>
        <p:grpSpPr>
          <a:xfrm>
            <a:off x="1683248" y="5146472"/>
            <a:ext cx="868261" cy="1245241"/>
            <a:chOff x="0" y="0"/>
            <a:chExt cx="1157681" cy="1660322"/>
          </a:xfrm>
        </p:grpSpPr>
        <p:sp>
          <p:nvSpPr>
            <p:cNvPr id="27" name="Freeform 27"/>
            <p:cNvSpPr/>
            <p:nvPr/>
          </p:nvSpPr>
          <p:spPr>
            <a:xfrm>
              <a:off x="0" y="0"/>
              <a:ext cx="1157732" cy="1660271"/>
            </a:xfrm>
            <a:custGeom>
              <a:avLst/>
              <a:gdLst/>
              <a:ahLst/>
              <a:cxnLst/>
              <a:rect l="l" t="t" r="r" b="b"/>
              <a:pathLst>
                <a:path w="1157732" h="1660271">
                  <a:moveTo>
                    <a:pt x="0" y="0"/>
                  </a:moveTo>
                  <a:lnTo>
                    <a:pt x="1157732" y="0"/>
                  </a:lnTo>
                  <a:lnTo>
                    <a:pt x="1157732" y="1660271"/>
                  </a:lnTo>
                  <a:lnTo>
                    <a:pt x="0" y="1660271"/>
                  </a:lnTo>
                  <a:close/>
                </a:path>
              </a:pathLst>
            </a:custGeom>
            <a:solidFill>
              <a:srgbClr val="3F4652"/>
            </a:solidFill>
          </p:spPr>
        </p:sp>
      </p:grpSp>
      <p:sp>
        <p:nvSpPr>
          <p:cNvPr id="28" name="TextBox 28"/>
          <p:cNvSpPr txBox="1"/>
          <p:nvPr/>
        </p:nvSpPr>
        <p:spPr>
          <a:xfrm>
            <a:off x="1954559" y="5603672"/>
            <a:ext cx="325488" cy="368798"/>
          </a:xfrm>
          <a:prstGeom prst="rect">
            <a:avLst/>
          </a:prstGeom>
        </p:spPr>
        <p:txBody>
          <a:bodyPr lIns="0" tIns="0" rIns="0" bIns="0" rtlCol="0" anchor="t">
            <a:spAutoFit/>
          </a:bodyPr>
          <a:lstStyle/>
          <a:p>
            <a:pPr algn="l">
              <a:lnSpc>
                <a:spcPts val="2562"/>
              </a:lnSpc>
            </a:pPr>
            <a:r>
              <a:rPr lang="en-US" sz="2562">
                <a:solidFill>
                  <a:srgbClr val="D6E5EF"/>
                </a:solidFill>
                <a:latin typeface="Roboto Slab"/>
                <a:ea typeface="Roboto Slab"/>
                <a:cs typeface="Roboto Slab"/>
                <a:sym typeface="Roboto Slab"/>
              </a:rPr>
              <a:t>3</a:t>
            </a:r>
          </a:p>
        </p:txBody>
      </p:sp>
      <p:sp>
        <p:nvSpPr>
          <p:cNvPr id="29" name="TextBox 29"/>
          <p:cNvSpPr txBox="1"/>
          <p:nvPr/>
        </p:nvSpPr>
        <p:spPr>
          <a:xfrm>
            <a:off x="2717597" y="5353945"/>
            <a:ext cx="2713434" cy="348558"/>
          </a:xfrm>
          <a:prstGeom prst="rect">
            <a:avLst/>
          </a:prstGeom>
        </p:spPr>
        <p:txBody>
          <a:bodyPr lIns="0" tIns="0" rIns="0" bIns="0" rtlCol="0" anchor="t">
            <a:spAutoFit/>
          </a:bodyPr>
          <a:lstStyle/>
          <a:p>
            <a:pPr algn="l">
              <a:lnSpc>
                <a:spcPts val="2625"/>
              </a:lnSpc>
            </a:pPr>
            <a:r>
              <a:rPr lang="en-US" sz="2125">
                <a:solidFill>
                  <a:srgbClr val="D6E5EF"/>
                </a:solidFill>
                <a:latin typeface="Roboto Slab"/>
                <a:ea typeface="Roboto Slab"/>
                <a:cs typeface="Roboto Slab"/>
                <a:sym typeface="Roboto Slab"/>
              </a:rPr>
              <a:t>MySQL</a:t>
            </a:r>
          </a:p>
        </p:txBody>
      </p:sp>
      <p:sp>
        <p:nvSpPr>
          <p:cNvPr id="30" name="TextBox 30"/>
          <p:cNvSpPr txBox="1"/>
          <p:nvPr/>
        </p:nvSpPr>
        <p:spPr>
          <a:xfrm>
            <a:off x="2717597" y="5764111"/>
            <a:ext cx="13670013" cy="344691"/>
          </a:xfrm>
          <a:prstGeom prst="rect">
            <a:avLst/>
          </a:prstGeom>
        </p:spPr>
        <p:txBody>
          <a:bodyPr lIns="0" tIns="0" rIns="0" bIns="0" rtlCol="0" anchor="t">
            <a:spAutoFit/>
          </a:bodyPr>
          <a:lstStyle/>
          <a:p>
            <a:pPr algn="l">
              <a:lnSpc>
                <a:spcPts val="2375"/>
              </a:lnSpc>
            </a:pPr>
            <a:r>
              <a:rPr lang="en-US" sz="1687">
                <a:solidFill>
                  <a:srgbClr val="D6E5EF"/>
                </a:solidFill>
                <a:latin typeface="Roboto"/>
                <a:ea typeface="Roboto"/>
                <a:cs typeface="Roboto"/>
                <a:sym typeface="Roboto"/>
              </a:rPr>
              <a:t>Structured relational storage for users, expenses, and categories. ACID-compliant transactions ensure data integrity at every operation.</a:t>
            </a:r>
          </a:p>
        </p:txBody>
      </p:sp>
      <p:grpSp>
        <p:nvGrpSpPr>
          <p:cNvPr id="31" name="Group 31"/>
          <p:cNvGrpSpPr/>
          <p:nvPr/>
        </p:nvGrpSpPr>
        <p:grpSpPr>
          <a:xfrm>
            <a:off x="1640386" y="6572098"/>
            <a:ext cx="15007085" cy="1571625"/>
            <a:chOff x="0" y="0"/>
            <a:chExt cx="20009447" cy="2095500"/>
          </a:xfrm>
        </p:grpSpPr>
        <p:sp>
          <p:nvSpPr>
            <p:cNvPr id="32" name="Freeform 32"/>
            <p:cNvSpPr/>
            <p:nvPr/>
          </p:nvSpPr>
          <p:spPr>
            <a:xfrm>
              <a:off x="19050" y="19050"/>
              <a:ext cx="19971258" cy="2057400"/>
            </a:xfrm>
            <a:custGeom>
              <a:avLst/>
              <a:gdLst/>
              <a:ahLst/>
              <a:cxnLst/>
              <a:rect l="l" t="t" r="r" b="b"/>
              <a:pathLst>
                <a:path w="19971258" h="2057400">
                  <a:moveTo>
                    <a:pt x="0" y="43434"/>
                  </a:moveTo>
                  <a:cubicBezTo>
                    <a:pt x="0" y="19431"/>
                    <a:pt x="19812" y="0"/>
                    <a:pt x="44069" y="0"/>
                  </a:cubicBezTo>
                  <a:lnTo>
                    <a:pt x="19927188" y="0"/>
                  </a:lnTo>
                  <a:cubicBezTo>
                    <a:pt x="19951573" y="0"/>
                    <a:pt x="19971258" y="19431"/>
                    <a:pt x="19971258" y="43434"/>
                  </a:cubicBezTo>
                  <a:lnTo>
                    <a:pt x="19971258" y="2013966"/>
                  </a:lnTo>
                  <a:cubicBezTo>
                    <a:pt x="19971258" y="2037969"/>
                    <a:pt x="19951446" y="2057400"/>
                    <a:pt x="19927188" y="2057400"/>
                  </a:cubicBezTo>
                  <a:lnTo>
                    <a:pt x="44069" y="2057400"/>
                  </a:lnTo>
                  <a:cubicBezTo>
                    <a:pt x="19685" y="2057400"/>
                    <a:pt x="0" y="2037969"/>
                    <a:pt x="0" y="2013966"/>
                  </a:cubicBezTo>
                  <a:close/>
                </a:path>
              </a:pathLst>
            </a:custGeom>
            <a:solidFill>
              <a:srgbClr val="202733"/>
            </a:solidFill>
          </p:spPr>
        </p:sp>
        <p:sp>
          <p:nvSpPr>
            <p:cNvPr id="33" name="Freeform 33"/>
            <p:cNvSpPr/>
            <p:nvPr/>
          </p:nvSpPr>
          <p:spPr>
            <a:xfrm>
              <a:off x="0" y="0"/>
              <a:ext cx="20009358" cy="2095500"/>
            </a:xfrm>
            <a:custGeom>
              <a:avLst/>
              <a:gdLst/>
              <a:ahLst/>
              <a:cxnLst/>
              <a:rect l="l" t="t" r="r" b="b"/>
              <a:pathLst>
                <a:path w="20009358" h="2095500">
                  <a:moveTo>
                    <a:pt x="0" y="62484"/>
                  </a:moveTo>
                  <a:cubicBezTo>
                    <a:pt x="0" y="27686"/>
                    <a:pt x="28575" y="0"/>
                    <a:pt x="63119" y="0"/>
                  </a:cubicBezTo>
                  <a:lnTo>
                    <a:pt x="19946238" y="0"/>
                  </a:lnTo>
                  <a:lnTo>
                    <a:pt x="19946238" y="19050"/>
                  </a:lnTo>
                  <a:lnTo>
                    <a:pt x="19946238" y="0"/>
                  </a:lnTo>
                  <a:cubicBezTo>
                    <a:pt x="19980783" y="0"/>
                    <a:pt x="20009358" y="27686"/>
                    <a:pt x="20009358" y="62484"/>
                  </a:cubicBezTo>
                  <a:lnTo>
                    <a:pt x="19990308" y="62484"/>
                  </a:lnTo>
                  <a:lnTo>
                    <a:pt x="20009358" y="62484"/>
                  </a:lnTo>
                  <a:lnTo>
                    <a:pt x="20009358" y="2033016"/>
                  </a:lnTo>
                  <a:lnTo>
                    <a:pt x="19990308" y="2033016"/>
                  </a:lnTo>
                  <a:lnTo>
                    <a:pt x="20009358" y="2033016"/>
                  </a:lnTo>
                  <a:cubicBezTo>
                    <a:pt x="20009358" y="2067814"/>
                    <a:pt x="19980783" y="2095500"/>
                    <a:pt x="19946238" y="2095500"/>
                  </a:cubicBezTo>
                  <a:lnTo>
                    <a:pt x="19946238" y="2076450"/>
                  </a:lnTo>
                  <a:lnTo>
                    <a:pt x="19946238" y="2095500"/>
                  </a:lnTo>
                  <a:lnTo>
                    <a:pt x="63119" y="2095500"/>
                  </a:lnTo>
                  <a:lnTo>
                    <a:pt x="63119" y="2076450"/>
                  </a:lnTo>
                  <a:lnTo>
                    <a:pt x="63119" y="2095500"/>
                  </a:lnTo>
                  <a:cubicBezTo>
                    <a:pt x="28575" y="2095500"/>
                    <a:pt x="0" y="2067814"/>
                    <a:pt x="0" y="2033016"/>
                  </a:cubicBezTo>
                  <a:lnTo>
                    <a:pt x="0" y="62484"/>
                  </a:lnTo>
                  <a:lnTo>
                    <a:pt x="19050" y="62484"/>
                  </a:lnTo>
                  <a:lnTo>
                    <a:pt x="0" y="62484"/>
                  </a:lnTo>
                  <a:moveTo>
                    <a:pt x="38100" y="62484"/>
                  </a:moveTo>
                  <a:lnTo>
                    <a:pt x="38100" y="2033016"/>
                  </a:lnTo>
                  <a:lnTo>
                    <a:pt x="19050" y="2033016"/>
                  </a:lnTo>
                  <a:lnTo>
                    <a:pt x="38100" y="2033016"/>
                  </a:lnTo>
                  <a:cubicBezTo>
                    <a:pt x="38100" y="2046224"/>
                    <a:pt x="49022" y="2057400"/>
                    <a:pt x="63119" y="2057400"/>
                  </a:cubicBezTo>
                  <a:lnTo>
                    <a:pt x="19946238" y="2057400"/>
                  </a:lnTo>
                  <a:cubicBezTo>
                    <a:pt x="19960335" y="2057400"/>
                    <a:pt x="19971258" y="2046224"/>
                    <a:pt x="19971258" y="2033016"/>
                  </a:cubicBezTo>
                  <a:lnTo>
                    <a:pt x="19971258" y="62484"/>
                  </a:lnTo>
                  <a:cubicBezTo>
                    <a:pt x="19971258" y="49276"/>
                    <a:pt x="19960335" y="38100"/>
                    <a:pt x="19946238" y="38100"/>
                  </a:cubicBezTo>
                  <a:lnTo>
                    <a:pt x="63119" y="38100"/>
                  </a:lnTo>
                  <a:lnTo>
                    <a:pt x="63119" y="19050"/>
                  </a:lnTo>
                  <a:lnTo>
                    <a:pt x="63119" y="38100"/>
                  </a:lnTo>
                  <a:cubicBezTo>
                    <a:pt x="49022" y="38100"/>
                    <a:pt x="38100" y="49276"/>
                    <a:pt x="38100" y="62484"/>
                  </a:cubicBezTo>
                  <a:close/>
                </a:path>
              </a:pathLst>
            </a:custGeom>
            <a:solidFill>
              <a:srgbClr val="585F6B"/>
            </a:solidFill>
          </p:spPr>
        </p:sp>
      </p:grpSp>
      <p:grpSp>
        <p:nvGrpSpPr>
          <p:cNvPr id="34" name="Group 34"/>
          <p:cNvGrpSpPr/>
          <p:nvPr/>
        </p:nvGrpSpPr>
        <p:grpSpPr>
          <a:xfrm>
            <a:off x="1683248" y="6614960"/>
            <a:ext cx="868261" cy="1485900"/>
            <a:chOff x="0" y="0"/>
            <a:chExt cx="1157681" cy="1981200"/>
          </a:xfrm>
        </p:grpSpPr>
        <p:sp>
          <p:nvSpPr>
            <p:cNvPr id="35" name="Freeform 35"/>
            <p:cNvSpPr/>
            <p:nvPr/>
          </p:nvSpPr>
          <p:spPr>
            <a:xfrm>
              <a:off x="0" y="0"/>
              <a:ext cx="1157732" cy="1981200"/>
            </a:xfrm>
            <a:custGeom>
              <a:avLst/>
              <a:gdLst/>
              <a:ahLst/>
              <a:cxnLst/>
              <a:rect l="l" t="t" r="r" b="b"/>
              <a:pathLst>
                <a:path w="1157732" h="1981200">
                  <a:moveTo>
                    <a:pt x="0" y="0"/>
                  </a:moveTo>
                  <a:lnTo>
                    <a:pt x="1157732" y="0"/>
                  </a:lnTo>
                  <a:lnTo>
                    <a:pt x="1157732" y="1981200"/>
                  </a:lnTo>
                  <a:lnTo>
                    <a:pt x="0" y="1981200"/>
                  </a:lnTo>
                  <a:close/>
                </a:path>
              </a:pathLst>
            </a:custGeom>
            <a:solidFill>
              <a:srgbClr val="3F4652"/>
            </a:solidFill>
          </p:spPr>
        </p:sp>
      </p:grpSp>
      <p:sp>
        <p:nvSpPr>
          <p:cNvPr id="36" name="TextBox 36"/>
          <p:cNvSpPr txBox="1"/>
          <p:nvPr/>
        </p:nvSpPr>
        <p:spPr>
          <a:xfrm>
            <a:off x="1954559" y="7192566"/>
            <a:ext cx="325488" cy="368798"/>
          </a:xfrm>
          <a:prstGeom prst="rect">
            <a:avLst/>
          </a:prstGeom>
        </p:spPr>
        <p:txBody>
          <a:bodyPr lIns="0" tIns="0" rIns="0" bIns="0" rtlCol="0" anchor="t">
            <a:spAutoFit/>
          </a:bodyPr>
          <a:lstStyle/>
          <a:p>
            <a:pPr algn="l">
              <a:lnSpc>
                <a:spcPts val="2562"/>
              </a:lnSpc>
            </a:pPr>
            <a:r>
              <a:rPr lang="en-US" sz="2562">
                <a:solidFill>
                  <a:srgbClr val="D6E5EF"/>
                </a:solidFill>
                <a:latin typeface="Roboto Slab"/>
                <a:ea typeface="Roboto Slab"/>
                <a:cs typeface="Roboto Slab"/>
                <a:sym typeface="Roboto Slab"/>
              </a:rPr>
              <a:t>4</a:t>
            </a:r>
          </a:p>
        </p:txBody>
      </p:sp>
      <p:sp>
        <p:nvSpPr>
          <p:cNvPr id="37" name="TextBox 37"/>
          <p:cNvSpPr txBox="1"/>
          <p:nvPr/>
        </p:nvSpPr>
        <p:spPr>
          <a:xfrm>
            <a:off x="2717597" y="6822434"/>
            <a:ext cx="2713434" cy="348558"/>
          </a:xfrm>
          <a:prstGeom prst="rect">
            <a:avLst/>
          </a:prstGeom>
        </p:spPr>
        <p:txBody>
          <a:bodyPr lIns="0" tIns="0" rIns="0" bIns="0" rtlCol="0" anchor="t">
            <a:spAutoFit/>
          </a:bodyPr>
          <a:lstStyle/>
          <a:p>
            <a:pPr algn="l">
              <a:lnSpc>
                <a:spcPts val="2625"/>
              </a:lnSpc>
            </a:pPr>
            <a:r>
              <a:rPr lang="en-US" sz="2125">
                <a:solidFill>
                  <a:srgbClr val="D6E5EF"/>
                </a:solidFill>
                <a:latin typeface="Roboto Slab"/>
                <a:ea typeface="Roboto Slab"/>
                <a:cs typeface="Roboto Slab"/>
                <a:sym typeface="Roboto Slab"/>
              </a:rPr>
              <a:t>JPA / Hibernate</a:t>
            </a:r>
          </a:p>
        </p:txBody>
      </p:sp>
      <p:sp>
        <p:nvSpPr>
          <p:cNvPr id="38" name="TextBox 38"/>
          <p:cNvSpPr txBox="1"/>
          <p:nvPr/>
        </p:nvSpPr>
        <p:spPr>
          <a:xfrm>
            <a:off x="2717597" y="7232599"/>
            <a:ext cx="13670013" cy="651272"/>
          </a:xfrm>
          <a:prstGeom prst="rect">
            <a:avLst/>
          </a:prstGeom>
        </p:spPr>
        <p:txBody>
          <a:bodyPr lIns="0" tIns="0" rIns="0" bIns="0" rtlCol="0" anchor="t">
            <a:spAutoFit/>
          </a:bodyPr>
          <a:lstStyle/>
          <a:p>
            <a:pPr algn="l">
              <a:lnSpc>
                <a:spcPts val="2375"/>
              </a:lnSpc>
            </a:pPr>
            <a:r>
              <a:rPr lang="en-US" sz="1687">
                <a:solidFill>
                  <a:srgbClr val="D6E5EF"/>
                </a:solidFill>
                <a:latin typeface="Roboto"/>
                <a:ea typeface="Roboto"/>
                <a:cs typeface="Roboto"/>
                <a:sym typeface="Roboto"/>
              </a:rPr>
              <a:t>Maps Java entity classes to database tables automatically. Reduces raw SQL and enables powerful query methods through repository interfaces.</a:t>
            </a:r>
          </a:p>
        </p:txBody>
      </p:sp>
      <p:grpSp>
        <p:nvGrpSpPr>
          <p:cNvPr id="39" name="Group 39"/>
          <p:cNvGrpSpPr/>
          <p:nvPr/>
        </p:nvGrpSpPr>
        <p:grpSpPr>
          <a:xfrm>
            <a:off x="1640386" y="8281245"/>
            <a:ext cx="15007085" cy="1330966"/>
            <a:chOff x="0" y="0"/>
            <a:chExt cx="20009447" cy="1774622"/>
          </a:xfrm>
        </p:grpSpPr>
        <p:sp>
          <p:nvSpPr>
            <p:cNvPr id="40" name="Freeform 40"/>
            <p:cNvSpPr/>
            <p:nvPr/>
          </p:nvSpPr>
          <p:spPr>
            <a:xfrm>
              <a:off x="19050" y="19050"/>
              <a:ext cx="19971386" cy="1736598"/>
            </a:xfrm>
            <a:custGeom>
              <a:avLst/>
              <a:gdLst/>
              <a:ahLst/>
              <a:cxnLst/>
              <a:rect l="l" t="t" r="r" b="b"/>
              <a:pathLst>
                <a:path w="19971386" h="1736598">
                  <a:moveTo>
                    <a:pt x="0" y="43434"/>
                  </a:moveTo>
                  <a:cubicBezTo>
                    <a:pt x="0" y="19431"/>
                    <a:pt x="19812" y="0"/>
                    <a:pt x="44323" y="0"/>
                  </a:cubicBezTo>
                  <a:lnTo>
                    <a:pt x="19927063" y="0"/>
                  </a:lnTo>
                  <a:cubicBezTo>
                    <a:pt x="19951574" y="0"/>
                    <a:pt x="19971386" y="19431"/>
                    <a:pt x="19971386" y="43434"/>
                  </a:cubicBezTo>
                  <a:lnTo>
                    <a:pt x="19971386" y="1693164"/>
                  </a:lnTo>
                  <a:cubicBezTo>
                    <a:pt x="19971386" y="1717167"/>
                    <a:pt x="19951574" y="1736598"/>
                    <a:pt x="19927063" y="1736598"/>
                  </a:cubicBezTo>
                  <a:lnTo>
                    <a:pt x="44323" y="1736598"/>
                  </a:lnTo>
                  <a:cubicBezTo>
                    <a:pt x="19812" y="1736598"/>
                    <a:pt x="0" y="1717167"/>
                    <a:pt x="0" y="1693164"/>
                  </a:cubicBezTo>
                  <a:close/>
                </a:path>
              </a:pathLst>
            </a:custGeom>
            <a:solidFill>
              <a:srgbClr val="202733"/>
            </a:solidFill>
          </p:spPr>
        </p:sp>
        <p:sp>
          <p:nvSpPr>
            <p:cNvPr id="41" name="Freeform 41"/>
            <p:cNvSpPr/>
            <p:nvPr/>
          </p:nvSpPr>
          <p:spPr>
            <a:xfrm>
              <a:off x="0" y="0"/>
              <a:ext cx="20009486" cy="1774698"/>
            </a:xfrm>
            <a:custGeom>
              <a:avLst/>
              <a:gdLst/>
              <a:ahLst/>
              <a:cxnLst/>
              <a:rect l="l" t="t" r="r" b="b"/>
              <a:pathLst>
                <a:path w="20009486" h="1774698">
                  <a:moveTo>
                    <a:pt x="0" y="62484"/>
                  </a:moveTo>
                  <a:cubicBezTo>
                    <a:pt x="0" y="27559"/>
                    <a:pt x="28702" y="0"/>
                    <a:pt x="63373" y="0"/>
                  </a:cubicBezTo>
                  <a:lnTo>
                    <a:pt x="19946113" y="0"/>
                  </a:lnTo>
                  <a:lnTo>
                    <a:pt x="19946113" y="19050"/>
                  </a:lnTo>
                  <a:lnTo>
                    <a:pt x="19946113" y="0"/>
                  </a:lnTo>
                  <a:cubicBezTo>
                    <a:pt x="19980783" y="0"/>
                    <a:pt x="20009486" y="27559"/>
                    <a:pt x="20009486" y="62484"/>
                  </a:cubicBezTo>
                  <a:lnTo>
                    <a:pt x="19990436" y="62484"/>
                  </a:lnTo>
                  <a:lnTo>
                    <a:pt x="20009486" y="62484"/>
                  </a:lnTo>
                  <a:lnTo>
                    <a:pt x="20009486" y="1712214"/>
                  </a:lnTo>
                  <a:lnTo>
                    <a:pt x="19990436" y="1712214"/>
                  </a:lnTo>
                  <a:lnTo>
                    <a:pt x="20009486" y="1712214"/>
                  </a:lnTo>
                  <a:cubicBezTo>
                    <a:pt x="20009486" y="1747012"/>
                    <a:pt x="19980783" y="1774698"/>
                    <a:pt x="19946113" y="1774698"/>
                  </a:cubicBezTo>
                  <a:lnTo>
                    <a:pt x="19946113" y="1755648"/>
                  </a:lnTo>
                  <a:lnTo>
                    <a:pt x="19946113" y="1774698"/>
                  </a:lnTo>
                  <a:lnTo>
                    <a:pt x="63373" y="1774698"/>
                  </a:lnTo>
                  <a:lnTo>
                    <a:pt x="63373" y="1755648"/>
                  </a:lnTo>
                  <a:lnTo>
                    <a:pt x="63373" y="1774698"/>
                  </a:lnTo>
                  <a:cubicBezTo>
                    <a:pt x="28702" y="1774698"/>
                    <a:pt x="0" y="1747139"/>
                    <a:pt x="0" y="1712214"/>
                  </a:cubicBezTo>
                  <a:lnTo>
                    <a:pt x="0" y="62484"/>
                  </a:lnTo>
                  <a:lnTo>
                    <a:pt x="19050" y="62484"/>
                  </a:lnTo>
                  <a:lnTo>
                    <a:pt x="0" y="62484"/>
                  </a:lnTo>
                  <a:moveTo>
                    <a:pt x="38100" y="62484"/>
                  </a:moveTo>
                  <a:lnTo>
                    <a:pt x="38100" y="1712214"/>
                  </a:lnTo>
                  <a:lnTo>
                    <a:pt x="19050" y="1712214"/>
                  </a:lnTo>
                  <a:lnTo>
                    <a:pt x="38100" y="1712214"/>
                  </a:lnTo>
                  <a:cubicBezTo>
                    <a:pt x="38100" y="1725295"/>
                    <a:pt x="49022" y="1736598"/>
                    <a:pt x="63373" y="1736598"/>
                  </a:cubicBezTo>
                  <a:lnTo>
                    <a:pt x="19946113" y="1736598"/>
                  </a:lnTo>
                  <a:cubicBezTo>
                    <a:pt x="19960464" y="1736598"/>
                    <a:pt x="19971386" y="1725295"/>
                    <a:pt x="19971386" y="1712214"/>
                  </a:cubicBezTo>
                  <a:lnTo>
                    <a:pt x="19971386" y="62484"/>
                  </a:lnTo>
                  <a:cubicBezTo>
                    <a:pt x="19971386" y="49403"/>
                    <a:pt x="19960464" y="38100"/>
                    <a:pt x="19946113" y="38100"/>
                  </a:cubicBezTo>
                  <a:lnTo>
                    <a:pt x="63373" y="38100"/>
                  </a:lnTo>
                  <a:lnTo>
                    <a:pt x="63373" y="19050"/>
                  </a:lnTo>
                  <a:lnTo>
                    <a:pt x="63373" y="38100"/>
                  </a:lnTo>
                  <a:cubicBezTo>
                    <a:pt x="49022" y="38100"/>
                    <a:pt x="38100" y="49403"/>
                    <a:pt x="38100" y="62484"/>
                  </a:cubicBezTo>
                  <a:close/>
                </a:path>
              </a:pathLst>
            </a:custGeom>
            <a:solidFill>
              <a:srgbClr val="585F6B"/>
            </a:solidFill>
          </p:spPr>
        </p:sp>
      </p:grpSp>
      <p:grpSp>
        <p:nvGrpSpPr>
          <p:cNvPr id="42" name="Group 42"/>
          <p:cNvGrpSpPr/>
          <p:nvPr/>
        </p:nvGrpSpPr>
        <p:grpSpPr>
          <a:xfrm>
            <a:off x="1683248" y="8324107"/>
            <a:ext cx="868261" cy="1245241"/>
            <a:chOff x="0" y="0"/>
            <a:chExt cx="1157681" cy="1660322"/>
          </a:xfrm>
        </p:grpSpPr>
        <p:sp>
          <p:nvSpPr>
            <p:cNvPr id="43" name="Freeform 43"/>
            <p:cNvSpPr/>
            <p:nvPr/>
          </p:nvSpPr>
          <p:spPr>
            <a:xfrm>
              <a:off x="0" y="0"/>
              <a:ext cx="1157732" cy="1660271"/>
            </a:xfrm>
            <a:custGeom>
              <a:avLst/>
              <a:gdLst/>
              <a:ahLst/>
              <a:cxnLst/>
              <a:rect l="l" t="t" r="r" b="b"/>
              <a:pathLst>
                <a:path w="1157732" h="1660271">
                  <a:moveTo>
                    <a:pt x="0" y="0"/>
                  </a:moveTo>
                  <a:lnTo>
                    <a:pt x="1157732" y="0"/>
                  </a:lnTo>
                  <a:lnTo>
                    <a:pt x="1157732" y="1660271"/>
                  </a:lnTo>
                  <a:lnTo>
                    <a:pt x="0" y="1660271"/>
                  </a:lnTo>
                  <a:close/>
                </a:path>
              </a:pathLst>
            </a:custGeom>
            <a:solidFill>
              <a:srgbClr val="3F4652"/>
            </a:solidFill>
          </p:spPr>
        </p:sp>
      </p:grpSp>
      <p:sp>
        <p:nvSpPr>
          <p:cNvPr id="44" name="TextBox 44"/>
          <p:cNvSpPr txBox="1"/>
          <p:nvPr/>
        </p:nvSpPr>
        <p:spPr>
          <a:xfrm>
            <a:off x="1954559" y="8781307"/>
            <a:ext cx="325488" cy="368798"/>
          </a:xfrm>
          <a:prstGeom prst="rect">
            <a:avLst/>
          </a:prstGeom>
        </p:spPr>
        <p:txBody>
          <a:bodyPr lIns="0" tIns="0" rIns="0" bIns="0" rtlCol="0" anchor="t">
            <a:spAutoFit/>
          </a:bodyPr>
          <a:lstStyle/>
          <a:p>
            <a:pPr algn="l">
              <a:lnSpc>
                <a:spcPts val="2562"/>
              </a:lnSpc>
            </a:pPr>
            <a:r>
              <a:rPr lang="en-US" sz="2562">
                <a:solidFill>
                  <a:srgbClr val="D6E5EF"/>
                </a:solidFill>
                <a:latin typeface="Roboto Slab"/>
                <a:ea typeface="Roboto Slab"/>
                <a:cs typeface="Roboto Slab"/>
                <a:sym typeface="Roboto Slab"/>
              </a:rPr>
              <a:t>5</a:t>
            </a:r>
          </a:p>
        </p:txBody>
      </p:sp>
      <p:sp>
        <p:nvSpPr>
          <p:cNvPr id="45" name="TextBox 45"/>
          <p:cNvSpPr txBox="1"/>
          <p:nvPr/>
        </p:nvSpPr>
        <p:spPr>
          <a:xfrm>
            <a:off x="2717597" y="8531571"/>
            <a:ext cx="2713434" cy="348558"/>
          </a:xfrm>
          <a:prstGeom prst="rect">
            <a:avLst/>
          </a:prstGeom>
        </p:spPr>
        <p:txBody>
          <a:bodyPr lIns="0" tIns="0" rIns="0" bIns="0" rtlCol="0" anchor="t">
            <a:spAutoFit/>
          </a:bodyPr>
          <a:lstStyle/>
          <a:p>
            <a:pPr algn="l">
              <a:lnSpc>
                <a:spcPts val="2625"/>
              </a:lnSpc>
            </a:pPr>
            <a:r>
              <a:rPr lang="en-US" sz="2125">
                <a:solidFill>
                  <a:srgbClr val="D6E5EF"/>
                </a:solidFill>
                <a:latin typeface="Roboto Slab"/>
                <a:ea typeface="Roboto Slab"/>
                <a:cs typeface="Roboto Slab"/>
                <a:sym typeface="Roboto Slab"/>
              </a:rPr>
              <a:t>JWT Auth</a:t>
            </a:r>
          </a:p>
        </p:txBody>
      </p:sp>
      <p:sp>
        <p:nvSpPr>
          <p:cNvPr id="46" name="TextBox 46"/>
          <p:cNvSpPr txBox="1"/>
          <p:nvPr/>
        </p:nvSpPr>
        <p:spPr>
          <a:xfrm>
            <a:off x="2717597" y="8941746"/>
            <a:ext cx="13670013" cy="344691"/>
          </a:xfrm>
          <a:prstGeom prst="rect">
            <a:avLst/>
          </a:prstGeom>
        </p:spPr>
        <p:txBody>
          <a:bodyPr lIns="0" tIns="0" rIns="0" bIns="0" rtlCol="0" anchor="t">
            <a:spAutoFit/>
          </a:bodyPr>
          <a:lstStyle/>
          <a:p>
            <a:pPr algn="l">
              <a:lnSpc>
                <a:spcPts val="2375"/>
              </a:lnSpc>
            </a:pPr>
            <a:r>
              <a:rPr lang="en-US" sz="1687">
                <a:solidFill>
                  <a:srgbClr val="D6E5EF"/>
                </a:solidFill>
                <a:latin typeface="Roboto"/>
                <a:ea typeface="Roboto"/>
                <a:cs typeface="Roboto"/>
                <a:sym typeface="Roboto"/>
              </a:rPr>
              <a:t>Stateless token-based authentication. Every API request carries a signed token — no session state needed on the server side.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348978" y="674484"/>
            <a:ext cx="11108531" cy="724938"/>
          </a:xfrm>
          <a:prstGeom prst="rect">
            <a:avLst/>
          </a:prstGeom>
        </p:spPr>
        <p:txBody>
          <a:bodyPr lIns="0" tIns="0" rIns="0" bIns="0" rtlCol="0" anchor="t">
            <a:spAutoFit/>
          </a:bodyPr>
          <a:lstStyle/>
          <a:p>
            <a:pPr algn="l">
              <a:lnSpc>
                <a:spcPts val="5500"/>
              </a:lnSpc>
            </a:pPr>
            <a:r>
              <a:rPr lang="en-US" sz="4437">
                <a:solidFill>
                  <a:srgbClr val="76B9FF"/>
                </a:solidFill>
                <a:latin typeface="Roboto Slab"/>
                <a:ea typeface="Roboto Slab"/>
                <a:cs typeface="Roboto Slab"/>
                <a:sym typeface="Roboto Slab"/>
              </a:rPr>
              <a:t>ApplicationContext — The Brain of Spring</a:t>
            </a:r>
          </a:p>
        </p:txBody>
      </p:sp>
      <p:sp>
        <p:nvSpPr>
          <p:cNvPr id="7" name="TextBox 7"/>
          <p:cNvSpPr txBox="1"/>
          <p:nvPr/>
        </p:nvSpPr>
        <p:spPr>
          <a:xfrm>
            <a:off x="1348978" y="3260674"/>
            <a:ext cx="7519245" cy="1021852"/>
          </a:xfrm>
          <a:prstGeom prst="rect">
            <a:avLst/>
          </a:prstGeom>
        </p:spPr>
        <p:txBody>
          <a:bodyPr lIns="0" tIns="0" rIns="0" bIns="0" rtlCol="0" anchor="t">
            <a:spAutoFit/>
          </a:bodyPr>
          <a:lstStyle/>
          <a:p>
            <a:pPr algn="l">
              <a:lnSpc>
                <a:spcPts val="2499"/>
              </a:lnSpc>
            </a:pPr>
            <a:r>
              <a:rPr lang="en-US" sz="1750" dirty="0">
                <a:solidFill>
                  <a:srgbClr val="D6E5EF"/>
                </a:solidFill>
                <a:latin typeface="Roboto"/>
                <a:ea typeface="Roboto"/>
                <a:cs typeface="Roboto"/>
                <a:sym typeface="Roboto"/>
              </a:rPr>
              <a:t>The </a:t>
            </a:r>
            <a:r>
              <a:rPr lang="en-US" sz="1750" dirty="0" err="1">
                <a:solidFill>
                  <a:srgbClr val="D6E5EF"/>
                </a:solidFill>
                <a:latin typeface="Roboto"/>
                <a:ea typeface="Roboto"/>
                <a:cs typeface="Roboto"/>
                <a:sym typeface="Roboto"/>
              </a:rPr>
              <a:t>ApplicationContext</a:t>
            </a:r>
            <a:r>
              <a:rPr lang="en-US" sz="1750" dirty="0">
                <a:solidFill>
                  <a:srgbClr val="D6E5EF"/>
                </a:solidFill>
                <a:latin typeface="Roboto"/>
                <a:ea typeface="Roboto"/>
                <a:cs typeface="Roboto"/>
                <a:sym typeface="Roboto"/>
              </a:rPr>
              <a:t> is Spring's central container. It bootstraps the entire application — scanning components, wiring beans, and managing their full lifecycle from creation to destruction.</a:t>
            </a:r>
          </a:p>
        </p:txBody>
      </p:sp>
      <p:grpSp>
        <p:nvGrpSpPr>
          <p:cNvPr id="8" name="Group 8"/>
          <p:cNvGrpSpPr/>
          <p:nvPr/>
        </p:nvGrpSpPr>
        <p:grpSpPr>
          <a:xfrm>
            <a:off x="1348978" y="4484932"/>
            <a:ext cx="7519245" cy="1160707"/>
            <a:chOff x="0" y="0"/>
            <a:chExt cx="10025659" cy="1547609"/>
          </a:xfrm>
        </p:grpSpPr>
        <p:sp>
          <p:nvSpPr>
            <p:cNvPr id="9" name="Freeform 9"/>
            <p:cNvSpPr/>
            <p:nvPr/>
          </p:nvSpPr>
          <p:spPr>
            <a:xfrm>
              <a:off x="0" y="0"/>
              <a:ext cx="10025634" cy="1547622"/>
            </a:xfrm>
            <a:custGeom>
              <a:avLst/>
              <a:gdLst/>
              <a:ahLst/>
              <a:cxnLst/>
              <a:rect l="l" t="t" r="r" b="b"/>
              <a:pathLst>
                <a:path w="10025634" h="1547622">
                  <a:moveTo>
                    <a:pt x="0" y="45212"/>
                  </a:moveTo>
                  <a:cubicBezTo>
                    <a:pt x="0" y="20193"/>
                    <a:pt x="20193" y="0"/>
                    <a:pt x="45212" y="0"/>
                  </a:cubicBezTo>
                  <a:lnTo>
                    <a:pt x="9980422" y="0"/>
                  </a:lnTo>
                  <a:cubicBezTo>
                    <a:pt x="10005440" y="0"/>
                    <a:pt x="10025634" y="20193"/>
                    <a:pt x="10025634" y="45212"/>
                  </a:cubicBezTo>
                  <a:lnTo>
                    <a:pt x="10025634" y="1502410"/>
                  </a:lnTo>
                  <a:cubicBezTo>
                    <a:pt x="10025634" y="1527429"/>
                    <a:pt x="10005440" y="1547622"/>
                    <a:pt x="9980422" y="1547622"/>
                  </a:cubicBezTo>
                  <a:lnTo>
                    <a:pt x="45212" y="1547622"/>
                  </a:lnTo>
                  <a:cubicBezTo>
                    <a:pt x="20193" y="1547622"/>
                    <a:pt x="0" y="1527429"/>
                    <a:pt x="0" y="1502410"/>
                  </a:cubicBezTo>
                  <a:close/>
                </a:path>
              </a:pathLst>
            </a:custGeom>
            <a:solidFill>
              <a:srgbClr val="022349"/>
            </a:solidFill>
          </p:spPr>
        </p:sp>
      </p:grpSp>
      <p:grpSp>
        <p:nvGrpSpPr>
          <p:cNvPr id="10" name="Group 10"/>
          <p:cNvGrpSpPr/>
          <p:nvPr/>
        </p:nvGrpSpPr>
        <p:grpSpPr>
          <a:xfrm>
            <a:off x="1574902" y="4807591"/>
            <a:ext cx="282331" cy="225923"/>
            <a:chOff x="0" y="0"/>
            <a:chExt cx="376441" cy="301231"/>
          </a:xfrm>
        </p:grpSpPr>
        <p:sp>
          <p:nvSpPr>
            <p:cNvPr id="11" name="Freeform 11" descr="preencoded.png"/>
            <p:cNvSpPr/>
            <p:nvPr/>
          </p:nvSpPr>
          <p:spPr>
            <a:xfrm>
              <a:off x="0" y="0"/>
              <a:ext cx="376428" cy="301244"/>
            </a:xfrm>
            <a:custGeom>
              <a:avLst/>
              <a:gdLst/>
              <a:ahLst/>
              <a:cxnLst/>
              <a:rect l="l" t="t" r="r" b="b"/>
              <a:pathLst>
                <a:path w="376428" h="301244">
                  <a:moveTo>
                    <a:pt x="0" y="0"/>
                  </a:moveTo>
                  <a:lnTo>
                    <a:pt x="376428" y="0"/>
                  </a:lnTo>
                  <a:lnTo>
                    <a:pt x="376428" y="301244"/>
                  </a:lnTo>
                  <a:lnTo>
                    <a:pt x="0" y="301244"/>
                  </a:lnTo>
                  <a:lnTo>
                    <a:pt x="0" y="0"/>
                  </a:lnTo>
                  <a:close/>
                </a:path>
              </a:pathLst>
            </a:custGeom>
            <a:blipFill>
              <a:blip r:embed="rId3"/>
              <a:stretch>
                <a:fillRect l="-13" r="-13" b="4"/>
              </a:stretch>
            </a:blipFill>
          </p:spPr>
        </p:sp>
      </p:grpSp>
      <p:sp>
        <p:nvSpPr>
          <p:cNvPr id="12" name="TextBox 12"/>
          <p:cNvSpPr txBox="1"/>
          <p:nvPr/>
        </p:nvSpPr>
        <p:spPr>
          <a:xfrm>
            <a:off x="2083146" y="4683176"/>
            <a:ext cx="6559153" cy="687591"/>
          </a:xfrm>
          <a:prstGeom prst="rect">
            <a:avLst/>
          </a:prstGeom>
        </p:spPr>
        <p:txBody>
          <a:bodyPr lIns="0" tIns="0" rIns="0" bIns="0" rtlCol="0" anchor="t">
            <a:spAutoFit/>
          </a:bodyPr>
          <a:lstStyle/>
          <a:p>
            <a:pPr algn="l">
              <a:lnSpc>
                <a:spcPts val="2499"/>
              </a:lnSpc>
            </a:pPr>
            <a:r>
              <a:rPr lang="en-US" sz="1750">
                <a:solidFill>
                  <a:srgbClr val="FFFFFF"/>
                </a:solidFill>
                <a:latin typeface="Roboto"/>
                <a:ea typeface="Roboto"/>
                <a:cs typeface="Roboto"/>
                <a:sym typeface="Roboto"/>
              </a:rPr>
              <a:t>Think of it as the runtime brain of your Spring app — every service, repository, and component lives inside it.</a:t>
            </a:r>
          </a:p>
        </p:txBody>
      </p:sp>
      <p:grpSp>
        <p:nvGrpSpPr>
          <p:cNvPr id="13" name="Group 13"/>
          <p:cNvGrpSpPr/>
          <p:nvPr/>
        </p:nvGrpSpPr>
        <p:grpSpPr>
          <a:xfrm>
            <a:off x="1348978" y="5848055"/>
            <a:ext cx="7519245" cy="2075555"/>
            <a:chOff x="0" y="0"/>
            <a:chExt cx="10025659" cy="2767406"/>
          </a:xfrm>
        </p:grpSpPr>
        <p:sp>
          <p:nvSpPr>
            <p:cNvPr id="14" name="Freeform 14"/>
            <p:cNvSpPr/>
            <p:nvPr/>
          </p:nvSpPr>
          <p:spPr>
            <a:xfrm>
              <a:off x="0" y="0"/>
              <a:ext cx="10025634" cy="2767457"/>
            </a:xfrm>
            <a:custGeom>
              <a:avLst/>
              <a:gdLst/>
              <a:ahLst/>
              <a:cxnLst/>
              <a:rect l="l" t="t" r="r" b="b"/>
              <a:pathLst>
                <a:path w="10025634" h="2767457">
                  <a:moveTo>
                    <a:pt x="0" y="45212"/>
                  </a:moveTo>
                  <a:cubicBezTo>
                    <a:pt x="0" y="20193"/>
                    <a:pt x="20193" y="0"/>
                    <a:pt x="45212" y="0"/>
                  </a:cubicBezTo>
                  <a:lnTo>
                    <a:pt x="9980422" y="0"/>
                  </a:lnTo>
                  <a:cubicBezTo>
                    <a:pt x="10005440" y="0"/>
                    <a:pt x="10025634" y="20193"/>
                    <a:pt x="10025634" y="45212"/>
                  </a:cubicBezTo>
                  <a:lnTo>
                    <a:pt x="10025634" y="2722245"/>
                  </a:lnTo>
                  <a:cubicBezTo>
                    <a:pt x="10025634" y="2747264"/>
                    <a:pt x="10005440" y="2767457"/>
                    <a:pt x="9980422" y="2767457"/>
                  </a:cubicBezTo>
                  <a:lnTo>
                    <a:pt x="45212" y="2767457"/>
                  </a:lnTo>
                  <a:cubicBezTo>
                    <a:pt x="20193" y="2767457"/>
                    <a:pt x="0" y="2747264"/>
                    <a:pt x="0" y="2722245"/>
                  </a:cubicBezTo>
                  <a:close/>
                </a:path>
              </a:pathLst>
            </a:custGeom>
            <a:solidFill>
              <a:srgbClr val="2D3440"/>
            </a:solidFill>
          </p:spPr>
        </p:sp>
      </p:grpSp>
      <p:grpSp>
        <p:nvGrpSpPr>
          <p:cNvPr id="15" name="Group 15"/>
          <p:cNvGrpSpPr/>
          <p:nvPr/>
        </p:nvGrpSpPr>
        <p:grpSpPr>
          <a:xfrm>
            <a:off x="1337815" y="5848055"/>
            <a:ext cx="7541571" cy="2075555"/>
            <a:chOff x="0" y="0"/>
            <a:chExt cx="10055428" cy="2767406"/>
          </a:xfrm>
        </p:grpSpPr>
        <p:sp>
          <p:nvSpPr>
            <p:cNvPr id="16" name="Freeform 16"/>
            <p:cNvSpPr/>
            <p:nvPr/>
          </p:nvSpPr>
          <p:spPr>
            <a:xfrm>
              <a:off x="0" y="0"/>
              <a:ext cx="10055479" cy="2767457"/>
            </a:xfrm>
            <a:custGeom>
              <a:avLst/>
              <a:gdLst/>
              <a:ahLst/>
              <a:cxnLst/>
              <a:rect l="l" t="t" r="r" b="b"/>
              <a:pathLst>
                <a:path w="10055479" h="2767457">
                  <a:moveTo>
                    <a:pt x="0" y="45212"/>
                  </a:moveTo>
                  <a:cubicBezTo>
                    <a:pt x="0" y="20193"/>
                    <a:pt x="20193" y="0"/>
                    <a:pt x="45212" y="0"/>
                  </a:cubicBezTo>
                  <a:lnTo>
                    <a:pt x="10010267" y="0"/>
                  </a:lnTo>
                  <a:cubicBezTo>
                    <a:pt x="10035286" y="0"/>
                    <a:pt x="10055479" y="20193"/>
                    <a:pt x="10055479" y="45212"/>
                  </a:cubicBezTo>
                  <a:lnTo>
                    <a:pt x="10055479" y="2722245"/>
                  </a:lnTo>
                  <a:cubicBezTo>
                    <a:pt x="10055479" y="2747264"/>
                    <a:pt x="10035286" y="2767457"/>
                    <a:pt x="10010267" y="2767457"/>
                  </a:cubicBezTo>
                  <a:lnTo>
                    <a:pt x="45212" y="2767457"/>
                  </a:lnTo>
                  <a:cubicBezTo>
                    <a:pt x="20193" y="2767457"/>
                    <a:pt x="0" y="2747264"/>
                    <a:pt x="0" y="2722245"/>
                  </a:cubicBezTo>
                  <a:close/>
                </a:path>
              </a:pathLst>
            </a:custGeom>
            <a:solidFill>
              <a:srgbClr val="2D3440"/>
            </a:solidFill>
          </p:spPr>
        </p:sp>
      </p:grpSp>
      <p:sp>
        <p:nvSpPr>
          <p:cNvPr id="17" name="TextBox 17"/>
          <p:cNvSpPr txBox="1"/>
          <p:nvPr/>
        </p:nvSpPr>
        <p:spPr>
          <a:xfrm>
            <a:off x="1620145" y="5997778"/>
            <a:ext cx="6976910" cy="1699917"/>
          </a:xfrm>
          <a:prstGeom prst="rect">
            <a:avLst/>
          </a:prstGeom>
        </p:spPr>
        <p:txBody>
          <a:bodyPr lIns="0" tIns="0" rIns="0" bIns="0" rtlCol="0" anchor="t">
            <a:spAutoFit/>
          </a:bodyPr>
          <a:lstStyle/>
          <a:p>
            <a:pPr algn="l">
              <a:lnSpc>
                <a:spcPts val="2499"/>
              </a:lnSpc>
            </a:pPr>
            <a:r>
              <a:rPr lang="en-US" sz="1750">
                <a:solidFill>
                  <a:srgbClr val="D6E5EF"/>
                </a:solidFill>
                <a:latin typeface="Consolas"/>
                <a:ea typeface="Consolas"/>
                <a:cs typeface="Consolas"/>
                <a:sym typeface="Consolas"/>
              </a:rPr>
              <a:t>ApplicationContext context =</a:t>
            </a:r>
          </a:p>
          <a:p>
            <a:pPr algn="l">
              <a:lnSpc>
                <a:spcPts val="2499"/>
              </a:lnSpc>
            </a:pPr>
            <a:r>
              <a:rPr lang="en-US" sz="1750">
                <a:solidFill>
                  <a:srgbClr val="D6E5EF"/>
                </a:solidFill>
                <a:latin typeface="Consolas"/>
                <a:ea typeface="Consolas"/>
                <a:cs typeface="Consolas"/>
                <a:sym typeface="Consolas"/>
              </a:rPr>
              <a:t>  SpringApplication.run(App.class, args);</a:t>
            </a:r>
          </a:p>
          <a:p>
            <a:pPr algn="l">
              <a:lnSpc>
                <a:spcPts val="2499"/>
              </a:lnSpc>
            </a:pPr>
            <a:endParaRPr lang="en-US" sz="1750">
              <a:solidFill>
                <a:srgbClr val="D6E5EF"/>
              </a:solidFill>
              <a:latin typeface="Consolas"/>
              <a:ea typeface="Consolas"/>
              <a:cs typeface="Consolas"/>
              <a:sym typeface="Consolas"/>
            </a:endParaRPr>
          </a:p>
          <a:p>
            <a:pPr algn="l">
              <a:lnSpc>
                <a:spcPts val="2499"/>
              </a:lnSpc>
            </a:pPr>
            <a:r>
              <a:rPr lang="en-US" sz="1750">
                <a:solidFill>
                  <a:srgbClr val="D6E5EF"/>
                </a:solidFill>
                <a:latin typeface="Consolas"/>
                <a:ea typeface="Consolas"/>
                <a:cs typeface="Consolas"/>
                <a:sym typeface="Consolas"/>
              </a:rPr>
              <a:t>UserService userService =</a:t>
            </a:r>
          </a:p>
          <a:p>
            <a:pPr algn="l">
              <a:lnSpc>
                <a:spcPts val="2499"/>
              </a:lnSpc>
            </a:pPr>
            <a:r>
              <a:rPr lang="en-US" sz="1750">
                <a:solidFill>
                  <a:srgbClr val="D6E5EF"/>
                </a:solidFill>
                <a:latin typeface="Consolas"/>
                <a:ea typeface="Consolas"/>
                <a:cs typeface="Consolas"/>
                <a:sym typeface="Consolas"/>
              </a:rPr>
              <a:t>  context.getBean(UserService.class);</a:t>
            </a:r>
          </a:p>
        </p:txBody>
      </p:sp>
      <p:grpSp>
        <p:nvGrpSpPr>
          <p:cNvPr id="18" name="Group 18"/>
          <p:cNvGrpSpPr/>
          <p:nvPr/>
        </p:nvGrpSpPr>
        <p:grpSpPr>
          <a:xfrm>
            <a:off x="9429007" y="1871815"/>
            <a:ext cx="7519245" cy="7519245"/>
            <a:chOff x="0" y="0"/>
            <a:chExt cx="10025659" cy="10025659"/>
          </a:xfrm>
        </p:grpSpPr>
        <p:sp>
          <p:nvSpPr>
            <p:cNvPr id="19" name="Freeform 19" descr="preencoded.png"/>
            <p:cNvSpPr/>
            <p:nvPr/>
          </p:nvSpPr>
          <p:spPr>
            <a:xfrm>
              <a:off x="0" y="0"/>
              <a:ext cx="10025634" cy="10025634"/>
            </a:xfrm>
            <a:custGeom>
              <a:avLst/>
              <a:gdLst/>
              <a:ahLst/>
              <a:cxnLst/>
              <a:rect l="l" t="t" r="r" b="b"/>
              <a:pathLst>
                <a:path w="10025634" h="10025634">
                  <a:moveTo>
                    <a:pt x="0" y="0"/>
                  </a:moveTo>
                  <a:lnTo>
                    <a:pt x="10025634" y="0"/>
                  </a:lnTo>
                  <a:lnTo>
                    <a:pt x="10025634" y="10025634"/>
                  </a:lnTo>
                  <a:lnTo>
                    <a:pt x="0" y="10025634"/>
                  </a:lnTo>
                  <a:lnTo>
                    <a:pt x="0" y="0"/>
                  </a:lnTo>
                  <a:close/>
                </a:path>
              </a:pathLst>
            </a:custGeom>
            <a:blipFill>
              <a:blip r:embed="rId4"/>
              <a:stretch>
                <a:fillRect/>
              </a:stretch>
            </a:blipFill>
          </p:spPr>
        </p:sp>
      </p:grpSp>
      <p:grpSp>
        <p:nvGrpSpPr>
          <p:cNvPr id="20" name="Group 20"/>
          <p:cNvGrpSpPr/>
          <p:nvPr/>
        </p:nvGrpSpPr>
        <p:grpSpPr>
          <a:xfrm>
            <a:off x="9429007" y="1871815"/>
            <a:ext cx="7519245" cy="7519245"/>
            <a:chOff x="0" y="0"/>
            <a:chExt cx="10025659" cy="10025659"/>
          </a:xfrm>
        </p:grpSpPr>
        <p:sp>
          <p:nvSpPr>
            <p:cNvPr id="21" name="Freeform 21" descr="preencoded.png"/>
            <p:cNvSpPr/>
            <p:nvPr/>
          </p:nvSpPr>
          <p:spPr>
            <a:xfrm>
              <a:off x="0" y="0"/>
              <a:ext cx="10025634" cy="10025634"/>
            </a:xfrm>
            <a:custGeom>
              <a:avLst/>
              <a:gdLst/>
              <a:ahLst/>
              <a:cxnLst/>
              <a:rect l="l" t="t" r="r" b="b"/>
              <a:pathLst>
                <a:path w="10025634" h="10025634">
                  <a:moveTo>
                    <a:pt x="0" y="0"/>
                  </a:moveTo>
                  <a:lnTo>
                    <a:pt x="10025634" y="0"/>
                  </a:lnTo>
                  <a:lnTo>
                    <a:pt x="10025634" y="10025634"/>
                  </a:lnTo>
                  <a:lnTo>
                    <a:pt x="0" y="10025634"/>
                  </a:lnTo>
                  <a:lnTo>
                    <a:pt x="0" y="0"/>
                  </a:lnTo>
                  <a:close/>
                </a:path>
              </a:pathLst>
            </a:custGeom>
            <a:blipFill>
              <a:blip r:embed="rId5"/>
              <a:stretch>
                <a:fillRect/>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196130" y="614362"/>
            <a:ext cx="11902973" cy="738930"/>
          </a:xfrm>
          <a:prstGeom prst="rect">
            <a:avLst/>
          </a:prstGeom>
        </p:spPr>
        <p:txBody>
          <a:bodyPr lIns="0" tIns="0" rIns="0" bIns="0" rtlCol="0" anchor="t">
            <a:spAutoFit/>
          </a:bodyPr>
          <a:lstStyle/>
          <a:p>
            <a:pPr algn="l">
              <a:lnSpc>
                <a:spcPts val="5625"/>
              </a:lnSpc>
            </a:pPr>
            <a:r>
              <a:rPr lang="en-US" sz="4499">
                <a:solidFill>
                  <a:srgbClr val="76B9FF"/>
                </a:solidFill>
                <a:latin typeface="Roboto Slab"/>
                <a:ea typeface="Roboto Slab"/>
                <a:cs typeface="Roboto Slab"/>
                <a:sym typeface="Roboto Slab"/>
              </a:rPr>
              <a:t>Inversion of Control &amp; Dependency Injection</a:t>
            </a:r>
          </a:p>
        </p:txBody>
      </p:sp>
      <p:grpSp>
        <p:nvGrpSpPr>
          <p:cNvPr id="7" name="Group 7"/>
          <p:cNvGrpSpPr/>
          <p:nvPr/>
        </p:nvGrpSpPr>
        <p:grpSpPr>
          <a:xfrm>
            <a:off x="2496893" y="1844431"/>
            <a:ext cx="7533684" cy="6765427"/>
            <a:chOff x="0" y="0"/>
            <a:chExt cx="10044913" cy="9020569"/>
          </a:xfrm>
        </p:grpSpPr>
        <p:sp>
          <p:nvSpPr>
            <p:cNvPr id="8" name="Freeform 8" descr="preencoded.png"/>
            <p:cNvSpPr/>
            <p:nvPr/>
          </p:nvSpPr>
          <p:spPr>
            <a:xfrm>
              <a:off x="0" y="0"/>
              <a:ext cx="10044938" cy="9020556"/>
            </a:xfrm>
            <a:custGeom>
              <a:avLst/>
              <a:gdLst/>
              <a:ahLst/>
              <a:cxnLst/>
              <a:rect l="l" t="t" r="r" b="b"/>
              <a:pathLst>
                <a:path w="10044938" h="9020556">
                  <a:moveTo>
                    <a:pt x="0" y="0"/>
                  </a:moveTo>
                  <a:lnTo>
                    <a:pt x="10044938" y="0"/>
                  </a:lnTo>
                  <a:lnTo>
                    <a:pt x="10044938" y="9020556"/>
                  </a:lnTo>
                  <a:lnTo>
                    <a:pt x="0" y="9020556"/>
                  </a:lnTo>
                  <a:lnTo>
                    <a:pt x="0" y="0"/>
                  </a:lnTo>
                  <a:close/>
                </a:path>
              </a:pathLst>
            </a:custGeom>
            <a:blipFill>
              <a:blip r:embed="rId3"/>
              <a:stretch>
                <a:fillRect l="-23" r="-23"/>
              </a:stretch>
            </a:blipFill>
          </p:spPr>
        </p:sp>
      </p:grpSp>
      <p:sp>
        <p:nvSpPr>
          <p:cNvPr id="9" name="TextBox 9"/>
          <p:cNvSpPr txBox="1"/>
          <p:nvPr/>
        </p:nvSpPr>
        <p:spPr>
          <a:xfrm>
            <a:off x="2699709" y="3175892"/>
            <a:ext cx="2808027" cy="371799"/>
          </a:xfrm>
          <a:prstGeom prst="rect">
            <a:avLst/>
          </a:prstGeom>
        </p:spPr>
        <p:txBody>
          <a:bodyPr lIns="0" tIns="0" rIns="0" bIns="0" rtlCol="0" anchor="t">
            <a:spAutoFit/>
          </a:bodyPr>
          <a:lstStyle/>
          <a:p>
            <a:pPr algn="ctr">
              <a:lnSpc>
                <a:spcPts val="2812"/>
              </a:lnSpc>
            </a:pPr>
            <a:r>
              <a:rPr lang="en-US" sz="2249">
                <a:solidFill>
                  <a:srgbClr val="D6E5EF"/>
                </a:solidFill>
                <a:latin typeface="Roboto Slab"/>
                <a:ea typeface="Roboto Slab"/>
                <a:cs typeface="Roboto Slab"/>
                <a:sym typeface="Roboto Slab"/>
              </a:rPr>
              <a:t>Traditional Code</a:t>
            </a:r>
          </a:p>
        </p:txBody>
      </p:sp>
      <p:sp>
        <p:nvSpPr>
          <p:cNvPr id="10" name="TextBox 10"/>
          <p:cNvSpPr txBox="1"/>
          <p:nvPr/>
        </p:nvSpPr>
        <p:spPr>
          <a:xfrm>
            <a:off x="4584944" y="6899453"/>
            <a:ext cx="2719673" cy="371799"/>
          </a:xfrm>
          <a:prstGeom prst="rect">
            <a:avLst/>
          </a:prstGeom>
        </p:spPr>
        <p:txBody>
          <a:bodyPr lIns="0" tIns="0" rIns="0" bIns="0" rtlCol="0" anchor="t">
            <a:spAutoFit/>
          </a:bodyPr>
          <a:lstStyle/>
          <a:p>
            <a:pPr algn="ctr">
              <a:lnSpc>
                <a:spcPts val="2812"/>
              </a:lnSpc>
            </a:pPr>
            <a:r>
              <a:rPr lang="en-US" sz="2249">
                <a:solidFill>
                  <a:srgbClr val="D6E5EF"/>
                </a:solidFill>
                <a:latin typeface="Roboto Slab"/>
                <a:ea typeface="Roboto Slab"/>
                <a:cs typeface="Roboto Slab"/>
                <a:sym typeface="Roboto Slab"/>
              </a:rPr>
              <a:t>IoC Container</a:t>
            </a:r>
          </a:p>
        </p:txBody>
      </p:sp>
      <p:sp>
        <p:nvSpPr>
          <p:cNvPr id="11" name="TextBox 11"/>
          <p:cNvSpPr txBox="1"/>
          <p:nvPr/>
        </p:nvSpPr>
        <p:spPr>
          <a:xfrm>
            <a:off x="6998894" y="3571770"/>
            <a:ext cx="2719673" cy="734073"/>
          </a:xfrm>
          <a:prstGeom prst="rect">
            <a:avLst/>
          </a:prstGeom>
        </p:spPr>
        <p:txBody>
          <a:bodyPr lIns="0" tIns="0" rIns="0" bIns="0" rtlCol="0" anchor="t">
            <a:spAutoFit/>
          </a:bodyPr>
          <a:lstStyle/>
          <a:p>
            <a:pPr algn="ctr">
              <a:lnSpc>
                <a:spcPts val="2812"/>
              </a:lnSpc>
            </a:pPr>
            <a:r>
              <a:rPr lang="en-US" sz="2249">
                <a:solidFill>
                  <a:srgbClr val="D6E5EF"/>
                </a:solidFill>
                <a:latin typeface="Roboto Slab"/>
                <a:ea typeface="Roboto Slab"/>
                <a:cs typeface="Roboto Slab"/>
                <a:sym typeface="Roboto Slab"/>
              </a:rPr>
              <a:t>Dependency Injection</a:t>
            </a:r>
          </a:p>
        </p:txBody>
      </p:sp>
      <p:sp>
        <p:nvSpPr>
          <p:cNvPr id="12" name="TextBox 12"/>
          <p:cNvSpPr txBox="1"/>
          <p:nvPr/>
        </p:nvSpPr>
        <p:spPr>
          <a:xfrm>
            <a:off x="1196130" y="8763152"/>
            <a:ext cx="10135343" cy="725091"/>
          </a:xfrm>
          <a:prstGeom prst="rect">
            <a:avLst/>
          </a:prstGeom>
        </p:spPr>
        <p:txBody>
          <a:bodyPr lIns="0" tIns="0" rIns="0" bIns="0" rtlCol="0" anchor="t">
            <a:spAutoFit/>
          </a:bodyPr>
          <a:lstStyle/>
          <a:p>
            <a:pPr algn="l">
              <a:lnSpc>
                <a:spcPts val="2625"/>
              </a:lnSpc>
            </a:pPr>
            <a:r>
              <a:rPr lang="en-US" sz="1812">
                <a:solidFill>
                  <a:srgbClr val="D6E5EF"/>
                </a:solidFill>
                <a:latin typeface="Roboto"/>
                <a:ea typeface="Roboto"/>
                <a:cs typeface="Roboto"/>
                <a:sym typeface="Roboto"/>
              </a:rPr>
              <a:t>IoC flips the control model — you declare what you need, and Spring handles the wiring. DI is how that happens in practice.</a:t>
            </a:r>
          </a:p>
        </p:txBody>
      </p:sp>
      <p:sp>
        <p:nvSpPr>
          <p:cNvPr id="13" name="TextBox 13"/>
          <p:cNvSpPr txBox="1"/>
          <p:nvPr/>
        </p:nvSpPr>
        <p:spPr>
          <a:xfrm>
            <a:off x="11902973" y="2621604"/>
            <a:ext cx="3364859" cy="369389"/>
          </a:xfrm>
          <a:prstGeom prst="rect">
            <a:avLst/>
          </a:prstGeom>
        </p:spPr>
        <p:txBody>
          <a:bodyPr lIns="0" tIns="0" rIns="0" bIns="0" rtlCol="0" anchor="t">
            <a:spAutoFit/>
          </a:bodyPr>
          <a:lstStyle/>
          <a:p>
            <a:pPr algn="l">
              <a:lnSpc>
                <a:spcPts val="2812"/>
              </a:lnSpc>
            </a:pPr>
            <a:r>
              <a:rPr lang="en-US" sz="2249">
                <a:solidFill>
                  <a:srgbClr val="76B9FF"/>
                </a:solidFill>
                <a:latin typeface="Roboto Slab"/>
                <a:ea typeface="Roboto Slab"/>
                <a:cs typeface="Roboto Slab"/>
                <a:sym typeface="Roboto Slab"/>
              </a:rPr>
              <a:t>Inversion of Control (IoC)</a:t>
            </a:r>
          </a:p>
        </p:txBody>
      </p:sp>
      <p:sp>
        <p:nvSpPr>
          <p:cNvPr id="14" name="TextBox 14"/>
          <p:cNvSpPr txBox="1"/>
          <p:nvPr/>
        </p:nvSpPr>
        <p:spPr>
          <a:xfrm>
            <a:off x="11902973" y="3120923"/>
            <a:ext cx="5198116" cy="1308435"/>
          </a:xfrm>
          <a:prstGeom prst="rect">
            <a:avLst/>
          </a:prstGeom>
        </p:spPr>
        <p:txBody>
          <a:bodyPr lIns="0" tIns="0" rIns="0" bIns="0" rtlCol="0" anchor="t">
            <a:spAutoFit/>
          </a:bodyPr>
          <a:lstStyle/>
          <a:p>
            <a:pPr algn="l">
              <a:lnSpc>
                <a:spcPts val="2625"/>
              </a:lnSpc>
            </a:pPr>
            <a:endParaRPr lang="en-US" sz="1812" dirty="0">
              <a:solidFill>
                <a:srgbClr val="D6E5EF"/>
              </a:solidFill>
              <a:latin typeface="Roboto"/>
              <a:ea typeface="Roboto"/>
              <a:cs typeface="Roboto"/>
              <a:sym typeface="Roboto"/>
            </a:endParaRPr>
          </a:p>
          <a:p>
            <a:pPr algn="l">
              <a:lnSpc>
                <a:spcPts val="2625"/>
              </a:lnSpc>
            </a:pPr>
            <a:r>
              <a:rPr lang="en-US" sz="1812" dirty="0">
                <a:solidFill>
                  <a:srgbClr val="D6E5EF"/>
                </a:solidFill>
                <a:latin typeface="Roboto"/>
                <a:ea typeface="Roboto"/>
                <a:cs typeface="Roboto"/>
                <a:sym typeface="Roboto"/>
              </a:rPr>
              <a:t>Instead of your code calling new </a:t>
            </a:r>
            <a:r>
              <a:rPr lang="en-US" sz="1812" dirty="0" err="1">
                <a:solidFill>
                  <a:srgbClr val="D6E5EF"/>
                </a:solidFill>
                <a:latin typeface="Roboto"/>
                <a:ea typeface="Roboto"/>
                <a:cs typeface="Roboto"/>
                <a:sym typeface="Roboto"/>
              </a:rPr>
              <a:t>UserService</a:t>
            </a:r>
            <a:r>
              <a:rPr lang="en-US" sz="1812" dirty="0">
                <a:solidFill>
                  <a:srgbClr val="D6E5EF"/>
                </a:solidFill>
                <a:latin typeface="Roboto"/>
                <a:ea typeface="Roboto"/>
                <a:cs typeface="Roboto"/>
                <a:sym typeface="Roboto"/>
              </a:rPr>
              <a:t>(), you annotate the class and Spring manages instantiation.</a:t>
            </a:r>
          </a:p>
        </p:txBody>
      </p:sp>
      <p:grpSp>
        <p:nvGrpSpPr>
          <p:cNvPr id="15" name="Group 15"/>
          <p:cNvGrpSpPr/>
          <p:nvPr/>
        </p:nvGrpSpPr>
        <p:grpSpPr>
          <a:xfrm>
            <a:off x="11902973" y="4409484"/>
            <a:ext cx="5198116" cy="1128417"/>
            <a:chOff x="0" y="0"/>
            <a:chExt cx="6930822" cy="1504556"/>
          </a:xfrm>
        </p:grpSpPr>
        <p:sp>
          <p:nvSpPr>
            <p:cNvPr id="16" name="Freeform 16"/>
            <p:cNvSpPr/>
            <p:nvPr/>
          </p:nvSpPr>
          <p:spPr>
            <a:xfrm>
              <a:off x="0" y="0"/>
              <a:ext cx="6930898" cy="1504569"/>
            </a:xfrm>
            <a:custGeom>
              <a:avLst/>
              <a:gdLst/>
              <a:ahLst/>
              <a:cxnLst/>
              <a:rect l="l" t="t" r="r" b="b"/>
              <a:pathLst>
                <a:path w="6930898" h="1504569">
                  <a:moveTo>
                    <a:pt x="0" y="46101"/>
                  </a:moveTo>
                  <a:cubicBezTo>
                    <a:pt x="0" y="20574"/>
                    <a:pt x="20574" y="0"/>
                    <a:pt x="46101" y="0"/>
                  </a:cubicBezTo>
                  <a:lnTo>
                    <a:pt x="6884797" y="0"/>
                  </a:lnTo>
                  <a:cubicBezTo>
                    <a:pt x="6910197" y="0"/>
                    <a:pt x="6930898" y="20574"/>
                    <a:pt x="6930898" y="46101"/>
                  </a:cubicBezTo>
                  <a:lnTo>
                    <a:pt x="6930898" y="1458468"/>
                  </a:lnTo>
                  <a:cubicBezTo>
                    <a:pt x="6930898" y="1483868"/>
                    <a:pt x="6910324" y="1504569"/>
                    <a:pt x="6884797" y="1504569"/>
                  </a:cubicBezTo>
                  <a:lnTo>
                    <a:pt x="46101" y="1504569"/>
                  </a:lnTo>
                  <a:cubicBezTo>
                    <a:pt x="20701" y="1504569"/>
                    <a:pt x="0" y="1483995"/>
                    <a:pt x="0" y="1458468"/>
                  </a:cubicBezTo>
                  <a:close/>
                </a:path>
              </a:pathLst>
            </a:custGeom>
            <a:solidFill>
              <a:srgbClr val="2D3440"/>
            </a:solidFill>
          </p:spPr>
        </p:sp>
      </p:grpSp>
      <p:grpSp>
        <p:nvGrpSpPr>
          <p:cNvPr id="17" name="Group 17"/>
          <p:cNvGrpSpPr/>
          <p:nvPr/>
        </p:nvGrpSpPr>
        <p:grpSpPr>
          <a:xfrm>
            <a:off x="11891515" y="4409484"/>
            <a:ext cx="5221043" cy="1128417"/>
            <a:chOff x="0" y="0"/>
            <a:chExt cx="6961391" cy="1504556"/>
          </a:xfrm>
        </p:grpSpPr>
        <p:sp>
          <p:nvSpPr>
            <p:cNvPr id="18" name="Freeform 18"/>
            <p:cNvSpPr/>
            <p:nvPr/>
          </p:nvSpPr>
          <p:spPr>
            <a:xfrm>
              <a:off x="0" y="0"/>
              <a:ext cx="6961378" cy="1504569"/>
            </a:xfrm>
            <a:custGeom>
              <a:avLst/>
              <a:gdLst/>
              <a:ahLst/>
              <a:cxnLst/>
              <a:rect l="l" t="t" r="r" b="b"/>
              <a:pathLst>
                <a:path w="6961378" h="1504569">
                  <a:moveTo>
                    <a:pt x="0" y="46101"/>
                  </a:moveTo>
                  <a:cubicBezTo>
                    <a:pt x="0" y="20574"/>
                    <a:pt x="20574" y="0"/>
                    <a:pt x="46101" y="0"/>
                  </a:cubicBezTo>
                  <a:lnTo>
                    <a:pt x="6915277" y="0"/>
                  </a:lnTo>
                  <a:cubicBezTo>
                    <a:pt x="6940677" y="0"/>
                    <a:pt x="6961378" y="20574"/>
                    <a:pt x="6961378" y="46101"/>
                  </a:cubicBezTo>
                  <a:lnTo>
                    <a:pt x="6961378" y="1458468"/>
                  </a:lnTo>
                  <a:cubicBezTo>
                    <a:pt x="6961378" y="1483868"/>
                    <a:pt x="6940804" y="1504569"/>
                    <a:pt x="6915277" y="1504569"/>
                  </a:cubicBezTo>
                  <a:lnTo>
                    <a:pt x="46101" y="1504569"/>
                  </a:lnTo>
                  <a:cubicBezTo>
                    <a:pt x="20701" y="1504569"/>
                    <a:pt x="0" y="1483995"/>
                    <a:pt x="0" y="1458468"/>
                  </a:cubicBezTo>
                  <a:close/>
                </a:path>
              </a:pathLst>
            </a:custGeom>
            <a:solidFill>
              <a:srgbClr val="2D3440"/>
            </a:solidFill>
          </p:spPr>
        </p:sp>
      </p:grpSp>
      <p:sp>
        <p:nvSpPr>
          <p:cNvPr id="19" name="TextBox 19"/>
          <p:cNvSpPr txBox="1"/>
          <p:nvPr/>
        </p:nvSpPr>
        <p:spPr>
          <a:xfrm>
            <a:off x="12179351" y="4553988"/>
            <a:ext cx="4645371" cy="753666"/>
          </a:xfrm>
          <a:prstGeom prst="rect">
            <a:avLst/>
          </a:prstGeom>
        </p:spPr>
        <p:txBody>
          <a:bodyPr lIns="0" tIns="0" rIns="0" bIns="0" rtlCol="0" anchor="t">
            <a:spAutoFit/>
          </a:bodyPr>
          <a:lstStyle/>
          <a:p>
            <a:pPr algn="l">
              <a:lnSpc>
                <a:spcPts val="2625"/>
              </a:lnSpc>
            </a:pPr>
            <a:r>
              <a:rPr lang="en-US" sz="1812">
                <a:solidFill>
                  <a:srgbClr val="79C0FF"/>
                </a:solidFill>
                <a:latin typeface="Consolas"/>
                <a:ea typeface="Consolas"/>
                <a:cs typeface="Consolas"/>
                <a:sym typeface="Consolas"/>
              </a:rPr>
              <a:t>@Service</a:t>
            </a:r>
          </a:p>
          <a:p>
            <a:pPr algn="l">
              <a:lnSpc>
                <a:spcPts val="2625"/>
              </a:lnSpc>
            </a:pPr>
            <a:r>
              <a:rPr lang="en-US" sz="1812">
                <a:solidFill>
                  <a:srgbClr val="79C0FF"/>
                </a:solidFill>
                <a:latin typeface="Consolas"/>
                <a:ea typeface="Consolas"/>
                <a:cs typeface="Consolas"/>
                <a:sym typeface="Consolas"/>
              </a:rPr>
              <a:t>public class UserService { }</a:t>
            </a:r>
          </a:p>
        </p:txBody>
      </p:sp>
      <p:sp>
        <p:nvSpPr>
          <p:cNvPr id="20" name="TextBox 20"/>
          <p:cNvSpPr txBox="1"/>
          <p:nvPr/>
        </p:nvSpPr>
        <p:spPr>
          <a:xfrm>
            <a:off x="11902973" y="5738813"/>
            <a:ext cx="3492703" cy="369389"/>
          </a:xfrm>
          <a:prstGeom prst="rect">
            <a:avLst/>
          </a:prstGeom>
        </p:spPr>
        <p:txBody>
          <a:bodyPr lIns="0" tIns="0" rIns="0" bIns="0" rtlCol="0" anchor="t">
            <a:spAutoFit/>
          </a:bodyPr>
          <a:lstStyle/>
          <a:p>
            <a:pPr algn="l">
              <a:lnSpc>
                <a:spcPts val="2812"/>
              </a:lnSpc>
            </a:pPr>
            <a:r>
              <a:rPr lang="en-US" sz="2249">
                <a:solidFill>
                  <a:srgbClr val="76B9FF"/>
                </a:solidFill>
                <a:latin typeface="Roboto Slab"/>
                <a:ea typeface="Roboto Slab"/>
                <a:cs typeface="Roboto Slab"/>
                <a:sym typeface="Roboto Slab"/>
              </a:rPr>
              <a:t>Dependency Injection (DI)</a:t>
            </a:r>
          </a:p>
        </p:txBody>
      </p:sp>
      <p:sp>
        <p:nvSpPr>
          <p:cNvPr id="21" name="TextBox 21"/>
          <p:cNvSpPr txBox="1"/>
          <p:nvPr/>
        </p:nvSpPr>
        <p:spPr>
          <a:xfrm>
            <a:off x="11902973" y="6238132"/>
            <a:ext cx="5198116" cy="1059066"/>
          </a:xfrm>
          <a:prstGeom prst="rect">
            <a:avLst/>
          </a:prstGeom>
        </p:spPr>
        <p:txBody>
          <a:bodyPr lIns="0" tIns="0" rIns="0" bIns="0" rtlCol="0" anchor="t">
            <a:spAutoFit/>
          </a:bodyPr>
          <a:lstStyle/>
          <a:p>
            <a:pPr algn="l">
              <a:lnSpc>
                <a:spcPts val="2625"/>
              </a:lnSpc>
            </a:pPr>
            <a:r>
              <a:rPr lang="en-US" sz="1812">
                <a:solidFill>
                  <a:srgbClr val="D6E5EF"/>
                </a:solidFill>
                <a:latin typeface="Roboto"/>
                <a:ea typeface="Roboto"/>
                <a:cs typeface="Roboto"/>
                <a:sym typeface="Roboto"/>
              </a:rPr>
              <a:t>Spring automatically injects required dependencies into your classes — no manual wiring needed.</a:t>
            </a:r>
          </a:p>
        </p:txBody>
      </p:sp>
      <p:grpSp>
        <p:nvGrpSpPr>
          <p:cNvPr id="22" name="Group 22"/>
          <p:cNvGrpSpPr/>
          <p:nvPr/>
        </p:nvGrpSpPr>
        <p:grpSpPr>
          <a:xfrm>
            <a:off x="11902973" y="7507634"/>
            <a:ext cx="5198116" cy="1128417"/>
            <a:chOff x="0" y="0"/>
            <a:chExt cx="6930822" cy="1504556"/>
          </a:xfrm>
        </p:grpSpPr>
        <p:sp>
          <p:nvSpPr>
            <p:cNvPr id="23" name="Freeform 23"/>
            <p:cNvSpPr/>
            <p:nvPr/>
          </p:nvSpPr>
          <p:spPr>
            <a:xfrm>
              <a:off x="0" y="0"/>
              <a:ext cx="6930898" cy="1504569"/>
            </a:xfrm>
            <a:custGeom>
              <a:avLst/>
              <a:gdLst/>
              <a:ahLst/>
              <a:cxnLst/>
              <a:rect l="l" t="t" r="r" b="b"/>
              <a:pathLst>
                <a:path w="6930898" h="1504569">
                  <a:moveTo>
                    <a:pt x="0" y="46101"/>
                  </a:moveTo>
                  <a:cubicBezTo>
                    <a:pt x="0" y="20574"/>
                    <a:pt x="20574" y="0"/>
                    <a:pt x="46101" y="0"/>
                  </a:cubicBezTo>
                  <a:lnTo>
                    <a:pt x="6884797" y="0"/>
                  </a:lnTo>
                  <a:cubicBezTo>
                    <a:pt x="6910197" y="0"/>
                    <a:pt x="6930898" y="20574"/>
                    <a:pt x="6930898" y="46101"/>
                  </a:cubicBezTo>
                  <a:lnTo>
                    <a:pt x="6930898" y="1458468"/>
                  </a:lnTo>
                  <a:cubicBezTo>
                    <a:pt x="6930898" y="1483868"/>
                    <a:pt x="6910324" y="1504569"/>
                    <a:pt x="6884797" y="1504569"/>
                  </a:cubicBezTo>
                  <a:lnTo>
                    <a:pt x="46101" y="1504569"/>
                  </a:lnTo>
                  <a:cubicBezTo>
                    <a:pt x="20701" y="1504569"/>
                    <a:pt x="0" y="1483995"/>
                    <a:pt x="0" y="1458468"/>
                  </a:cubicBezTo>
                  <a:close/>
                </a:path>
              </a:pathLst>
            </a:custGeom>
            <a:solidFill>
              <a:srgbClr val="2D3440"/>
            </a:solidFill>
          </p:spPr>
        </p:sp>
      </p:grpSp>
      <p:grpSp>
        <p:nvGrpSpPr>
          <p:cNvPr id="24" name="Group 24"/>
          <p:cNvGrpSpPr/>
          <p:nvPr/>
        </p:nvGrpSpPr>
        <p:grpSpPr>
          <a:xfrm>
            <a:off x="11891515" y="7507634"/>
            <a:ext cx="5221043" cy="1128417"/>
            <a:chOff x="0" y="0"/>
            <a:chExt cx="6961391" cy="1504556"/>
          </a:xfrm>
        </p:grpSpPr>
        <p:sp>
          <p:nvSpPr>
            <p:cNvPr id="25" name="Freeform 25"/>
            <p:cNvSpPr/>
            <p:nvPr/>
          </p:nvSpPr>
          <p:spPr>
            <a:xfrm>
              <a:off x="0" y="0"/>
              <a:ext cx="6961378" cy="1504569"/>
            </a:xfrm>
            <a:custGeom>
              <a:avLst/>
              <a:gdLst/>
              <a:ahLst/>
              <a:cxnLst/>
              <a:rect l="l" t="t" r="r" b="b"/>
              <a:pathLst>
                <a:path w="6961378" h="1504569">
                  <a:moveTo>
                    <a:pt x="0" y="46101"/>
                  </a:moveTo>
                  <a:cubicBezTo>
                    <a:pt x="0" y="20574"/>
                    <a:pt x="20574" y="0"/>
                    <a:pt x="46101" y="0"/>
                  </a:cubicBezTo>
                  <a:lnTo>
                    <a:pt x="6915277" y="0"/>
                  </a:lnTo>
                  <a:cubicBezTo>
                    <a:pt x="6940677" y="0"/>
                    <a:pt x="6961378" y="20574"/>
                    <a:pt x="6961378" y="46101"/>
                  </a:cubicBezTo>
                  <a:lnTo>
                    <a:pt x="6961378" y="1458468"/>
                  </a:lnTo>
                  <a:cubicBezTo>
                    <a:pt x="6961378" y="1483868"/>
                    <a:pt x="6940804" y="1504569"/>
                    <a:pt x="6915277" y="1504569"/>
                  </a:cubicBezTo>
                  <a:lnTo>
                    <a:pt x="46101" y="1504569"/>
                  </a:lnTo>
                  <a:cubicBezTo>
                    <a:pt x="20701" y="1504569"/>
                    <a:pt x="0" y="1483995"/>
                    <a:pt x="0" y="1458468"/>
                  </a:cubicBezTo>
                  <a:close/>
                </a:path>
              </a:pathLst>
            </a:custGeom>
            <a:solidFill>
              <a:srgbClr val="2D3440"/>
            </a:solidFill>
          </p:spPr>
        </p:sp>
      </p:grpSp>
      <p:sp>
        <p:nvSpPr>
          <p:cNvPr id="26" name="TextBox 26"/>
          <p:cNvSpPr txBox="1"/>
          <p:nvPr/>
        </p:nvSpPr>
        <p:spPr>
          <a:xfrm>
            <a:off x="12179351" y="7652147"/>
            <a:ext cx="4645371" cy="753666"/>
          </a:xfrm>
          <a:prstGeom prst="rect">
            <a:avLst/>
          </a:prstGeom>
        </p:spPr>
        <p:txBody>
          <a:bodyPr lIns="0" tIns="0" rIns="0" bIns="0" rtlCol="0" anchor="t">
            <a:spAutoFit/>
          </a:bodyPr>
          <a:lstStyle/>
          <a:p>
            <a:pPr algn="l">
              <a:lnSpc>
                <a:spcPts val="2625"/>
              </a:lnSpc>
            </a:pPr>
            <a:r>
              <a:rPr lang="en-US" sz="1812">
                <a:solidFill>
                  <a:srgbClr val="79C0FF"/>
                </a:solidFill>
                <a:latin typeface="Consolas"/>
                <a:ea typeface="Consolas"/>
                <a:cs typeface="Consolas"/>
                <a:sym typeface="Consolas"/>
              </a:rPr>
              <a:t>@Autowired</a:t>
            </a:r>
          </a:p>
          <a:p>
            <a:pPr algn="l">
              <a:lnSpc>
                <a:spcPts val="2625"/>
              </a:lnSpc>
            </a:pPr>
            <a:r>
              <a:rPr lang="en-US" sz="1812">
                <a:solidFill>
                  <a:srgbClr val="79C0FF"/>
                </a:solidFill>
                <a:latin typeface="Consolas"/>
                <a:ea typeface="Consolas"/>
                <a:cs typeface="Consolas"/>
                <a:sym typeface="Consolas"/>
              </a:rPr>
              <a:t>private UserRepository userRepository;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61282" y="827637"/>
            <a:ext cx="6866782" cy="886863"/>
          </a:xfrm>
          <a:prstGeom prst="rect">
            <a:avLst/>
          </a:prstGeom>
        </p:spPr>
        <p:txBody>
          <a:bodyPr lIns="0" tIns="0" rIns="0" bIns="0" rtlCol="0" anchor="t">
            <a:spAutoFit/>
          </a:bodyPr>
          <a:lstStyle/>
          <a:p>
            <a:pPr algn="l">
              <a:lnSpc>
                <a:spcPts val="6749"/>
              </a:lnSpc>
            </a:pPr>
            <a:r>
              <a:rPr lang="en-US" sz="5374">
                <a:solidFill>
                  <a:srgbClr val="76B9FF"/>
                </a:solidFill>
                <a:latin typeface="Roboto Slab"/>
                <a:ea typeface="Roboto Slab"/>
                <a:cs typeface="Roboto Slab"/>
                <a:sym typeface="Roboto Slab"/>
              </a:rPr>
              <a:t>Spring Beans</a:t>
            </a:r>
          </a:p>
        </p:txBody>
      </p:sp>
      <p:sp>
        <p:nvSpPr>
          <p:cNvPr id="11" name="TextBox 11"/>
          <p:cNvSpPr txBox="1"/>
          <p:nvPr/>
        </p:nvSpPr>
        <p:spPr>
          <a:xfrm>
            <a:off x="961282" y="2027787"/>
            <a:ext cx="9507436" cy="1383659"/>
          </a:xfrm>
          <a:prstGeom prst="rect">
            <a:avLst/>
          </a:prstGeom>
        </p:spPr>
        <p:txBody>
          <a:bodyPr lIns="0" tIns="0" rIns="0" bIns="0" rtlCol="0" anchor="t">
            <a:spAutoFit/>
          </a:bodyPr>
          <a:lstStyle/>
          <a:p>
            <a:pPr algn="l">
              <a:lnSpc>
                <a:spcPts val="3374"/>
              </a:lnSpc>
            </a:pPr>
            <a:r>
              <a:rPr lang="en-US" sz="2125">
                <a:solidFill>
                  <a:srgbClr val="D6E5EF"/>
                </a:solidFill>
                <a:latin typeface="Roboto"/>
                <a:ea typeface="Roboto"/>
                <a:cs typeface="Roboto"/>
                <a:sym typeface="Roboto"/>
              </a:rPr>
              <a:t>A </a:t>
            </a:r>
            <a:r>
              <a:rPr lang="en-US" sz="2125" b="1">
                <a:solidFill>
                  <a:srgbClr val="D6E5EF"/>
                </a:solidFill>
                <a:latin typeface="Roboto Bold"/>
                <a:ea typeface="Roboto Bold"/>
                <a:cs typeface="Roboto Bold"/>
                <a:sym typeface="Roboto Bold"/>
              </a:rPr>
              <a:t>Spring Bean</a:t>
            </a:r>
            <a:r>
              <a:rPr lang="en-US" sz="2125">
                <a:solidFill>
                  <a:srgbClr val="D6E5EF"/>
                </a:solidFill>
                <a:latin typeface="Roboto"/>
                <a:ea typeface="Roboto"/>
                <a:cs typeface="Roboto"/>
                <a:sym typeface="Roboto"/>
              </a:rPr>
              <a:t> is any object whose lifecycle — creation, configuration, and destruction — is managed entirely by the Spring container. Declare once, use anywhere.</a:t>
            </a:r>
          </a:p>
        </p:txBody>
      </p:sp>
      <p:grpSp>
        <p:nvGrpSpPr>
          <p:cNvPr id="12" name="Group 12"/>
          <p:cNvGrpSpPr/>
          <p:nvPr/>
        </p:nvGrpSpPr>
        <p:grpSpPr>
          <a:xfrm>
            <a:off x="961282" y="3710730"/>
            <a:ext cx="9507436" cy="4006158"/>
            <a:chOff x="0" y="0"/>
            <a:chExt cx="12676581" cy="5341544"/>
          </a:xfrm>
        </p:grpSpPr>
        <p:sp>
          <p:nvSpPr>
            <p:cNvPr id="13" name="Freeform 13"/>
            <p:cNvSpPr/>
            <p:nvPr/>
          </p:nvSpPr>
          <p:spPr>
            <a:xfrm>
              <a:off x="0" y="0"/>
              <a:ext cx="12676505" cy="5341493"/>
            </a:xfrm>
            <a:custGeom>
              <a:avLst/>
              <a:gdLst/>
              <a:ahLst/>
              <a:cxnLst/>
              <a:rect l="l" t="t" r="r" b="b"/>
              <a:pathLst>
                <a:path w="12676505" h="5341493">
                  <a:moveTo>
                    <a:pt x="0" y="54864"/>
                  </a:moveTo>
                  <a:cubicBezTo>
                    <a:pt x="0" y="24638"/>
                    <a:pt x="24638" y="0"/>
                    <a:pt x="54864" y="0"/>
                  </a:cubicBezTo>
                  <a:lnTo>
                    <a:pt x="12621641" y="0"/>
                  </a:lnTo>
                  <a:cubicBezTo>
                    <a:pt x="12651994" y="0"/>
                    <a:pt x="12676505" y="24638"/>
                    <a:pt x="12676505" y="54864"/>
                  </a:cubicBezTo>
                  <a:lnTo>
                    <a:pt x="12676505" y="5286629"/>
                  </a:lnTo>
                  <a:cubicBezTo>
                    <a:pt x="12676505" y="5316982"/>
                    <a:pt x="12651867" y="5341493"/>
                    <a:pt x="12621641" y="5341493"/>
                  </a:cubicBezTo>
                  <a:lnTo>
                    <a:pt x="54864" y="5341493"/>
                  </a:lnTo>
                  <a:cubicBezTo>
                    <a:pt x="24511" y="5341493"/>
                    <a:pt x="0" y="5316855"/>
                    <a:pt x="0" y="5286629"/>
                  </a:cubicBezTo>
                  <a:close/>
                </a:path>
              </a:pathLst>
            </a:custGeom>
            <a:solidFill>
              <a:srgbClr val="3F4652"/>
            </a:solidFill>
          </p:spPr>
        </p:sp>
      </p:grpSp>
      <p:grpSp>
        <p:nvGrpSpPr>
          <p:cNvPr id="14" name="Group 14"/>
          <p:cNvGrpSpPr/>
          <p:nvPr/>
        </p:nvGrpSpPr>
        <p:grpSpPr>
          <a:xfrm>
            <a:off x="961282" y="3710730"/>
            <a:ext cx="4753718" cy="2435723"/>
            <a:chOff x="0" y="0"/>
            <a:chExt cx="6338291" cy="3247631"/>
          </a:xfrm>
        </p:grpSpPr>
        <p:sp>
          <p:nvSpPr>
            <p:cNvPr id="15" name="Freeform 15"/>
            <p:cNvSpPr/>
            <p:nvPr/>
          </p:nvSpPr>
          <p:spPr>
            <a:xfrm>
              <a:off x="0" y="0"/>
              <a:ext cx="6338316" cy="3247644"/>
            </a:xfrm>
            <a:custGeom>
              <a:avLst/>
              <a:gdLst/>
              <a:ahLst/>
              <a:cxnLst/>
              <a:rect l="l" t="t" r="r" b="b"/>
              <a:pathLst>
                <a:path w="6338316" h="3247644">
                  <a:moveTo>
                    <a:pt x="0" y="54991"/>
                  </a:moveTo>
                  <a:cubicBezTo>
                    <a:pt x="0" y="24638"/>
                    <a:pt x="24638" y="0"/>
                    <a:pt x="54991" y="0"/>
                  </a:cubicBezTo>
                  <a:lnTo>
                    <a:pt x="6283325" y="0"/>
                  </a:lnTo>
                  <a:cubicBezTo>
                    <a:pt x="6313678" y="0"/>
                    <a:pt x="6338316" y="24638"/>
                    <a:pt x="6338316" y="54991"/>
                  </a:cubicBezTo>
                  <a:lnTo>
                    <a:pt x="6338316" y="3192653"/>
                  </a:lnTo>
                  <a:cubicBezTo>
                    <a:pt x="6338316" y="3223006"/>
                    <a:pt x="6313678" y="3247644"/>
                    <a:pt x="6283325" y="3247644"/>
                  </a:cubicBezTo>
                  <a:lnTo>
                    <a:pt x="54991" y="3247644"/>
                  </a:lnTo>
                  <a:cubicBezTo>
                    <a:pt x="24638" y="3247644"/>
                    <a:pt x="0" y="3223006"/>
                    <a:pt x="0" y="3192653"/>
                  </a:cubicBezTo>
                  <a:close/>
                </a:path>
              </a:pathLst>
            </a:custGeom>
            <a:solidFill>
              <a:srgbClr val="3F4652"/>
            </a:solidFill>
          </p:spPr>
        </p:sp>
      </p:grpSp>
      <p:sp>
        <p:nvSpPr>
          <p:cNvPr id="16" name="TextBox 16"/>
          <p:cNvSpPr txBox="1"/>
          <p:nvPr/>
        </p:nvSpPr>
        <p:spPr>
          <a:xfrm>
            <a:off x="1235869" y="3975792"/>
            <a:ext cx="3433315" cy="438598"/>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@Component</a:t>
            </a:r>
          </a:p>
        </p:txBody>
      </p:sp>
      <p:sp>
        <p:nvSpPr>
          <p:cNvPr id="17" name="TextBox 17"/>
          <p:cNvSpPr txBox="1"/>
          <p:nvPr/>
        </p:nvSpPr>
        <p:spPr>
          <a:xfrm>
            <a:off x="1235869" y="4488209"/>
            <a:ext cx="4204545" cy="1383659"/>
          </a:xfrm>
          <a:prstGeom prst="rect">
            <a:avLst/>
          </a:prstGeom>
        </p:spPr>
        <p:txBody>
          <a:bodyPr lIns="0" tIns="0" rIns="0" bIns="0" rtlCol="0" anchor="t">
            <a:spAutoFit/>
          </a:bodyPr>
          <a:lstStyle/>
          <a:p>
            <a:pPr algn="l">
              <a:lnSpc>
                <a:spcPts val="3374"/>
              </a:lnSpc>
            </a:pPr>
            <a:r>
              <a:rPr lang="en-US" sz="2125">
                <a:solidFill>
                  <a:srgbClr val="D6E5EF"/>
                </a:solidFill>
                <a:latin typeface="Roboto"/>
                <a:ea typeface="Roboto"/>
                <a:cs typeface="Roboto"/>
                <a:sym typeface="Roboto"/>
              </a:rPr>
              <a:t>Generic Spring-managed bean. Use for utility classes and shared services.</a:t>
            </a:r>
          </a:p>
        </p:txBody>
      </p:sp>
      <p:grpSp>
        <p:nvGrpSpPr>
          <p:cNvPr id="18" name="Group 18"/>
          <p:cNvGrpSpPr/>
          <p:nvPr/>
        </p:nvGrpSpPr>
        <p:grpSpPr>
          <a:xfrm>
            <a:off x="5715000" y="3710730"/>
            <a:ext cx="4753718" cy="2435723"/>
            <a:chOff x="0" y="0"/>
            <a:chExt cx="6338291" cy="3247631"/>
          </a:xfrm>
        </p:grpSpPr>
        <p:sp>
          <p:nvSpPr>
            <p:cNvPr id="19" name="Freeform 19"/>
            <p:cNvSpPr/>
            <p:nvPr/>
          </p:nvSpPr>
          <p:spPr>
            <a:xfrm>
              <a:off x="0" y="0"/>
              <a:ext cx="6338316" cy="3247644"/>
            </a:xfrm>
            <a:custGeom>
              <a:avLst/>
              <a:gdLst/>
              <a:ahLst/>
              <a:cxnLst/>
              <a:rect l="l" t="t" r="r" b="b"/>
              <a:pathLst>
                <a:path w="6338316" h="3247644">
                  <a:moveTo>
                    <a:pt x="0" y="0"/>
                  </a:moveTo>
                  <a:lnTo>
                    <a:pt x="6338316" y="0"/>
                  </a:lnTo>
                  <a:lnTo>
                    <a:pt x="6338316" y="3247644"/>
                  </a:lnTo>
                  <a:lnTo>
                    <a:pt x="0" y="3247644"/>
                  </a:lnTo>
                  <a:close/>
                </a:path>
              </a:pathLst>
            </a:custGeom>
            <a:solidFill>
              <a:srgbClr val="3F4652"/>
            </a:solidFill>
          </p:spPr>
        </p:sp>
      </p:grpSp>
      <p:grpSp>
        <p:nvGrpSpPr>
          <p:cNvPr id="20" name="Group 20"/>
          <p:cNvGrpSpPr/>
          <p:nvPr/>
        </p:nvGrpSpPr>
        <p:grpSpPr>
          <a:xfrm>
            <a:off x="5715000" y="3710730"/>
            <a:ext cx="38100" cy="2435723"/>
            <a:chOff x="0" y="0"/>
            <a:chExt cx="50800" cy="3247631"/>
          </a:xfrm>
        </p:grpSpPr>
        <p:sp>
          <p:nvSpPr>
            <p:cNvPr id="21" name="Freeform 21"/>
            <p:cNvSpPr/>
            <p:nvPr/>
          </p:nvSpPr>
          <p:spPr>
            <a:xfrm>
              <a:off x="0" y="0"/>
              <a:ext cx="50800" cy="3247644"/>
            </a:xfrm>
            <a:custGeom>
              <a:avLst/>
              <a:gdLst/>
              <a:ahLst/>
              <a:cxnLst/>
              <a:rect l="l" t="t" r="r" b="b"/>
              <a:pathLst>
                <a:path w="50800" h="3247644">
                  <a:moveTo>
                    <a:pt x="0" y="25400"/>
                  </a:moveTo>
                  <a:cubicBezTo>
                    <a:pt x="0" y="11430"/>
                    <a:pt x="11430" y="0"/>
                    <a:pt x="25400" y="0"/>
                  </a:cubicBezTo>
                  <a:cubicBezTo>
                    <a:pt x="39370" y="0"/>
                    <a:pt x="50800" y="11430"/>
                    <a:pt x="50800" y="25400"/>
                  </a:cubicBezTo>
                  <a:lnTo>
                    <a:pt x="50800" y="3222244"/>
                  </a:lnTo>
                  <a:cubicBezTo>
                    <a:pt x="50800" y="3236214"/>
                    <a:pt x="39370" y="3247644"/>
                    <a:pt x="25400" y="3247644"/>
                  </a:cubicBezTo>
                  <a:cubicBezTo>
                    <a:pt x="11430" y="3247644"/>
                    <a:pt x="0" y="3236214"/>
                    <a:pt x="0" y="3222244"/>
                  </a:cubicBezTo>
                  <a:close/>
                </a:path>
              </a:pathLst>
            </a:custGeom>
            <a:solidFill>
              <a:srgbClr val="585F6B"/>
            </a:solidFill>
          </p:spPr>
        </p:sp>
      </p:grpSp>
      <p:sp>
        <p:nvSpPr>
          <p:cNvPr id="22" name="TextBox 22"/>
          <p:cNvSpPr txBox="1"/>
          <p:nvPr/>
        </p:nvSpPr>
        <p:spPr>
          <a:xfrm>
            <a:off x="5989587" y="3975792"/>
            <a:ext cx="3433315" cy="438598"/>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@Service</a:t>
            </a:r>
          </a:p>
        </p:txBody>
      </p:sp>
      <p:sp>
        <p:nvSpPr>
          <p:cNvPr id="23" name="TextBox 23"/>
          <p:cNvSpPr txBox="1"/>
          <p:nvPr/>
        </p:nvSpPr>
        <p:spPr>
          <a:xfrm>
            <a:off x="5989587" y="4488209"/>
            <a:ext cx="4204545" cy="1383659"/>
          </a:xfrm>
          <a:prstGeom prst="rect">
            <a:avLst/>
          </a:prstGeom>
        </p:spPr>
        <p:txBody>
          <a:bodyPr lIns="0" tIns="0" rIns="0" bIns="0" rtlCol="0" anchor="t">
            <a:spAutoFit/>
          </a:bodyPr>
          <a:lstStyle/>
          <a:p>
            <a:pPr algn="l">
              <a:lnSpc>
                <a:spcPts val="3374"/>
              </a:lnSpc>
            </a:pPr>
            <a:r>
              <a:rPr lang="en-US" sz="2125">
                <a:solidFill>
                  <a:srgbClr val="D6E5EF"/>
                </a:solidFill>
                <a:latin typeface="Roboto"/>
                <a:ea typeface="Roboto"/>
                <a:cs typeface="Roboto"/>
                <a:sym typeface="Roboto"/>
              </a:rPr>
              <a:t>Marks business logic classes. Semantically meaningful for layered architecture.</a:t>
            </a:r>
          </a:p>
        </p:txBody>
      </p:sp>
      <p:grpSp>
        <p:nvGrpSpPr>
          <p:cNvPr id="24" name="Group 24"/>
          <p:cNvGrpSpPr/>
          <p:nvPr/>
        </p:nvGrpSpPr>
        <p:grpSpPr>
          <a:xfrm>
            <a:off x="961282" y="6146454"/>
            <a:ext cx="9507436" cy="1570434"/>
            <a:chOff x="0" y="0"/>
            <a:chExt cx="12676581" cy="2093912"/>
          </a:xfrm>
        </p:grpSpPr>
        <p:sp>
          <p:nvSpPr>
            <p:cNvPr id="25" name="Freeform 25"/>
            <p:cNvSpPr/>
            <p:nvPr/>
          </p:nvSpPr>
          <p:spPr>
            <a:xfrm>
              <a:off x="0" y="0"/>
              <a:ext cx="12676632" cy="2093976"/>
            </a:xfrm>
            <a:custGeom>
              <a:avLst/>
              <a:gdLst/>
              <a:ahLst/>
              <a:cxnLst/>
              <a:rect l="l" t="t" r="r" b="b"/>
              <a:pathLst>
                <a:path w="12676632" h="2093976">
                  <a:moveTo>
                    <a:pt x="0" y="0"/>
                  </a:moveTo>
                  <a:lnTo>
                    <a:pt x="12676632" y="0"/>
                  </a:lnTo>
                  <a:lnTo>
                    <a:pt x="12676632" y="2093976"/>
                  </a:lnTo>
                  <a:lnTo>
                    <a:pt x="0" y="2093976"/>
                  </a:lnTo>
                  <a:close/>
                </a:path>
              </a:pathLst>
            </a:custGeom>
            <a:solidFill>
              <a:srgbClr val="3F4652"/>
            </a:solidFill>
          </p:spPr>
        </p:sp>
      </p:grpSp>
      <p:grpSp>
        <p:nvGrpSpPr>
          <p:cNvPr id="26" name="Group 26"/>
          <p:cNvGrpSpPr/>
          <p:nvPr/>
        </p:nvGrpSpPr>
        <p:grpSpPr>
          <a:xfrm>
            <a:off x="961282" y="6146454"/>
            <a:ext cx="9507436" cy="38100"/>
            <a:chOff x="0" y="0"/>
            <a:chExt cx="12676581" cy="50800"/>
          </a:xfrm>
        </p:grpSpPr>
        <p:sp>
          <p:nvSpPr>
            <p:cNvPr id="27" name="Freeform 27"/>
            <p:cNvSpPr/>
            <p:nvPr/>
          </p:nvSpPr>
          <p:spPr>
            <a:xfrm>
              <a:off x="0" y="0"/>
              <a:ext cx="12676632" cy="50800"/>
            </a:xfrm>
            <a:custGeom>
              <a:avLst/>
              <a:gdLst/>
              <a:ahLst/>
              <a:cxnLst/>
              <a:rect l="l" t="t" r="r" b="b"/>
              <a:pathLst>
                <a:path w="12676632" h="50800">
                  <a:moveTo>
                    <a:pt x="0" y="25400"/>
                  </a:moveTo>
                  <a:cubicBezTo>
                    <a:pt x="0" y="11430"/>
                    <a:pt x="11430" y="0"/>
                    <a:pt x="25400" y="0"/>
                  </a:cubicBezTo>
                  <a:lnTo>
                    <a:pt x="12651232" y="0"/>
                  </a:lnTo>
                  <a:cubicBezTo>
                    <a:pt x="12665201" y="0"/>
                    <a:pt x="12676632" y="11430"/>
                    <a:pt x="12676632" y="25400"/>
                  </a:cubicBezTo>
                  <a:cubicBezTo>
                    <a:pt x="12676632" y="39370"/>
                    <a:pt x="12665201" y="50800"/>
                    <a:pt x="12651232" y="50800"/>
                  </a:cubicBezTo>
                  <a:lnTo>
                    <a:pt x="25400" y="50800"/>
                  </a:lnTo>
                  <a:cubicBezTo>
                    <a:pt x="11430" y="50800"/>
                    <a:pt x="0" y="39370"/>
                    <a:pt x="0" y="25400"/>
                  </a:cubicBezTo>
                  <a:close/>
                </a:path>
              </a:pathLst>
            </a:custGeom>
            <a:solidFill>
              <a:srgbClr val="585F6B"/>
            </a:solidFill>
          </p:spPr>
        </p:sp>
      </p:grpSp>
      <p:sp>
        <p:nvSpPr>
          <p:cNvPr id="28" name="TextBox 28"/>
          <p:cNvSpPr txBox="1"/>
          <p:nvPr/>
        </p:nvSpPr>
        <p:spPr>
          <a:xfrm>
            <a:off x="1235869" y="6411516"/>
            <a:ext cx="3433315" cy="438598"/>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@Repository</a:t>
            </a:r>
          </a:p>
        </p:txBody>
      </p:sp>
      <p:sp>
        <p:nvSpPr>
          <p:cNvPr id="29" name="TextBox 29"/>
          <p:cNvSpPr txBox="1"/>
          <p:nvPr/>
        </p:nvSpPr>
        <p:spPr>
          <a:xfrm>
            <a:off x="1235869" y="6923932"/>
            <a:ext cx="8958262" cy="518370"/>
          </a:xfrm>
          <a:prstGeom prst="rect">
            <a:avLst/>
          </a:prstGeom>
        </p:spPr>
        <p:txBody>
          <a:bodyPr lIns="0" tIns="0" rIns="0" bIns="0" rtlCol="0" anchor="t">
            <a:spAutoFit/>
          </a:bodyPr>
          <a:lstStyle/>
          <a:p>
            <a:pPr algn="l">
              <a:lnSpc>
                <a:spcPts val="3374"/>
              </a:lnSpc>
            </a:pPr>
            <a:r>
              <a:rPr lang="en-US" sz="2125">
                <a:solidFill>
                  <a:srgbClr val="D6E5EF"/>
                </a:solidFill>
                <a:latin typeface="Roboto"/>
                <a:ea typeface="Roboto"/>
                <a:cs typeface="Roboto"/>
                <a:sym typeface="Roboto"/>
              </a:rPr>
              <a:t>Data access layer beans. Spring adds exception translation automatically.</a:t>
            </a:r>
          </a:p>
        </p:txBody>
      </p:sp>
      <p:grpSp>
        <p:nvGrpSpPr>
          <p:cNvPr id="30" name="Group 30"/>
          <p:cNvGrpSpPr/>
          <p:nvPr/>
        </p:nvGrpSpPr>
        <p:grpSpPr>
          <a:xfrm>
            <a:off x="961282" y="8016183"/>
            <a:ext cx="9507436" cy="1414462"/>
            <a:chOff x="0" y="0"/>
            <a:chExt cx="12676581" cy="1885950"/>
          </a:xfrm>
        </p:grpSpPr>
        <p:sp>
          <p:nvSpPr>
            <p:cNvPr id="31" name="Freeform 31"/>
            <p:cNvSpPr/>
            <p:nvPr/>
          </p:nvSpPr>
          <p:spPr>
            <a:xfrm>
              <a:off x="0" y="0"/>
              <a:ext cx="12676632" cy="1885950"/>
            </a:xfrm>
            <a:custGeom>
              <a:avLst/>
              <a:gdLst/>
              <a:ahLst/>
              <a:cxnLst/>
              <a:rect l="l" t="t" r="r" b="b"/>
              <a:pathLst>
                <a:path w="12676632" h="1885950">
                  <a:moveTo>
                    <a:pt x="0" y="54991"/>
                  </a:moveTo>
                  <a:cubicBezTo>
                    <a:pt x="0" y="24638"/>
                    <a:pt x="24638" y="0"/>
                    <a:pt x="54991" y="0"/>
                  </a:cubicBezTo>
                  <a:lnTo>
                    <a:pt x="12621641" y="0"/>
                  </a:lnTo>
                  <a:cubicBezTo>
                    <a:pt x="12651994" y="0"/>
                    <a:pt x="12676632" y="24638"/>
                    <a:pt x="12676632" y="54991"/>
                  </a:cubicBezTo>
                  <a:lnTo>
                    <a:pt x="12676632" y="1830959"/>
                  </a:lnTo>
                  <a:cubicBezTo>
                    <a:pt x="12676632" y="1861312"/>
                    <a:pt x="12651994" y="1885950"/>
                    <a:pt x="12621641" y="1885950"/>
                  </a:cubicBezTo>
                  <a:lnTo>
                    <a:pt x="54991" y="1885950"/>
                  </a:lnTo>
                  <a:cubicBezTo>
                    <a:pt x="24638" y="1885950"/>
                    <a:pt x="0" y="1861312"/>
                    <a:pt x="0" y="1830959"/>
                  </a:cubicBezTo>
                  <a:close/>
                </a:path>
              </a:pathLst>
            </a:custGeom>
            <a:solidFill>
              <a:srgbClr val="2D3440"/>
            </a:solidFill>
          </p:spPr>
        </p:sp>
      </p:grpSp>
      <p:grpSp>
        <p:nvGrpSpPr>
          <p:cNvPr id="32" name="Group 32"/>
          <p:cNvGrpSpPr/>
          <p:nvPr/>
        </p:nvGrpSpPr>
        <p:grpSpPr>
          <a:xfrm>
            <a:off x="947585" y="8016183"/>
            <a:ext cx="9534820" cy="1414462"/>
            <a:chOff x="0" y="0"/>
            <a:chExt cx="12713094" cy="1885950"/>
          </a:xfrm>
        </p:grpSpPr>
        <p:sp>
          <p:nvSpPr>
            <p:cNvPr id="33" name="Freeform 33"/>
            <p:cNvSpPr/>
            <p:nvPr/>
          </p:nvSpPr>
          <p:spPr>
            <a:xfrm>
              <a:off x="0" y="0"/>
              <a:ext cx="12713208" cy="1885950"/>
            </a:xfrm>
            <a:custGeom>
              <a:avLst/>
              <a:gdLst/>
              <a:ahLst/>
              <a:cxnLst/>
              <a:rect l="l" t="t" r="r" b="b"/>
              <a:pathLst>
                <a:path w="12713208" h="1885950">
                  <a:moveTo>
                    <a:pt x="0" y="54991"/>
                  </a:moveTo>
                  <a:cubicBezTo>
                    <a:pt x="0" y="24638"/>
                    <a:pt x="24638" y="0"/>
                    <a:pt x="54991" y="0"/>
                  </a:cubicBezTo>
                  <a:lnTo>
                    <a:pt x="12658217" y="0"/>
                  </a:lnTo>
                  <a:cubicBezTo>
                    <a:pt x="12688570" y="0"/>
                    <a:pt x="12713208" y="24638"/>
                    <a:pt x="12713208" y="54991"/>
                  </a:cubicBezTo>
                  <a:lnTo>
                    <a:pt x="12713208" y="1830959"/>
                  </a:lnTo>
                  <a:cubicBezTo>
                    <a:pt x="12713208" y="1861312"/>
                    <a:pt x="12688570" y="1885950"/>
                    <a:pt x="12658217" y="1885950"/>
                  </a:cubicBezTo>
                  <a:lnTo>
                    <a:pt x="54991" y="1885950"/>
                  </a:lnTo>
                  <a:cubicBezTo>
                    <a:pt x="24638" y="1885950"/>
                    <a:pt x="0" y="1861312"/>
                    <a:pt x="0" y="1830959"/>
                  </a:cubicBezTo>
                  <a:close/>
                </a:path>
              </a:pathLst>
            </a:custGeom>
            <a:solidFill>
              <a:srgbClr val="2D3440"/>
            </a:solidFill>
          </p:spPr>
        </p:sp>
      </p:grpSp>
      <p:sp>
        <p:nvSpPr>
          <p:cNvPr id="34" name="TextBox 34"/>
          <p:cNvSpPr txBox="1"/>
          <p:nvPr/>
        </p:nvSpPr>
        <p:spPr>
          <a:xfrm>
            <a:off x="1290790" y="8166945"/>
            <a:ext cx="8848430" cy="989114"/>
          </a:xfrm>
          <a:prstGeom prst="rect">
            <a:avLst/>
          </a:prstGeom>
        </p:spPr>
        <p:txBody>
          <a:bodyPr lIns="0" tIns="0" rIns="0" bIns="0" rtlCol="0" anchor="t">
            <a:spAutoFit/>
          </a:bodyPr>
          <a:lstStyle/>
          <a:p>
            <a:pPr algn="l">
              <a:lnSpc>
                <a:spcPts val="3374"/>
              </a:lnSpc>
            </a:pPr>
            <a:r>
              <a:rPr lang="en-US" sz="2125">
                <a:solidFill>
                  <a:srgbClr val="79C0FF"/>
                </a:solidFill>
                <a:latin typeface="Consolas"/>
                <a:ea typeface="Consolas"/>
                <a:cs typeface="Consolas"/>
                <a:sym typeface="Consolas"/>
              </a:rPr>
              <a:t>@Component</a:t>
            </a:r>
          </a:p>
          <a:p>
            <a:pPr algn="l">
              <a:lnSpc>
                <a:spcPts val="3374"/>
              </a:lnSpc>
            </a:pPr>
            <a:r>
              <a:rPr lang="en-US" sz="2125">
                <a:solidFill>
                  <a:srgbClr val="79C0FF"/>
                </a:solidFill>
                <a:latin typeface="Consolas"/>
                <a:ea typeface="Consolas"/>
                <a:cs typeface="Consolas"/>
                <a:sym typeface="Consolas"/>
              </a:rPr>
              <a:t>public class ExpenseService {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348978" y="674484"/>
            <a:ext cx="10755811" cy="724938"/>
          </a:xfrm>
          <a:prstGeom prst="rect">
            <a:avLst/>
          </a:prstGeom>
        </p:spPr>
        <p:txBody>
          <a:bodyPr lIns="0" tIns="0" rIns="0" bIns="0" rtlCol="0" anchor="t">
            <a:spAutoFit/>
          </a:bodyPr>
          <a:lstStyle/>
          <a:p>
            <a:pPr algn="l">
              <a:lnSpc>
                <a:spcPts val="5500"/>
              </a:lnSpc>
            </a:pPr>
            <a:r>
              <a:rPr lang="en-US" sz="4437">
                <a:solidFill>
                  <a:srgbClr val="76B9FF"/>
                </a:solidFill>
                <a:latin typeface="Roboto Slab"/>
                <a:ea typeface="Roboto Slab"/>
                <a:cs typeface="Roboto Slab"/>
                <a:sym typeface="Roboto Slab"/>
              </a:rPr>
              <a:t>Why These Concepts Matter for Finsight</a:t>
            </a:r>
          </a:p>
        </p:txBody>
      </p:sp>
      <p:sp>
        <p:nvSpPr>
          <p:cNvPr id="7" name="TextBox 7"/>
          <p:cNvSpPr txBox="1"/>
          <p:nvPr/>
        </p:nvSpPr>
        <p:spPr>
          <a:xfrm>
            <a:off x="1348978" y="2911078"/>
            <a:ext cx="2936081" cy="372066"/>
          </a:xfrm>
          <a:prstGeom prst="rect">
            <a:avLst/>
          </a:prstGeom>
        </p:spPr>
        <p:txBody>
          <a:bodyPr lIns="0" tIns="0" rIns="0" bIns="0" rtlCol="0" anchor="t">
            <a:spAutoFit/>
          </a:bodyPr>
          <a:lstStyle/>
          <a:p>
            <a:pPr algn="l">
              <a:lnSpc>
                <a:spcPts val="2750"/>
              </a:lnSpc>
            </a:pPr>
            <a:r>
              <a:rPr lang="en-US" sz="2187">
                <a:solidFill>
                  <a:srgbClr val="76B9FF"/>
                </a:solidFill>
                <a:latin typeface="Roboto Slab"/>
                <a:ea typeface="Roboto Slab"/>
                <a:cs typeface="Roboto Slab"/>
                <a:sym typeface="Roboto Slab"/>
              </a:rPr>
              <a:t>Architectural Benefits</a:t>
            </a:r>
          </a:p>
        </p:txBody>
      </p:sp>
      <p:grpSp>
        <p:nvGrpSpPr>
          <p:cNvPr id="8" name="Group 8"/>
          <p:cNvGrpSpPr/>
          <p:nvPr/>
        </p:nvGrpSpPr>
        <p:grpSpPr>
          <a:xfrm>
            <a:off x="1348978" y="3485559"/>
            <a:ext cx="508244" cy="508244"/>
            <a:chOff x="0" y="0"/>
            <a:chExt cx="677659" cy="677659"/>
          </a:xfrm>
        </p:grpSpPr>
        <p:sp>
          <p:nvSpPr>
            <p:cNvPr id="9" name="Freeform 9"/>
            <p:cNvSpPr/>
            <p:nvPr/>
          </p:nvSpPr>
          <p:spPr>
            <a:xfrm>
              <a:off x="0" y="0"/>
              <a:ext cx="677672" cy="677672"/>
            </a:xfrm>
            <a:custGeom>
              <a:avLst/>
              <a:gdLst/>
              <a:ahLst/>
              <a:cxnLst/>
              <a:rect l="l" t="t" r="r" b="b"/>
              <a:pathLst>
                <a:path w="677672" h="677672">
                  <a:moveTo>
                    <a:pt x="0" y="45212"/>
                  </a:moveTo>
                  <a:cubicBezTo>
                    <a:pt x="0" y="20193"/>
                    <a:pt x="20193" y="0"/>
                    <a:pt x="45212" y="0"/>
                  </a:cubicBezTo>
                  <a:lnTo>
                    <a:pt x="632460" y="0"/>
                  </a:lnTo>
                  <a:cubicBezTo>
                    <a:pt x="657479" y="0"/>
                    <a:pt x="677672" y="20193"/>
                    <a:pt x="677672" y="45212"/>
                  </a:cubicBezTo>
                  <a:lnTo>
                    <a:pt x="677672" y="632460"/>
                  </a:lnTo>
                  <a:cubicBezTo>
                    <a:pt x="677672" y="657479"/>
                    <a:pt x="657479" y="677672"/>
                    <a:pt x="632460" y="677672"/>
                  </a:cubicBezTo>
                  <a:lnTo>
                    <a:pt x="45212" y="677672"/>
                  </a:lnTo>
                  <a:cubicBezTo>
                    <a:pt x="20193" y="677672"/>
                    <a:pt x="0" y="657479"/>
                    <a:pt x="0" y="632460"/>
                  </a:cubicBezTo>
                  <a:close/>
                </a:path>
              </a:pathLst>
            </a:custGeom>
            <a:solidFill>
              <a:srgbClr val="3F4652"/>
            </a:solidFill>
          </p:spPr>
        </p:sp>
      </p:grpSp>
      <p:sp>
        <p:nvSpPr>
          <p:cNvPr id="10" name="TextBox 10"/>
          <p:cNvSpPr txBox="1"/>
          <p:nvPr/>
        </p:nvSpPr>
        <p:spPr>
          <a:xfrm>
            <a:off x="1433589" y="3575447"/>
            <a:ext cx="338880" cy="375942"/>
          </a:xfrm>
          <a:prstGeom prst="rect">
            <a:avLst/>
          </a:prstGeom>
        </p:spPr>
        <p:txBody>
          <a:bodyPr lIns="0" tIns="0" rIns="0" bIns="0" rtlCol="0" anchor="t">
            <a:spAutoFit/>
          </a:bodyPr>
          <a:lstStyle/>
          <a:p>
            <a:pPr algn="ctr">
              <a:lnSpc>
                <a:spcPts val="2625"/>
              </a:lnSpc>
            </a:pPr>
            <a:r>
              <a:rPr lang="en-US" sz="2625">
                <a:solidFill>
                  <a:srgbClr val="D6E5EF"/>
                </a:solidFill>
                <a:latin typeface="Roboto Slab"/>
                <a:ea typeface="Roboto Slab"/>
                <a:cs typeface="Roboto Slab"/>
                <a:sym typeface="Roboto Slab"/>
              </a:rPr>
              <a:t>1</a:t>
            </a:r>
          </a:p>
        </p:txBody>
      </p:sp>
      <p:sp>
        <p:nvSpPr>
          <p:cNvPr id="11" name="TextBox 11"/>
          <p:cNvSpPr txBox="1"/>
          <p:nvPr/>
        </p:nvSpPr>
        <p:spPr>
          <a:xfrm>
            <a:off x="2037159" y="3544043"/>
            <a:ext cx="2824162"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Loose Coupling</a:t>
            </a:r>
          </a:p>
        </p:txBody>
      </p:sp>
      <p:sp>
        <p:nvSpPr>
          <p:cNvPr id="12" name="TextBox 12"/>
          <p:cNvSpPr txBox="1"/>
          <p:nvPr/>
        </p:nvSpPr>
        <p:spPr>
          <a:xfrm>
            <a:off x="2037159" y="4057945"/>
            <a:ext cx="6831063" cy="687591"/>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Services don't instantiate their own dependencies — they receive them. Swap implementations without touching business logic.</a:t>
            </a:r>
          </a:p>
        </p:txBody>
      </p:sp>
      <p:grpSp>
        <p:nvGrpSpPr>
          <p:cNvPr id="13" name="Group 13"/>
          <p:cNvGrpSpPr/>
          <p:nvPr/>
        </p:nvGrpSpPr>
        <p:grpSpPr>
          <a:xfrm>
            <a:off x="1348978" y="5105552"/>
            <a:ext cx="508244" cy="508244"/>
            <a:chOff x="0" y="0"/>
            <a:chExt cx="677659" cy="677659"/>
          </a:xfrm>
        </p:grpSpPr>
        <p:sp>
          <p:nvSpPr>
            <p:cNvPr id="14" name="Freeform 14"/>
            <p:cNvSpPr/>
            <p:nvPr/>
          </p:nvSpPr>
          <p:spPr>
            <a:xfrm>
              <a:off x="0" y="0"/>
              <a:ext cx="677672" cy="677672"/>
            </a:xfrm>
            <a:custGeom>
              <a:avLst/>
              <a:gdLst/>
              <a:ahLst/>
              <a:cxnLst/>
              <a:rect l="l" t="t" r="r" b="b"/>
              <a:pathLst>
                <a:path w="677672" h="677672">
                  <a:moveTo>
                    <a:pt x="0" y="45212"/>
                  </a:moveTo>
                  <a:cubicBezTo>
                    <a:pt x="0" y="20193"/>
                    <a:pt x="20193" y="0"/>
                    <a:pt x="45212" y="0"/>
                  </a:cubicBezTo>
                  <a:lnTo>
                    <a:pt x="632460" y="0"/>
                  </a:lnTo>
                  <a:cubicBezTo>
                    <a:pt x="657479" y="0"/>
                    <a:pt x="677672" y="20193"/>
                    <a:pt x="677672" y="45212"/>
                  </a:cubicBezTo>
                  <a:lnTo>
                    <a:pt x="677672" y="632460"/>
                  </a:lnTo>
                  <a:cubicBezTo>
                    <a:pt x="677672" y="657479"/>
                    <a:pt x="657479" y="677672"/>
                    <a:pt x="632460" y="677672"/>
                  </a:cubicBezTo>
                  <a:lnTo>
                    <a:pt x="45212" y="677672"/>
                  </a:lnTo>
                  <a:cubicBezTo>
                    <a:pt x="20193" y="677672"/>
                    <a:pt x="0" y="657479"/>
                    <a:pt x="0" y="632460"/>
                  </a:cubicBezTo>
                  <a:close/>
                </a:path>
              </a:pathLst>
            </a:custGeom>
            <a:solidFill>
              <a:srgbClr val="3F4652"/>
            </a:solidFill>
          </p:spPr>
        </p:sp>
      </p:grpSp>
      <p:sp>
        <p:nvSpPr>
          <p:cNvPr id="15" name="TextBox 15"/>
          <p:cNvSpPr txBox="1"/>
          <p:nvPr/>
        </p:nvSpPr>
        <p:spPr>
          <a:xfrm>
            <a:off x="1433589" y="5195440"/>
            <a:ext cx="338880" cy="375942"/>
          </a:xfrm>
          <a:prstGeom prst="rect">
            <a:avLst/>
          </a:prstGeom>
        </p:spPr>
        <p:txBody>
          <a:bodyPr lIns="0" tIns="0" rIns="0" bIns="0" rtlCol="0" anchor="t">
            <a:spAutoFit/>
          </a:bodyPr>
          <a:lstStyle/>
          <a:p>
            <a:pPr algn="ctr">
              <a:lnSpc>
                <a:spcPts val="2625"/>
              </a:lnSpc>
            </a:pPr>
            <a:r>
              <a:rPr lang="en-US" sz="2625">
                <a:solidFill>
                  <a:srgbClr val="D6E5EF"/>
                </a:solidFill>
                <a:latin typeface="Roboto Slab"/>
                <a:ea typeface="Roboto Slab"/>
                <a:cs typeface="Roboto Slab"/>
                <a:sym typeface="Roboto Slab"/>
              </a:rPr>
              <a:t>2</a:t>
            </a:r>
          </a:p>
        </p:txBody>
      </p:sp>
      <p:sp>
        <p:nvSpPr>
          <p:cNvPr id="16" name="TextBox 16"/>
          <p:cNvSpPr txBox="1"/>
          <p:nvPr/>
        </p:nvSpPr>
        <p:spPr>
          <a:xfrm>
            <a:off x="2037159" y="5164036"/>
            <a:ext cx="2824162"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Easy Testing</a:t>
            </a:r>
          </a:p>
        </p:txBody>
      </p:sp>
      <p:sp>
        <p:nvSpPr>
          <p:cNvPr id="17" name="TextBox 17"/>
          <p:cNvSpPr txBox="1"/>
          <p:nvPr/>
        </p:nvSpPr>
        <p:spPr>
          <a:xfrm>
            <a:off x="2037159" y="5677938"/>
            <a:ext cx="6831063" cy="687591"/>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Inject mock repositories in unit tests. No Spring context needed — fast, isolated, reliable test suites.</a:t>
            </a:r>
          </a:p>
        </p:txBody>
      </p:sp>
      <p:grpSp>
        <p:nvGrpSpPr>
          <p:cNvPr id="18" name="Group 18"/>
          <p:cNvGrpSpPr/>
          <p:nvPr/>
        </p:nvGrpSpPr>
        <p:grpSpPr>
          <a:xfrm>
            <a:off x="1348978" y="6725545"/>
            <a:ext cx="508244" cy="508244"/>
            <a:chOff x="0" y="0"/>
            <a:chExt cx="677659" cy="677659"/>
          </a:xfrm>
        </p:grpSpPr>
        <p:sp>
          <p:nvSpPr>
            <p:cNvPr id="19" name="Freeform 19"/>
            <p:cNvSpPr/>
            <p:nvPr/>
          </p:nvSpPr>
          <p:spPr>
            <a:xfrm>
              <a:off x="0" y="0"/>
              <a:ext cx="677672" cy="677672"/>
            </a:xfrm>
            <a:custGeom>
              <a:avLst/>
              <a:gdLst/>
              <a:ahLst/>
              <a:cxnLst/>
              <a:rect l="l" t="t" r="r" b="b"/>
              <a:pathLst>
                <a:path w="677672" h="677672">
                  <a:moveTo>
                    <a:pt x="0" y="45212"/>
                  </a:moveTo>
                  <a:cubicBezTo>
                    <a:pt x="0" y="20193"/>
                    <a:pt x="20193" y="0"/>
                    <a:pt x="45212" y="0"/>
                  </a:cubicBezTo>
                  <a:lnTo>
                    <a:pt x="632460" y="0"/>
                  </a:lnTo>
                  <a:cubicBezTo>
                    <a:pt x="657479" y="0"/>
                    <a:pt x="677672" y="20193"/>
                    <a:pt x="677672" y="45212"/>
                  </a:cubicBezTo>
                  <a:lnTo>
                    <a:pt x="677672" y="632460"/>
                  </a:lnTo>
                  <a:cubicBezTo>
                    <a:pt x="677672" y="657479"/>
                    <a:pt x="657479" y="677672"/>
                    <a:pt x="632460" y="677672"/>
                  </a:cubicBezTo>
                  <a:lnTo>
                    <a:pt x="45212" y="677672"/>
                  </a:lnTo>
                  <a:cubicBezTo>
                    <a:pt x="20193" y="677672"/>
                    <a:pt x="0" y="657479"/>
                    <a:pt x="0" y="632460"/>
                  </a:cubicBezTo>
                  <a:close/>
                </a:path>
              </a:pathLst>
            </a:custGeom>
            <a:solidFill>
              <a:srgbClr val="3F4652"/>
            </a:solidFill>
          </p:spPr>
        </p:sp>
      </p:grpSp>
      <p:sp>
        <p:nvSpPr>
          <p:cNvPr id="20" name="TextBox 20"/>
          <p:cNvSpPr txBox="1"/>
          <p:nvPr/>
        </p:nvSpPr>
        <p:spPr>
          <a:xfrm>
            <a:off x="1433589" y="6815433"/>
            <a:ext cx="338880" cy="375942"/>
          </a:xfrm>
          <a:prstGeom prst="rect">
            <a:avLst/>
          </a:prstGeom>
        </p:spPr>
        <p:txBody>
          <a:bodyPr lIns="0" tIns="0" rIns="0" bIns="0" rtlCol="0" anchor="t">
            <a:spAutoFit/>
          </a:bodyPr>
          <a:lstStyle/>
          <a:p>
            <a:pPr algn="ctr">
              <a:lnSpc>
                <a:spcPts val="2625"/>
              </a:lnSpc>
            </a:pPr>
            <a:r>
              <a:rPr lang="en-US" sz="2625">
                <a:solidFill>
                  <a:srgbClr val="D6E5EF"/>
                </a:solidFill>
                <a:latin typeface="Roboto Slab"/>
                <a:ea typeface="Roboto Slab"/>
                <a:cs typeface="Roboto Slab"/>
                <a:sym typeface="Roboto Slab"/>
              </a:rPr>
              <a:t>3</a:t>
            </a:r>
          </a:p>
        </p:txBody>
      </p:sp>
      <p:sp>
        <p:nvSpPr>
          <p:cNvPr id="21" name="TextBox 21"/>
          <p:cNvSpPr txBox="1"/>
          <p:nvPr/>
        </p:nvSpPr>
        <p:spPr>
          <a:xfrm>
            <a:off x="2037159" y="6784029"/>
            <a:ext cx="2852585"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Scalable Architecture</a:t>
            </a:r>
          </a:p>
        </p:txBody>
      </p:sp>
      <p:sp>
        <p:nvSpPr>
          <p:cNvPr id="22" name="TextBox 22"/>
          <p:cNvSpPr txBox="1"/>
          <p:nvPr/>
        </p:nvSpPr>
        <p:spPr>
          <a:xfrm>
            <a:off x="2037159" y="7297941"/>
            <a:ext cx="6831063" cy="1012327"/>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IoC and DI are the foundation of Finsight's layered design — Controller → Service → Repository — each layer independently maintainable.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grpSp>
        <p:nvGrpSpPr>
          <p:cNvPr id="10" name="Group 10"/>
          <p:cNvGrpSpPr/>
          <p:nvPr/>
        </p:nvGrpSpPr>
        <p:grpSpPr>
          <a:xfrm>
            <a:off x="992238" y="3711178"/>
            <a:ext cx="3536004" cy="532809"/>
            <a:chOff x="0" y="0"/>
            <a:chExt cx="4714672" cy="710413"/>
          </a:xfrm>
        </p:grpSpPr>
        <p:sp>
          <p:nvSpPr>
            <p:cNvPr id="11" name="Freeform 11"/>
            <p:cNvSpPr/>
            <p:nvPr/>
          </p:nvSpPr>
          <p:spPr>
            <a:xfrm>
              <a:off x="0" y="0"/>
              <a:ext cx="4714621" cy="710438"/>
            </a:xfrm>
            <a:custGeom>
              <a:avLst/>
              <a:gdLst/>
              <a:ahLst/>
              <a:cxnLst/>
              <a:rect l="l" t="t" r="r" b="b"/>
              <a:pathLst>
                <a:path w="4714621" h="710438">
                  <a:moveTo>
                    <a:pt x="0" y="45339"/>
                  </a:moveTo>
                  <a:cubicBezTo>
                    <a:pt x="0" y="20320"/>
                    <a:pt x="20320" y="0"/>
                    <a:pt x="45339" y="0"/>
                  </a:cubicBezTo>
                  <a:lnTo>
                    <a:pt x="4669282" y="0"/>
                  </a:lnTo>
                  <a:cubicBezTo>
                    <a:pt x="4694301" y="0"/>
                    <a:pt x="4714621" y="20320"/>
                    <a:pt x="4714621" y="45339"/>
                  </a:cubicBezTo>
                  <a:lnTo>
                    <a:pt x="4714621" y="665099"/>
                  </a:lnTo>
                  <a:cubicBezTo>
                    <a:pt x="4714621" y="690118"/>
                    <a:pt x="4694301" y="710438"/>
                    <a:pt x="4669282" y="710438"/>
                  </a:cubicBezTo>
                  <a:lnTo>
                    <a:pt x="45339" y="710438"/>
                  </a:lnTo>
                  <a:cubicBezTo>
                    <a:pt x="20320" y="710438"/>
                    <a:pt x="0" y="690118"/>
                    <a:pt x="0" y="665099"/>
                  </a:cubicBezTo>
                  <a:close/>
                </a:path>
              </a:pathLst>
            </a:custGeom>
            <a:solidFill>
              <a:srgbClr val="082545"/>
            </a:solidFill>
          </p:spPr>
        </p:sp>
      </p:grpSp>
      <p:sp>
        <p:nvSpPr>
          <p:cNvPr id="12" name="TextBox 12"/>
          <p:cNvSpPr txBox="1"/>
          <p:nvPr/>
        </p:nvSpPr>
        <p:spPr>
          <a:xfrm>
            <a:off x="1162345" y="3719960"/>
            <a:ext cx="3195790" cy="439045"/>
          </a:xfrm>
          <a:prstGeom prst="rect">
            <a:avLst/>
          </a:prstGeom>
        </p:spPr>
        <p:txBody>
          <a:bodyPr lIns="0" tIns="0" rIns="0" bIns="0" rtlCol="0" anchor="t">
            <a:spAutoFit/>
          </a:bodyPr>
          <a:lstStyle/>
          <a:p>
            <a:pPr algn="l">
              <a:lnSpc>
                <a:spcPts val="2812"/>
              </a:lnSpc>
            </a:pPr>
            <a:r>
              <a:rPr lang="en-US" sz="1750">
                <a:solidFill>
                  <a:srgbClr val="D6E5EF"/>
                </a:solidFill>
                <a:latin typeface="Roboto"/>
                <a:ea typeface="Roboto"/>
                <a:cs typeface="Roboto"/>
                <a:sym typeface="Roboto"/>
              </a:rPr>
              <a:t>FINSIGHT — MONEY MANAGER</a:t>
            </a:r>
          </a:p>
        </p:txBody>
      </p:sp>
      <p:sp>
        <p:nvSpPr>
          <p:cNvPr id="13" name="TextBox 13"/>
          <p:cNvSpPr txBox="1"/>
          <p:nvPr/>
        </p:nvSpPr>
        <p:spPr>
          <a:xfrm>
            <a:off x="992238" y="4338342"/>
            <a:ext cx="7088238"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Layered Architecture</a:t>
            </a:r>
          </a:p>
        </p:txBody>
      </p:sp>
      <p:sp>
        <p:nvSpPr>
          <p:cNvPr id="14" name="TextBox 14"/>
          <p:cNvSpPr txBox="1"/>
          <p:nvPr/>
        </p:nvSpPr>
        <p:spPr>
          <a:xfrm>
            <a:off x="992238" y="5573316"/>
            <a:ext cx="9445523" cy="1339726"/>
          </a:xfrm>
          <a:prstGeom prst="rect">
            <a:avLst/>
          </a:prstGeom>
        </p:spPr>
        <p:txBody>
          <a:bodyPr lIns="0" tIns="0" rIns="0" bIns="0" rtlCol="0" anchor="t">
            <a:spAutoFit/>
          </a:bodyPr>
          <a:lstStyle/>
          <a:p>
            <a:pPr algn="l">
              <a:lnSpc>
                <a:spcPts val="3562"/>
              </a:lnSpc>
            </a:pPr>
            <a:endParaRPr lang="en-US" sz="2187" dirty="0">
              <a:solidFill>
                <a:srgbClr val="D6E5EF"/>
              </a:solidFill>
              <a:latin typeface="Roboto"/>
              <a:ea typeface="Roboto"/>
              <a:cs typeface="Roboto"/>
              <a:sym typeface="Roboto"/>
            </a:endParaRPr>
          </a:p>
          <a:p>
            <a:pPr algn="l">
              <a:lnSpc>
                <a:spcPts val="3562"/>
              </a:lnSpc>
            </a:pPr>
            <a:r>
              <a:rPr lang="en-US" sz="2187" dirty="0">
                <a:solidFill>
                  <a:srgbClr val="D6E5EF"/>
                </a:solidFill>
                <a:latin typeface="Roboto"/>
                <a:ea typeface="Roboto"/>
                <a:cs typeface="Roboto"/>
                <a:sym typeface="Roboto"/>
              </a:rPr>
              <a:t>A clean separation of concerns — from HTTP request to database response — built with Spring Boot best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868261" y="787003"/>
            <a:ext cx="8738149" cy="784622"/>
          </a:xfrm>
          <a:prstGeom prst="rect">
            <a:avLst/>
          </a:prstGeom>
        </p:spPr>
        <p:txBody>
          <a:bodyPr lIns="0" tIns="0" rIns="0" bIns="0" rtlCol="0" anchor="t">
            <a:spAutoFit/>
          </a:bodyPr>
          <a:lstStyle/>
          <a:p>
            <a:pPr algn="l">
              <a:lnSpc>
                <a:spcPts val="6062"/>
              </a:lnSpc>
            </a:pPr>
            <a:r>
              <a:rPr lang="en-US" sz="4875">
                <a:solidFill>
                  <a:srgbClr val="76B9FF"/>
                </a:solidFill>
                <a:latin typeface="Roboto Slab"/>
                <a:ea typeface="Roboto Slab"/>
                <a:cs typeface="Roboto Slab"/>
                <a:sym typeface="Roboto Slab"/>
              </a:rPr>
              <a:t>The Three-Layer Architecture</a:t>
            </a:r>
          </a:p>
        </p:txBody>
      </p:sp>
      <p:sp>
        <p:nvSpPr>
          <p:cNvPr id="7" name="TextBox 7"/>
          <p:cNvSpPr txBox="1"/>
          <p:nvPr/>
        </p:nvSpPr>
        <p:spPr>
          <a:xfrm>
            <a:off x="868261" y="1939080"/>
            <a:ext cx="16551478" cy="712952"/>
          </a:xfrm>
          <a:prstGeom prst="rect">
            <a:avLst/>
          </a:prstGeom>
        </p:spPr>
        <p:txBody>
          <a:bodyPr lIns="0" tIns="0" rIns="0" bIns="0" rtlCol="0" anchor="t">
            <a:spAutoFit/>
          </a:bodyPr>
          <a:lstStyle/>
          <a:p>
            <a:pPr algn="l">
              <a:lnSpc>
                <a:spcPts val="2874"/>
              </a:lnSpc>
            </a:pPr>
            <a:endParaRPr lang="en-US" sz="1937" dirty="0">
              <a:solidFill>
                <a:srgbClr val="D6E5EF"/>
              </a:solidFill>
              <a:latin typeface="Roboto"/>
              <a:ea typeface="Roboto"/>
              <a:cs typeface="Roboto"/>
              <a:sym typeface="Roboto"/>
            </a:endParaRPr>
          </a:p>
          <a:p>
            <a:pPr algn="l">
              <a:lnSpc>
                <a:spcPts val="2874"/>
              </a:lnSpc>
            </a:pPr>
            <a:r>
              <a:rPr lang="en-US" sz="1937" dirty="0">
                <a:solidFill>
                  <a:srgbClr val="D6E5EF"/>
                </a:solidFill>
                <a:latin typeface="Roboto"/>
                <a:ea typeface="Roboto"/>
                <a:cs typeface="Roboto"/>
                <a:sym typeface="Roboto"/>
              </a:rPr>
              <a:t>Our application is structured into three distinct layers, each with specific responsibilities, ensuring clear separation of concerns and efficient data flow.</a:t>
            </a:r>
          </a:p>
        </p:txBody>
      </p:sp>
      <p:grpSp>
        <p:nvGrpSpPr>
          <p:cNvPr id="8" name="Group 8"/>
          <p:cNvGrpSpPr/>
          <p:nvPr/>
        </p:nvGrpSpPr>
        <p:grpSpPr>
          <a:xfrm>
            <a:off x="898769" y="2621909"/>
            <a:ext cx="16490452" cy="6252267"/>
            <a:chOff x="0" y="0"/>
            <a:chExt cx="21987269" cy="8336356"/>
          </a:xfrm>
        </p:grpSpPr>
        <p:sp>
          <p:nvSpPr>
            <p:cNvPr id="9" name="Freeform 9" descr="preencoded.png"/>
            <p:cNvSpPr/>
            <p:nvPr/>
          </p:nvSpPr>
          <p:spPr>
            <a:xfrm>
              <a:off x="0" y="0"/>
              <a:ext cx="21987256" cy="8336407"/>
            </a:xfrm>
            <a:custGeom>
              <a:avLst/>
              <a:gdLst/>
              <a:ahLst/>
              <a:cxnLst/>
              <a:rect l="l" t="t" r="r" b="b"/>
              <a:pathLst>
                <a:path w="21987256" h="8336407">
                  <a:moveTo>
                    <a:pt x="0" y="0"/>
                  </a:moveTo>
                  <a:lnTo>
                    <a:pt x="21987256" y="0"/>
                  </a:lnTo>
                  <a:lnTo>
                    <a:pt x="21987256" y="8336407"/>
                  </a:lnTo>
                  <a:lnTo>
                    <a:pt x="0" y="8336407"/>
                  </a:lnTo>
                  <a:lnTo>
                    <a:pt x="0" y="0"/>
                  </a:lnTo>
                  <a:close/>
                </a:path>
              </a:pathLst>
            </a:custGeom>
            <a:blipFill>
              <a:blip r:embed="rId3"/>
              <a:stretch>
                <a:fillRect l="-22" r="-22"/>
              </a:stretch>
            </a:blipFill>
          </p:spPr>
        </p:sp>
      </p:grpSp>
      <p:sp>
        <p:nvSpPr>
          <p:cNvPr id="10" name="TextBox 10"/>
          <p:cNvSpPr txBox="1"/>
          <p:nvPr/>
        </p:nvSpPr>
        <p:spPr>
          <a:xfrm>
            <a:off x="1505626" y="6309408"/>
            <a:ext cx="3724008" cy="484556"/>
          </a:xfrm>
          <a:prstGeom prst="rect">
            <a:avLst/>
          </a:prstGeom>
        </p:spPr>
        <p:txBody>
          <a:bodyPr lIns="0" tIns="0" rIns="0" bIns="0" rtlCol="0" anchor="t">
            <a:spAutoFit/>
          </a:bodyPr>
          <a:lstStyle/>
          <a:p>
            <a:pPr algn="r">
              <a:lnSpc>
                <a:spcPts val="3625"/>
              </a:lnSpc>
            </a:pPr>
            <a:r>
              <a:rPr lang="en-US" sz="2874">
                <a:solidFill>
                  <a:srgbClr val="D6E5EF"/>
                </a:solidFill>
                <a:latin typeface="Roboto Slab"/>
                <a:ea typeface="Roboto Slab"/>
                <a:cs typeface="Roboto Slab"/>
                <a:sym typeface="Roboto Slab"/>
              </a:rPr>
              <a:t>Controller</a:t>
            </a:r>
          </a:p>
        </p:txBody>
      </p:sp>
      <p:sp>
        <p:nvSpPr>
          <p:cNvPr id="11" name="TextBox 11"/>
          <p:cNvSpPr txBox="1"/>
          <p:nvPr/>
        </p:nvSpPr>
        <p:spPr>
          <a:xfrm>
            <a:off x="1290457" y="6926370"/>
            <a:ext cx="3939178" cy="698249"/>
          </a:xfrm>
          <a:prstGeom prst="rect">
            <a:avLst/>
          </a:prstGeom>
        </p:spPr>
        <p:txBody>
          <a:bodyPr lIns="0" tIns="0" rIns="0" bIns="0" rtlCol="0" anchor="t">
            <a:spAutoFit/>
          </a:bodyPr>
          <a:lstStyle/>
          <a:p>
            <a:pPr algn="r">
              <a:lnSpc>
                <a:spcPts val="2687"/>
              </a:lnSpc>
            </a:pPr>
            <a:r>
              <a:rPr lang="en-US" sz="2312">
                <a:solidFill>
                  <a:srgbClr val="D6E5EF"/>
                </a:solidFill>
                <a:latin typeface="Roboto"/>
                <a:ea typeface="Roboto"/>
                <a:cs typeface="Roboto"/>
                <a:sym typeface="Roboto"/>
              </a:rPr>
              <a:t>Handle requests and orchestrate responses.</a:t>
            </a:r>
          </a:p>
        </p:txBody>
      </p:sp>
      <p:sp>
        <p:nvSpPr>
          <p:cNvPr id="12" name="TextBox 12"/>
          <p:cNvSpPr txBox="1"/>
          <p:nvPr/>
        </p:nvSpPr>
        <p:spPr>
          <a:xfrm>
            <a:off x="13058337" y="4952209"/>
            <a:ext cx="3724008" cy="484556"/>
          </a:xfrm>
          <a:prstGeom prst="rect">
            <a:avLst/>
          </a:prstGeom>
        </p:spPr>
        <p:txBody>
          <a:bodyPr lIns="0" tIns="0" rIns="0" bIns="0" rtlCol="0" anchor="t">
            <a:spAutoFit/>
          </a:bodyPr>
          <a:lstStyle/>
          <a:p>
            <a:pPr algn="l">
              <a:lnSpc>
                <a:spcPts val="3625"/>
              </a:lnSpc>
            </a:pPr>
            <a:r>
              <a:rPr lang="en-US" sz="2874">
                <a:solidFill>
                  <a:srgbClr val="D6E5EF"/>
                </a:solidFill>
                <a:latin typeface="Roboto Slab"/>
                <a:ea typeface="Roboto Slab"/>
                <a:cs typeface="Roboto Slab"/>
                <a:sym typeface="Roboto Slab"/>
              </a:rPr>
              <a:t>Service</a:t>
            </a:r>
          </a:p>
        </p:txBody>
      </p:sp>
      <p:sp>
        <p:nvSpPr>
          <p:cNvPr id="13" name="TextBox 13"/>
          <p:cNvSpPr txBox="1"/>
          <p:nvPr/>
        </p:nvSpPr>
        <p:spPr>
          <a:xfrm>
            <a:off x="13058337" y="5569172"/>
            <a:ext cx="3939178" cy="698249"/>
          </a:xfrm>
          <a:prstGeom prst="rect">
            <a:avLst/>
          </a:prstGeom>
        </p:spPr>
        <p:txBody>
          <a:bodyPr lIns="0" tIns="0" rIns="0" bIns="0" rtlCol="0" anchor="t">
            <a:spAutoFit/>
          </a:bodyPr>
          <a:lstStyle/>
          <a:p>
            <a:pPr algn="l">
              <a:lnSpc>
                <a:spcPts val="2687"/>
              </a:lnSpc>
            </a:pPr>
            <a:r>
              <a:rPr lang="en-US" sz="2312">
                <a:solidFill>
                  <a:srgbClr val="D6E5EF"/>
                </a:solidFill>
                <a:latin typeface="Roboto"/>
                <a:ea typeface="Roboto"/>
                <a:cs typeface="Roboto"/>
                <a:sym typeface="Roboto"/>
              </a:rPr>
              <a:t>Encapsulate business logic and coordinate operations.</a:t>
            </a:r>
          </a:p>
        </p:txBody>
      </p:sp>
      <p:sp>
        <p:nvSpPr>
          <p:cNvPr id="14" name="TextBox 14"/>
          <p:cNvSpPr txBox="1"/>
          <p:nvPr/>
        </p:nvSpPr>
        <p:spPr>
          <a:xfrm>
            <a:off x="1571835" y="3528812"/>
            <a:ext cx="3724008" cy="484556"/>
          </a:xfrm>
          <a:prstGeom prst="rect">
            <a:avLst/>
          </a:prstGeom>
        </p:spPr>
        <p:txBody>
          <a:bodyPr lIns="0" tIns="0" rIns="0" bIns="0" rtlCol="0" anchor="t">
            <a:spAutoFit/>
          </a:bodyPr>
          <a:lstStyle/>
          <a:p>
            <a:pPr algn="r">
              <a:lnSpc>
                <a:spcPts val="3625"/>
              </a:lnSpc>
            </a:pPr>
            <a:r>
              <a:rPr lang="en-US" sz="2874">
                <a:solidFill>
                  <a:srgbClr val="D6E5EF"/>
                </a:solidFill>
                <a:latin typeface="Roboto Slab"/>
                <a:ea typeface="Roboto Slab"/>
                <a:cs typeface="Roboto Slab"/>
                <a:sym typeface="Roboto Slab"/>
              </a:rPr>
              <a:t>Repository</a:t>
            </a:r>
          </a:p>
        </p:txBody>
      </p:sp>
      <p:sp>
        <p:nvSpPr>
          <p:cNvPr id="15" name="TextBox 15"/>
          <p:cNvSpPr txBox="1"/>
          <p:nvPr/>
        </p:nvSpPr>
        <p:spPr>
          <a:xfrm>
            <a:off x="1356665" y="4145775"/>
            <a:ext cx="3939178" cy="698249"/>
          </a:xfrm>
          <a:prstGeom prst="rect">
            <a:avLst/>
          </a:prstGeom>
        </p:spPr>
        <p:txBody>
          <a:bodyPr lIns="0" tIns="0" rIns="0" bIns="0" rtlCol="0" anchor="t">
            <a:spAutoFit/>
          </a:bodyPr>
          <a:lstStyle/>
          <a:p>
            <a:pPr algn="r">
              <a:lnSpc>
                <a:spcPts val="2687"/>
              </a:lnSpc>
            </a:pPr>
            <a:r>
              <a:rPr lang="en-US" sz="2312">
                <a:solidFill>
                  <a:srgbClr val="D6E5EF"/>
                </a:solidFill>
                <a:latin typeface="Roboto"/>
                <a:ea typeface="Roboto"/>
                <a:cs typeface="Roboto"/>
                <a:sym typeface="Roboto"/>
              </a:rPr>
              <a:t>Manage data persistence and retrieval.</a:t>
            </a:r>
          </a:p>
        </p:txBody>
      </p:sp>
      <p:sp>
        <p:nvSpPr>
          <p:cNvPr id="16" name="TextBox 16"/>
          <p:cNvSpPr txBox="1"/>
          <p:nvPr/>
        </p:nvSpPr>
        <p:spPr>
          <a:xfrm>
            <a:off x="868261" y="9051579"/>
            <a:ext cx="16551478" cy="438741"/>
          </a:xfrm>
          <a:prstGeom prst="rect">
            <a:avLst/>
          </a:prstGeom>
        </p:spPr>
        <p:txBody>
          <a:bodyPr lIns="0" tIns="0" rIns="0" bIns="0" rtlCol="0" anchor="t">
            <a:spAutoFit/>
          </a:bodyPr>
          <a:lstStyle/>
          <a:p>
            <a:pPr algn="l">
              <a:lnSpc>
                <a:spcPts val="2874"/>
              </a:lnSpc>
            </a:pPr>
            <a:r>
              <a:rPr lang="en-US" sz="1937">
                <a:solidFill>
                  <a:srgbClr val="D6E5EF"/>
                </a:solidFill>
                <a:latin typeface="Roboto"/>
                <a:ea typeface="Roboto"/>
                <a:cs typeface="Roboto"/>
                <a:sym typeface="Roboto"/>
              </a:rPr>
              <a:t>This architectural pattern simplifies maintenance, promotes reusability, and enhances the overall scalability of the Finsight application.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883739" y="777631"/>
            <a:ext cx="6312989" cy="808139"/>
          </a:xfrm>
          <a:prstGeom prst="rect">
            <a:avLst/>
          </a:prstGeom>
        </p:spPr>
        <p:txBody>
          <a:bodyPr lIns="0" tIns="0" rIns="0" bIns="0" rtlCol="0" anchor="t">
            <a:spAutoFit/>
          </a:bodyPr>
          <a:lstStyle/>
          <a:p>
            <a:pPr algn="l">
              <a:lnSpc>
                <a:spcPts val="6187"/>
              </a:lnSpc>
            </a:pPr>
            <a:r>
              <a:rPr lang="en-US" sz="4937">
                <a:solidFill>
                  <a:srgbClr val="76B9FF"/>
                </a:solidFill>
                <a:latin typeface="Roboto Slab"/>
                <a:ea typeface="Roboto Slab"/>
                <a:cs typeface="Roboto Slab"/>
                <a:sym typeface="Roboto Slab"/>
              </a:rPr>
              <a:t>Controller Layer</a:t>
            </a:r>
          </a:p>
        </p:txBody>
      </p:sp>
      <p:sp>
        <p:nvSpPr>
          <p:cNvPr id="7" name="TextBox 7"/>
          <p:cNvSpPr txBox="1"/>
          <p:nvPr/>
        </p:nvSpPr>
        <p:spPr>
          <a:xfrm>
            <a:off x="883739" y="1949796"/>
            <a:ext cx="16520522" cy="467620"/>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The </a:t>
            </a:r>
            <a:r>
              <a:rPr lang="en-US" sz="1937" b="1">
                <a:solidFill>
                  <a:srgbClr val="D6E5EF"/>
                </a:solidFill>
                <a:latin typeface="Roboto Bold"/>
                <a:ea typeface="Roboto Bold"/>
                <a:cs typeface="Roboto Bold"/>
                <a:sym typeface="Roboto Bold"/>
              </a:rPr>
              <a:t>entry point</a:t>
            </a:r>
            <a:r>
              <a:rPr lang="en-US" sz="1937">
                <a:solidFill>
                  <a:srgbClr val="D6E5EF"/>
                </a:solidFill>
                <a:latin typeface="Roboto"/>
                <a:ea typeface="Roboto"/>
                <a:cs typeface="Roboto"/>
                <a:sym typeface="Roboto"/>
              </a:rPr>
              <a:t> of every API call. Controllers handle HTTP requests, validate input format, and delegate processing to the Service layer.</a:t>
            </a:r>
          </a:p>
        </p:txBody>
      </p:sp>
      <p:grpSp>
        <p:nvGrpSpPr>
          <p:cNvPr id="8" name="Group 8"/>
          <p:cNvGrpSpPr/>
          <p:nvPr/>
        </p:nvGrpSpPr>
        <p:grpSpPr>
          <a:xfrm>
            <a:off x="869452" y="2909145"/>
            <a:ext cx="7980759" cy="1983286"/>
            <a:chOff x="0" y="0"/>
            <a:chExt cx="10641012" cy="2644381"/>
          </a:xfrm>
        </p:grpSpPr>
        <p:sp>
          <p:nvSpPr>
            <p:cNvPr id="9" name="Freeform 9"/>
            <p:cNvSpPr/>
            <p:nvPr/>
          </p:nvSpPr>
          <p:spPr>
            <a:xfrm>
              <a:off x="19050" y="19050"/>
              <a:ext cx="10602976" cy="2606294"/>
            </a:xfrm>
            <a:custGeom>
              <a:avLst/>
              <a:gdLst/>
              <a:ahLst/>
              <a:cxnLst/>
              <a:rect l="l" t="t" r="r" b="b"/>
              <a:pathLst>
                <a:path w="10602976" h="2606294">
                  <a:moveTo>
                    <a:pt x="0" y="182880"/>
                  </a:moveTo>
                  <a:cubicBezTo>
                    <a:pt x="0" y="81915"/>
                    <a:pt x="82804" y="0"/>
                    <a:pt x="184912" y="0"/>
                  </a:cubicBezTo>
                  <a:lnTo>
                    <a:pt x="10418064" y="0"/>
                  </a:lnTo>
                  <a:cubicBezTo>
                    <a:pt x="10520172" y="0"/>
                    <a:pt x="10602976" y="81915"/>
                    <a:pt x="10602976" y="182880"/>
                  </a:cubicBezTo>
                  <a:lnTo>
                    <a:pt x="10602976" y="2423414"/>
                  </a:lnTo>
                  <a:cubicBezTo>
                    <a:pt x="10602976" y="2524379"/>
                    <a:pt x="10520172" y="2606294"/>
                    <a:pt x="10418064" y="2606294"/>
                  </a:cubicBezTo>
                  <a:lnTo>
                    <a:pt x="184912" y="2606294"/>
                  </a:lnTo>
                  <a:cubicBezTo>
                    <a:pt x="82804" y="2606294"/>
                    <a:pt x="0" y="2524379"/>
                    <a:pt x="0" y="2423414"/>
                  </a:cubicBezTo>
                  <a:close/>
                </a:path>
              </a:pathLst>
            </a:custGeom>
            <a:solidFill>
              <a:srgbClr val="202733"/>
            </a:solidFill>
          </p:spPr>
        </p:sp>
        <p:sp>
          <p:nvSpPr>
            <p:cNvPr id="10" name="Freeform 10"/>
            <p:cNvSpPr/>
            <p:nvPr/>
          </p:nvSpPr>
          <p:spPr>
            <a:xfrm>
              <a:off x="0" y="0"/>
              <a:ext cx="10641076" cy="2644394"/>
            </a:xfrm>
            <a:custGeom>
              <a:avLst/>
              <a:gdLst/>
              <a:ahLst/>
              <a:cxnLst/>
              <a:rect l="l" t="t" r="r" b="b"/>
              <a:pathLst>
                <a:path w="10641076" h="2644394">
                  <a:moveTo>
                    <a:pt x="0" y="201930"/>
                  </a:moveTo>
                  <a:cubicBezTo>
                    <a:pt x="0" y="90170"/>
                    <a:pt x="91567" y="0"/>
                    <a:pt x="203962" y="0"/>
                  </a:cubicBezTo>
                  <a:lnTo>
                    <a:pt x="10437114" y="0"/>
                  </a:lnTo>
                  <a:lnTo>
                    <a:pt x="10437114" y="19050"/>
                  </a:lnTo>
                  <a:lnTo>
                    <a:pt x="10437114" y="0"/>
                  </a:lnTo>
                  <a:cubicBezTo>
                    <a:pt x="10549509" y="0"/>
                    <a:pt x="10641076" y="90170"/>
                    <a:pt x="10641076" y="201930"/>
                  </a:cubicBezTo>
                  <a:lnTo>
                    <a:pt x="10622026" y="201930"/>
                  </a:lnTo>
                  <a:lnTo>
                    <a:pt x="10641076" y="201930"/>
                  </a:lnTo>
                  <a:lnTo>
                    <a:pt x="10641076" y="2442464"/>
                  </a:lnTo>
                  <a:lnTo>
                    <a:pt x="10622026" y="2442464"/>
                  </a:lnTo>
                  <a:lnTo>
                    <a:pt x="10641076" y="2442464"/>
                  </a:lnTo>
                  <a:cubicBezTo>
                    <a:pt x="10641076" y="2554224"/>
                    <a:pt x="10549509" y="2644394"/>
                    <a:pt x="10437114" y="2644394"/>
                  </a:cubicBezTo>
                  <a:lnTo>
                    <a:pt x="10437114" y="2625344"/>
                  </a:lnTo>
                  <a:lnTo>
                    <a:pt x="10437114" y="2644394"/>
                  </a:lnTo>
                  <a:lnTo>
                    <a:pt x="203962" y="2644394"/>
                  </a:lnTo>
                  <a:lnTo>
                    <a:pt x="203962" y="2625344"/>
                  </a:lnTo>
                  <a:lnTo>
                    <a:pt x="203962" y="2644394"/>
                  </a:lnTo>
                  <a:cubicBezTo>
                    <a:pt x="91567" y="2644394"/>
                    <a:pt x="0" y="2554224"/>
                    <a:pt x="0" y="2442464"/>
                  </a:cubicBezTo>
                  <a:lnTo>
                    <a:pt x="0" y="201930"/>
                  </a:lnTo>
                  <a:lnTo>
                    <a:pt x="19050" y="201930"/>
                  </a:lnTo>
                  <a:lnTo>
                    <a:pt x="0" y="201930"/>
                  </a:lnTo>
                  <a:moveTo>
                    <a:pt x="38100" y="201930"/>
                  </a:moveTo>
                  <a:lnTo>
                    <a:pt x="38100" y="2442464"/>
                  </a:lnTo>
                  <a:lnTo>
                    <a:pt x="19050" y="2442464"/>
                  </a:lnTo>
                  <a:lnTo>
                    <a:pt x="38100" y="2442464"/>
                  </a:lnTo>
                  <a:cubicBezTo>
                    <a:pt x="38100" y="2532761"/>
                    <a:pt x="112141" y="2606294"/>
                    <a:pt x="203962" y="2606294"/>
                  </a:cubicBezTo>
                  <a:lnTo>
                    <a:pt x="10437114" y="2606294"/>
                  </a:lnTo>
                  <a:cubicBezTo>
                    <a:pt x="10528935" y="2606294"/>
                    <a:pt x="10602976" y="2532761"/>
                    <a:pt x="10602976" y="2442464"/>
                  </a:cubicBezTo>
                  <a:lnTo>
                    <a:pt x="10602976" y="201930"/>
                  </a:lnTo>
                  <a:cubicBezTo>
                    <a:pt x="10602976" y="111633"/>
                    <a:pt x="10528935" y="38100"/>
                    <a:pt x="10437114" y="38100"/>
                  </a:cubicBezTo>
                  <a:lnTo>
                    <a:pt x="203962" y="38100"/>
                  </a:lnTo>
                  <a:lnTo>
                    <a:pt x="203962" y="19050"/>
                  </a:lnTo>
                  <a:lnTo>
                    <a:pt x="203962" y="38100"/>
                  </a:lnTo>
                  <a:cubicBezTo>
                    <a:pt x="112141" y="38100"/>
                    <a:pt x="38100" y="111633"/>
                    <a:pt x="38100" y="201930"/>
                  </a:cubicBezTo>
                  <a:close/>
                </a:path>
              </a:pathLst>
            </a:custGeom>
            <a:solidFill>
              <a:srgbClr val="585F6B"/>
            </a:solidFill>
          </p:spPr>
        </p:sp>
      </p:grpSp>
      <p:grpSp>
        <p:nvGrpSpPr>
          <p:cNvPr id="11" name="Group 11"/>
          <p:cNvGrpSpPr/>
          <p:nvPr/>
        </p:nvGrpSpPr>
        <p:grpSpPr>
          <a:xfrm>
            <a:off x="855164" y="2923432"/>
            <a:ext cx="114300" cy="1954711"/>
            <a:chOff x="0" y="0"/>
            <a:chExt cx="152400" cy="2606281"/>
          </a:xfrm>
        </p:grpSpPr>
        <p:sp>
          <p:nvSpPr>
            <p:cNvPr id="12" name="Freeform 12" descr="preencoded.png"/>
            <p:cNvSpPr/>
            <p:nvPr/>
          </p:nvSpPr>
          <p:spPr>
            <a:xfrm>
              <a:off x="0" y="0"/>
              <a:ext cx="152400" cy="2606294"/>
            </a:xfrm>
            <a:custGeom>
              <a:avLst/>
              <a:gdLst/>
              <a:ahLst/>
              <a:cxnLst/>
              <a:rect l="l" t="t" r="r" b="b"/>
              <a:pathLst>
                <a:path w="152400" h="2606294">
                  <a:moveTo>
                    <a:pt x="0" y="0"/>
                  </a:moveTo>
                  <a:lnTo>
                    <a:pt x="152400" y="0"/>
                  </a:lnTo>
                  <a:lnTo>
                    <a:pt x="152400" y="2606294"/>
                  </a:lnTo>
                  <a:lnTo>
                    <a:pt x="0" y="2606294"/>
                  </a:lnTo>
                  <a:lnTo>
                    <a:pt x="0" y="0"/>
                  </a:lnTo>
                  <a:close/>
                </a:path>
              </a:pathLst>
            </a:custGeom>
            <a:blipFill>
              <a:blip r:embed="rId3"/>
              <a:stretch>
                <a:fillRect l="-50" r="-58"/>
              </a:stretch>
            </a:blipFill>
          </p:spPr>
        </p:sp>
      </p:grpSp>
      <p:sp>
        <p:nvSpPr>
          <p:cNvPr id="13" name="TextBox 13"/>
          <p:cNvSpPr txBox="1"/>
          <p:nvPr/>
        </p:nvSpPr>
        <p:spPr>
          <a:xfrm>
            <a:off x="1250452" y="3194895"/>
            <a:ext cx="3156499"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@RestController</a:t>
            </a:r>
          </a:p>
        </p:txBody>
      </p:sp>
      <p:sp>
        <p:nvSpPr>
          <p:cNvPr id="14" name="TextBox 14"/>
          <p:cNvSpPr txBox="1"/>
          <p:nvPr/>
        </p:nvSpPr>
        <p:spPr>
          <a:xfrm>
            <a:off x="1250452" y="3738115"/>
            <a:ext cx="7304484" cy="859041"/>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Marks the class as a REST API endpoint — combines @Controller and @ResponseBody.</a:t>
            </a:r>
          </a:p>
        </p:txBody>
      </p:sp>
      <p:grpSp>
        <p:nvGrpSpPr>
          <p:cNvPr id="15" name="Group 15"/>
          <p:cNvGrpSpPr/>
          <p:nvPr/>
        </p:nvGrpSpPr>
        <p:grpSpPr>
          <a:xfrm>
            <a:off x="869452" y="5088731"/>
            <a:ext cx="7980759" cy="1983286"/>
            <a:chOff x="0" y="0"/>
            <a:chExt cx="10641012" cy="2644381"/>
          </a:xfrm>
        </p:grpSpPr>
        <p:sp>
          <p:nvSpPr>
            <p:cNvPr id="16" name="Freeform 16"/>
            <p:cNvSpPr/>
            <p:nvPr/>
          </p:nvSpPr>
          <p:spPr>
            <a:xfrm>
              <a:off x="19050" y="19050"/>
              <a:ext cx="10602976" cy="2606294"/>
            </a:xfrm>
            <a:custGeom>
              <a:avLst/>
              <a:gdLst/>
              <a:ahLst/>
              <a:cxnLst/>
              <a:rect l="l" t="t" r="r" b="b"/>
              <a:pathLst>
                <a:path w="10602976" h="2606294">
                  <a:moveTo>
                    <a:pt x="0" y="182880"/>
                  </a:moveTo>
                  <a:cubicBezTo>
                    <a:pt x="0" y="81915"/>
                    <a:pt x="82804" y="0"/>
                    <a:pt x="184912" y="0"/>
                  </a:cubicBezTo>
                  <a:lnTo>
                    <a:pt x="10418064" y="0"/>
                  </a:lnTo>
                  <a:cubicBezTo>
                    <a:pt x="10520172" y="0"/>
                    <a:pt x="10602976" y="81915"/>
                    <a:pt x="10602976" y="182880"/>
                  </a:cubicBezTo>
                  <a:lnTo>
                    <a:pt x="10602976" y="2423414"/>
                  </a:lnTo>
                  <a:cubicBezTo>
                    <a:pt x="10602976" y="2524379"/>
                    <a:pt x="10520172" y="2606294"/>
                    <a:pt x="10418064" y="2606294"/>
                  </a:cubicBezTo>
                  <a:lnTo>
                    <a:pt x="184912" y="2606294"/>
                  </a:lnTo>
                  <a:cubicBezTo>
                    <a:pt x="82804" y="2606294"/>
                    <a:pt x="0" y="2524379"/>
                    <a:pt x="0" y="2423414"/>
                  </a:cubicBezTo>
                  <a:close/>
                </a:path>
              </a:pathLst>
            </a:custGeom>
            <a:solidFill>
              <a:srgbClr val="202733"/>
            </a:solidFill>
          </p:spPr>
        </p:sp>
        <p:sp>
          <p:nvSpPr>
            <p:cNvPr id="17" name="Freeform 17"/>
            <p:cNvSpPr/>
            <p:nvPr/>
          </p:nvSpPr>
          <p:spPr>
            <a:xfrm>
              <a:off x="0" y="0"/>
              <a:ext cx="10641076" cy="2644394"/>
            </a:xfrm>
            <a:custGeom>
              <a:avLst/>
              <a:gdLst/>
              <a:ahLst/>
              <a:cxnLst/>
              <a:rect l="l" t="t" r="r" b="b"/>
              <a:pathLst>
                <a:path w="10641076" h="2644394">
                  <a:moveTo>
                    <a:pt x="0" y="201930"/>
                  </a:moveTo>
                  <a:cubicBezTo>
                    <a:pt x="0" y="90170"/>
                    <a:pt x="91567" y="0"/>
                    <a:pt x="203962" y="0"/>
                  </a:cubicBezTo>
                  <a:lnTo>
                    <a:pt x="10437114" y="0"/>
                  </a:lnTo>
                  <a:lnTo>
                    <a:pt x="10437114" y="19050"/>
                  </a:lnTo>
                  <a:lnTo>
                    <a:pt x="10437114" y="0"/>
                  </a:lnTo>
                  <a:cubicBezTo>
                    <a:pt x="10549509" y="0"/>
                    <a:pt x="10641076" y="90170"/>
                    <a:pt x="10641076" y="201930"/>
                  </a:cubicBezTo>
                  <a:lnTo>
                    <a:pt x="10622026" y="201930"/>
                  </a:lnTo>
                  <a:lnTo>
                    <a:pt x="10641076" y="201930"/>
                  </a:lnTo>
                  <a:lnTo>
                    <a:pt x="10641076" y="2442464"/>
                  </a:lnTo>
                  <a:lnTo>
                    <a:pt x="10622026" y="2442464"/>
                  </a:lnTo>
                  <a:lnTo>
                    <a:pt x="10641076" y="2442464"/>
                  </a:lnTo>
                  <a:cubicBezTo>
                    <a:pt x="10641076" y="2554224"/>
                    <a:pt x="10549509" y="2644394"/>
                    <a:pt x="10437114" y="2644394"/>
                  </a:cubicBezTo>
                  <a:lnTo>
                    <a:pt x="10437114" y="2625344"/>
                  </a:lnTo>
                  <a:lnTo>
                    <a:pt x="10437114" y="2644394"/>
                  </a:lnTo>
                  <a:lnTo>
                    <a:pt x="203962" y="2644394"/>
                  </a:lnTo>
                  <a:lnTo>
                    <a:pt x="203962" y="2625344"/>
                  </a:lnTo>
                  <a:lnTo>
                    <a:pt x="203962" y="2644394"/>
                  </a:lnTo>
                  <a:cubicBezTo>
                    <a:pt x="91567" y="2644394"/>
                    <a:pt x="0" y="2554224"/>
                    <a:pt x="0" y="2442464"/>
                  </a:cubicBezTo>
                  <a:lnTo>
                    <a:pt x="0" y="201930"/>
                  </a:lnTo>
                  <a:lnTo>
                    <a:pt x="19050" y="201930"/>
                  </a:lnTo>
                  <a:lnTo>
                    <a:pt x="0" y="201930"/>
                  </a:lnTo>
                  <a:moveTo>
                    <a:pt x="38100" y="201930"/>
                  </a:moveTo>
                  <a:lnTo>
                    <a:pt x="38100" y="2442464"/>
                  </a:lnTo>
                  <a:lnTo>
                    <a:pt x="19050" y="2442464"/>
                  </a:lnTo>
                  <a:lnTo>
                    <a:pt x="38100" y="2442464"/>
                  </a:lnTo>
                  <a:cubicBezTo>
                    <a:pt x="38100" y="2532761"/>
                    <a:pt x="112141" y="2606294"/>
                    <a:pt x="203962" y="2606294"/>
                  </a:cubicBezTo>
                  <a:lnTo>
                    <a:pt x="10437114" y="2606294"/>
                  </a:lnTo>
                  <a:cubicBezTo>
                    <a:pt x="10528935" y="2606294"/>
                    <a:pt x="10602976" y="2532761"/>
                    <a:pt x="10602976" y="2442464"/>
                  </a:cubicBezTo>
                  <a:lnTo>
                    <a:pt x="10602976" y="201930"/>
                  </a:lnTo>
                  <a:cubicBezTo>
                    <a:pt x="10602976" y="111633"/>
                    <a:pt x="10528935" y="38100"/>
                    <a:pt x="10437114" y="38100"/>
                  </a:cubicBezTo>
                  <a:lnTo>
                    <a:pt x="203962" y="38100"/>
                  </a:lnTo>
                  <a:lnTo>
                    <a:pt x="203962" y="19050"/>
                  </a:lnTo>
                  <a:lnTo>
                    <a:pt x="203962" y="38100"/>
                  </a:lnTo>
                  <a:cubicBezTo>
                    <a:pt x="112141" y="38100"/>
                    <a:pt x="38100" y="111633"/>
                    <a:pt x="38100" y="201930"/>
                  </a:cubicBezTo>
                  <a:close/>
                </a:path>
              </a:pathLst>
            </a:custGeom>
            <a:solidFill>
              <a:srgbClr val="585F6B"/>
            </a:solidFill>
          </p:spPr>
        </p:sp>
      </p:grpSp>
      <p:grpSp>
        <p:nvGrpSpPr>
          <p:cNvPr id="18" name="Group 18"/>
          <p:cNvGrpSpPr/>
          <p:nvPr/>
        </p:nvGrpSpPr>
        <p:grpSpPr>
          <a:xfrm>
            <a:off x="855164" y="5103019"/>
            <a:ext cx="114300" cy="1954711"/>
            <a:chOff x="0" y="0"/>
            <a:chExt cx="152400" cy="2606281"/>
          </a:xfrm>
        </p:grpSpPr>
        <p:sp>
          <p:nvSpPr>
            <p:cNvPr id="19" name="Freeform 19" descr="preencoded.png"/>
            <p:cNvSpPr/>
            <p:nvPr/>
          </p:nvSpPr>
          <p:spPr>
            <a:xfrm>
              <a:off x="0" y="0"/>
              <a:ext cx="152400" cy="2606294"/>
            </a:xfrm>
            <a:custGeom>
              <a:avLst/>
              <a:gdLst/>
              <a:ahLst/>
              <a:cxnLst/>
              <a:rect l="l" t="t" r="r" b="b"/>
              <a:pathLst>
                <a:path w="152400" h="2606294">
                  <a:moveTo>
                    <a:pt x="0" y="0"/>
                  </a:moveTo>
                  <a:lnTo>
                    <a:pt x="152400" y="0"/>
                  </a:lnTo>
                  <a:lnTo>
                    <a:pt x="152400" y="2606294"/>
                  </a:lnTo>
                  <a:lnTo>
                    <a:pt x="0" y="2606294"/>
                  </a:lnTo>
                  <a:lnTo>
                    <a:pt x="0" y="0"/>
                  </a:lnTo>
                  <a:close/>
                </a:path>
              </a:pathLst>
            </a:custGeom>
            <a:blipFill>
              <a:blip r:embed="rId3"/>
              <a:stretch>
                <a:fillRect l="-50" r="-58"/>
              </a:stretch>
            </a:blipFill>
          </p:spPr>
        </p:sp>
      </p:grpSp>
      <p:sp>
        <p:nvSpPr>
          <p:cNvPr id="20" name="TextBox 20"/>
          <p:cNvSpPr txBox="1"/>
          <p:nvPr/>
        </p:nvSpPr>
        <p:spPr>
          <a:xfrm>
            <a:off x="1250452" y="5374481"/>
            <a:ext cx="3156499"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@RequestMapping</a:t>
            </a:r>
          </a:p>
        </p:txBody>
      </p:sp>
      <p:sp>
        <p:nvSpPr>
          <p:cNvPr id="21" name="TextBox 21"/>
          <p:cNvSpPr txBox="1"/>
          <p:nvPr/>
        </p:nvSpPr>
        <p:spPr>
          <a:xfrm>
            <a:off x="1250452" y="5917702"/>
            <a:ext cx="7304484" cy="859041"/>
          </a:xfrm>
          <a:prstGeom prst="rect">
            <a:avLst/>
          </a:prstGeom>
        </p:spPr>
        <p:txBody>
          <a:bodyPr lIns="0" tIns="0" rIns="0" bIns="0" rtlCol="0" anchor="t">
            <a:spAutoFit/>
          </a:bodyPr>
          <a:lstStyle/>
          <a:p>
            <a:pPr algn="l">
              <a:lnSpc>
                <a:spcPts val="3000"/>
              </a:lnSpc>
            </a:pPr>
            <a:r>
              <a:rPr lang="en-US" sz="1937">
                <a:solidFill>
                  <a:srgbClr val="D6E5EF"/>
                </a:solidFill>
                <a:latin typeface="Roboto"/>
                <a:ea typeface="Roboto"/>
                <a:cs typeface="Roboto"/>
                <a:sym typeface="Roboto"/>
              </a:rPr>
              <a:t>Binds the controller to /api/expenses — all routes in the class are relative to this base path.</a:t>
            </a:r>
          </a:p>
        </p:txBody>
      </p:sp>
      <p:grpSp>
        <p:nvGrpSpPr>
          <p:cNvPr id="22" name="Group 22"/>
          <p:cNvGrpSpPr/>
          <p:nvPr/>
        </p:nvGrpSpPr>
        <p:grpSpPr>
          <a:xfrm>
            <a:off x="869452" y="7268318"/>
            <a:ext cx="7980759" cy="1983286"/>
            <a:chOff x="0" y="0"/>
            <a:chExt cx="10641012" cy="2644381"/>
          </a:xfrm>
        </p:grpSpPr>
        <p:sp>
          <p:nvSpPr>
            <p:cNvPr id="23" name="Freeform 23"/>
            <p:cNvSpPr/>
            <p:nvPr/>
          </p:nvSpPr>
          <p:spPr>
            <a:xfrm>
              <a:off x="19050" y="19050"/>
              <a:ext cx="10602976" cy="2606294"/>
            </a:xfrm>
            <a:custGeom>
              <a:avLst/>
              <a:gdLst/>
              <a:ahLst/>
              <a:cxnLst/>
              <a:rect l="l" t="t" r="r" b="b"/>
              <a:pathLst>
                <a:path w="10602976" h="2606294">
                  <a:moveTo>
                    <a:pt x="0" y="182880"/>
                  </a:moveTo>
                  <a:cubicBezTo>
                    <a:pt x="0" y="81915"/>
                    <a:pt x="82804" y="0"/>
                    <a:pt x="184912" y="0"/>
                  </a:cubicBezTo>
                  <a:lnTo>
                    <a:pt x="10418064" y="0"/>
                  </a:lnTo>
                  <a:cubicBezTo>
                    <a:pt x="10520172" y="0"/>
                    <a:pt x="10602976" y="81915"/>
                    <a:pt x="10602976" y="182880"/>
                  </a:cubicBezTo>
                  <a:lnTo>
                    <a:pt x="10602976" y="2423414"/>
                  </a:lnTo>
                  <a:cubicBezTo>
                    <a:pt x="10602976" y="2524379"/>
                    <a:pt x="10520172" y="2606294"/>
                    <a:pt x="10418064" y="2606294"/>
                  </a:cubicBezTo>
                  <a:lnTo>
                    <a:pt x="184912" y="2606294"/>
                  </a:lnTo>
                  <a:cubicBezTo>
                    <a:pt x="82804" y="2606294"/>
                    <a:pt x="0" y="2524379"/>
                    <a:pt x="0" y="2423414"/>
                  </a:cubicBezTo>
                  <a:close/>
                </a:path>
              </a:pathLst>
            </a:custGeom>
            <a:solidFill>
              <a:srgbClr val="202733"/>
            </a:solidFill>
          </p:spPr>
        </p:sp>
        <p:sp>
          <p:nvSpPr>
            <p:cNvPr id="24" name="Freeform 24"/>
            <p:cNvSpPr/>
            <p:nvPr/>
          </p:nvSpPr>
          <p:spPr>
            <a:xfrm>
              <a:off x="0" y="0"/>
              <a:ext cx="10641076" cy="2644394"/>
            </a:xfrm>
            <a:custGeom>
              <a:avLst/>
              <a:gdLst/>
              <a:ahLst/>
              <a:cxnLst/>
              <a:rect l="l" t="t" r="r" b="b"/>
              <a:pathLst>
                <a:path w="10641076" h="2644394">
                  <a:moveTo>
                    <a:pt x="0" y="201930"/>
                  </a:moveTo>
                  <a:cubicBezTo>
                    <a:pt x="0" y="90170"/>
                    <a:pt x="91567" y="0"/>
                    <a:pt x="203962" y="0"/>
                  </a:cubicBezTo>
                  <a:lnTo>
                    <a:pt x="10437114" y="0"/>
                  </a:lnTo>
                  <a:lnTo>
                    <a:pt x="10437114" y="19050"/>
                  </a:lnTo>
                  <a:lnTo>
                    <a:pt x="10437114" y="0"/>
                  </a:lnTo>
                  <a:cubicBezTo>
                    <a:pt x="10549509" y="0"/>
                    <a:pt x="10641076" y="90170"/>
                    <a:pt x="10641076" y="201930"/>
                  </a:cubicBezTo>
                  <a:lnTo>
                    <a:pt x="10622026" y="201930"/>
                  </a:lnTo>
                  <a:lnTo>
                    <a:pt x="10641076" y="201930"/>
                  </a:lnTo>
                  <a:lnTo>
                    <a:pt x="10641076" y="2442464"/>
                  </a:lnTo>
                  <a:lnTo>
                    <a:pt x="10622026" y="2442464"/>
                  </a:lnTo>
                  <a:lnTo>
                    <a:pt x="10641076" y="2442464"/>
                  </a:lnTo>
                  <a:cubicBezTo>
                    <a:pt x="10641076" y="2554224"/>
                    <a:pt x="10549509" y="2644394"/>
                    <a:pt x="10437114" y="2644394"/>
                  </a:cubicBezTo>
                  <a:lnTo>
                    <a:pt x="10437114" y="2625344"/>
                  </a:lnTo>
                  <a:lnTo>
                    <a:pt x="10437114" y="2644394"/>
                  </a:lnTo>
                  <a:lnTo>
                    <a:pt x="203962" y="2644394"/>
                  </a:lnTo>
                  <a:lnTo>
                    <a:pt x="203962" y="2625344"/>
                  </a:lnTo>
                  <a:lnTo>
                    <a:pt x="203962" y="2644394"/>
                  </a:lnTo>
                  <a:cubicBezTo>
                    <a:pt x="91567" y="2644394"/>
                    <a:pt x="0" y="2554224"/>
                    <a:pt x="0" y="2442464"/>
                  </a:cubicBezTo>
                  <a:lnTo>
                    <a:pt x="0" y="201930"/>
                  </a:lnTo>
                  <a:lnTo>
                    <a:pt x="19050" y="201930"/>
                  </a:lnTo>
                  <a:lnTo>
                    <a:pt x="0" y="201930"/>
                  </a:lnTo>
                  <a:moveTo>
                    <a:pt x="38100" y="201930"/>
                  </a:moveTo>
                  <a:lnTo>
                    <a:pt x="38100" y="2442464"/>
                  </a:lnTo>
                  <a:lnTo>
                    <a:pt x="19050" y="2442464"/>
                  </a:lnTo>
                  <a:lnTo>
                    <a:pt x="38100" y="2442464"/>
                  </a:lnTo>
                  <a:cubicBezTo>
                    <a:pt x="38100" y="2532761"/>
                    <a:pt x="112141" y="2606294"/>
                    <a:pt x="203962" y="2606294"/>
                  </a:cubicBezTo>
                  <a:lnTo>
                    <a:pt x="10437114" y="2606294"/>
                  </a:lnTo>
                  <a:cubicBezTo>
                    <a:pt x="10528935" y="2606294"/>
                    <a:pt x="10602976" y="2532761"/>
                    <a:pt x="10602976" y="2442464"/>
                  </a:cubicBezTo>
                  <a:lnTo>
                    <a:pt x="10602976" y="201930"/>
                  </a:lnTo>
                  <a:cubicBezTo>
                    <a:pt x="10602976" y="111633"/>
                    <a:pt x="10528935" y="38100"/>
                    <a:pt x="10437114" y="38100"/>
                  </a:cubicBezTo>
                  <a:lnTo>
                    <a:pt x="203962" y="38100"/>
                  </a:lnTo>
                  <a:lnTo>
                    <a:pt x="203962" y="19050"/>
                  </a:lnTo>
                  <a:lnTo>
                    <a:pt x="203962" y="38100"/>
                  </a:lnTo>
                  <a:cubicBezTo>
                    <a:pt x="112141" y="38100"/>
                    <a:pt x="38100" y="111633"/>
                    <a:pt x="38100" y="201930"/>
                  </a:cubicBezTo>
                  <a:close/>
                </a:path>
              </a:pathLst>
            </a:custGeom>
            <a:solidFill>
              <a:srgbClr val="585F6B"/>
            </a:solidFill>
          </p:spPr>
        </p:sp>
      </p:grpSp>
      <p:grpSp>
        <p:nvGrpSpPr>
          <p:cNvPr id="25" name="Group 25"/>
          <p:cNvGrpSpPr/>
          <p:nvPr/>
        </p:nvGrpSpPr>
        <p:grpSpPr>
          <a:xfrm>
            <a:off x="855164" y="7282605"/>
            <a:ext cx="114300" cy="1954711"/>
            <a:chOff x="0" y="0"/>
            <a:chExt cx="152400" cy="2606281"/>
          </a:xfrm>
        </p:grpSpPr>
        <p:sp>
          <p:nvSpPr>
            <p:cNvPr id="26" name="Freeform 26" descr="preencoded.png"/>
            <p:cNvSpPr/>
            <p:nvPr/>
          </p:nvSpPr>
          <p:spPr>
            <a:xfrm>
              <a:off x="0" y="0"/>
              <a:ext cx="152400" cy="2606294"/>
            </a:xfrm>
            <a:custGeom>
              <a:avLst/>
              <a:gdLst/>
              <a:ahLst/>
              <a:cxnLst/>
              <a:rect l="l" t="t" r="r" b="b"/>
              <a:pathLst>
                <a:path w="152400" h="2606294">
                  <a:moveTo>
                    <a:pt x="0" y="0"/>
                  </a:moveTo>
                  <a:lnTo>
                    <a:pt x="152400" y="0"/>
                  </a:lnTo>
                  <a:lnTo>
                    <a:pt x="152400" y="2606294"/>
                  </a:lnTo>
                  <a:lnTo>
                    <a:pt x="0" y="2606294"/>
                  </a:lnTo>
                  <a:lnTo>
                    <a:pt x="0" y="0"/>
                  </a:lnTo>
                  <a:close/>
                </a:path>
              </a:pathLst>
            </a:custGeom>
            <a:blipFill>
              <a:blip r:embed="rId3"/>
              <a:stretch>
                <a:fillRect l="-50" r="-58"/>
              </a:stretch>
            </a:blipFill>
          </p:spPr>
        </p:sp>
      </p:grpSp>
      <p:sp>
        <p:nvSpPr>
          <p:cNvPr id="27" name="TextBox 27"/>
          <p:cNvSpPr txBox="1"/>
          <p:nvPr/>
        </p:nvSpPr>
        <p:spPr>
          <a:xfrm>
            <a:off x="1250452" y="7554068"/>
            <a:ext cx="3156499" cy="404070"/>
          </a:xfrm>
          <a:prstGeom prst="rect">
            <a:avLst/>
          </a:prstGeom>
        </p:spPr>
        <p:txBody>
          <a:bodyPr lIns="0" tIns="0" rIns="0" bIns="0" rtlCol="0" anchor="t">
            <a:spAutoFit/>
          </a:bodyPr>
          <a:lstStyle/>
          <a:p>
            <a:pPr algn="l">
              <a:lnSpc>
                <a:spcPts val="3062"/>
              </a:lnSpc>
            </a:pPr>
            <a:r>
              <a:rPr lang="en-US" sz="2437">
                <a:solidFill>
                  <a:srgbClr val="D6E5EF"/>
                </a:solidFill>
                <a:latin typeface="Roboto Slab"/>
                <a:ea typeface="Roboto Slab"/>
                <a:cs typeface="Roboto Slab"/>
                <a:sym typeface="Roboto Slab"/>
              </a:rPr>
              <a:t>@PostMapping</a:t>
            </a:r>
          </a:p>
        </p:txBody>
      </p:sp>
      <p:sp>
        <p:nvSpPr>
          <p:cNvPr id="28" name="TextBox 28"/>
          <p:cNvSpPr txBox="1"/>
          <p:nvPr/>
        </p:nvSpPr>
        <p:spPr>
          <a:xfrm>
            <a:off x="1250452" y="8097288"/>
            <a:ext cx="7304484" cy="859041"/>
          </a:xfrm>
          <a:prstGeom prst="rect">
            <a:avLst/>
          </a:prstGeom>
        </p:spPr>
        <p:txBody>
          <a:bodyPr lIns="0" tIns="0" rIns="0" bIns="0" rtlCol="0" anchor="t">
            <a:spAutoFit/>
          </a:bodyPr>
          <a:lstStyle/>
          <a:p>
            <a:pPr algn="l">
              <a:lnSpc>
                <a:spcPts val="3000"/>
              </a:lnSpc>
            </a:pPr>
            <a:r>
              <a:rPr lang="en-US" sz="1937" dirty="0">
                <a:solidFill>
                  <a:srgbClr val="D6E5EF"/>
                </a:solidFill>
                <a:latin typeface="Roboto"/>
                <a:ea typeface="Roboto"/>
                <a:cs typeface="Roboto"/>
                <a:sym typeface="Roboto"/>
              </a:rPr>
              <a:t>Maps HTTP POST requests to </a:t>
            </a:r>
            <a:r>
              <a:rPr lang="en-US" sz="1937" dirty="0" err="1">
                <a:solidFill>
                  <a:srgbClr val="D6E5EF"/>
                </a:solidFill>
                <a:latin typeface="Roboto"/>
                <a:ea typeface="Roboto"/>
                <a:cs typeface="Roboto"/>
                <a:sym typeface="Roboto"/>
              </a:rPr>
              <a:t>addExpense</a:t>
            </a:r>
            <a:r>
              <a:rPr lang="en-US" sz="1937" dirty="0">
                <a:solidFill>
                  <a:srgbClr val="D6E5EF"/>
                </a:solidFill>
                <a:latin typeface="Roboto"/>
                <a:ea typeface="Roboto"/>
                <a:cs typeface="Roboto"/>
                <a:sym typeface="Roboto"/>
              </a:rPr>
              <a:t>(), accepting a JSON body and returning the saved entity.</a:t>
            </a:r>
          </a:p>
        </p:txBody>
      </p:sp>
      <p:grpSp>
        <p:nvGrpSpPr>
          <p:cNvPr id="29" name="Group 29"/>
          <p:cNvGrpSpPr/>
          <p:nvPr/>
        </p:nvGrpSpPr>
        <p:grpSpPr>
          <a:xfrm>
            <a:off x="9461602" y="2923432"/>
            <a:ext cx="7952184" cy="5851322"/>
            <a:chOff x="0" y="0"/>
            <a:chExt cx="10602912" cy="7801762"/>
          </a:xfrm>
        </p:grpSpPr>
        <p:sp>
          <p:nvSpPr>
            <p:cNvPr id="30" name="Freeform 30"/>
            <p:cNvSpPr/>
            <p:nvPr/>
          </p:nvSpPr>
          <p:spPr>
            <a:xfrm>
              <a:off x="0" y="0"/>
              <a:ext cx="10602849" cy="7801737"/>
            </a:xfrm>
            <a:custGeom>
              <a:avLst/>
              <a:gdLst/>
              <a:ahLst/>
              <a:cxnLst/>
              <a:rect l="l" t="t" r="r" b="b"/>
              <a:pathLst>
                <a:path w="10602849" h="7801737">
                  <a:moveTo>
                    <a:pt x="0" y="50419"/>
                  </a:moveTo>
                  <a:cubicBezTo>
                    <a:pt x="0" y="22606"/>
                    <a:pt x="22606" y="0"/>
                    <a:pt x="50419" y="0"/>
                  </a:cubicBezTo>
                  <a:lnTo>
                    <a:pt x="10552430" y="0"/>
                  </a:lnTo>
                  <a:cubicBezTo>
                    <a:pt x="10580370" y="0"/>
                    <a:pt x="10602849" y="22606"/>
                    <a:pt x="10602849" y="50419"/>
                  </a:cubicBezTo>
                  <a:lnTo>
                    <a:pt x="10602849" y="7751318"/>
                  </a:lnTo>
                  <a:cubicBezTo>
                    <a:pt x="10602849" y="7779258"/>
                    <a:pt x="10580243" y="7801737"/>
                    <a:pt x="10552430" y="7801737"/>
                  </a:cubicBezTo>
                  <a:lnTo>
                    <a:pt x="50419" y="7801737"/>
                  </a:lnTo>
                  <a:cubicBezTo>
                    <a:pt x="22479" y="7801737"/>
                    <a:pt x="0" y="7779131"/>
                    <a:pt x="0" y="7751318"/>
                  </a:cubicBezTo>
                  <a:close/>
                </a:path>
              </a:pathLst>
            </a:custGeom>
            <a:solidFill>
              <a:srgbClr val="2D3440"/>
            </a:solidFill>
          </p:spPr>
        </p:sp>
      </p:grpSp>
      <p:grpSp>
        <p:nvGrpSpPr>
          <p:cNvPr id="31" name="Group 31"/>
          <p:cNvGrpSpPr/>
          <p:nvPr/>
        </p:nvGrpSpPr>
        <p:grpSpPr>
          <a:xfrm>
            <a:off x="9449095" y="2923432"/>
            <a:ext cx="7977188" cy="5851322"/>
            <a:chOff x="0" y="0"/>
            <a:chExt cx="10636250" cy="7801762"/>
          </a:xfrm>
        </p:grpSpPr>
        <p:sp>
          <p:nvSpPr>
            <p:cNvPr id="32" name="Freeform 32"/>
            <p:cNvSpPr/>
            <p:nvPr/>
          </p:nvSpPr>
          <p:spPr>
            <a:xfrm>
              <a:off x="0" y="0"/>
              <a:ext cx="10636250" cy="7801737"/>
            </a:xfrm>
            <a:custGeom>
              <a:avLst/>
              <a:gdLst/>
              <a:ahLst/>
              <a:cxnLst/>
              <a:rect l="l" t="t" r="r" b="b"/>
              <a:pathLst>
                <a:path w="10636250" h="7801737">
                  <a:moveTo>
                    <a:pt x="0" y="50419"/>
                  </a:moveTo>
                  <a:cubicBezTo>
                    <a:pt x="0" y="22606"/>
                    <a:pt x="22606" y="0"/>
                    <a:pt x="50419" y="0"/>
                  </a:cubicBezTo>
                  <a:lnTo>
                    <a:pt x="10585831" y="0"/>
                  </a:lnTo>
                  <a:cubicBezTo>
                    <a:pt x="10613772" y="0"/>
                    <a:pt x="10636250" y="22606"/>
                    <a:pt x="10636250" y="50419"/>
                  </a:cubicBezTo>
                  <a:lnTo>
                    <a:pt x="10636250" y="7751318"/>
                  </a:lnTo>
                  <a:cubicBezTo>
                    <a:pt x="10636250" y="7779258"/>
                    <a:pt x="10613644" y="7801737"/>
                    <a:pt x="10585831" y="7801737"/>
                  </a:cubicBezTo>
                  <a:lnTo>
                    <a:pt x="50419" y="7801737"/>
                  </a:lnTo>
                  <a:cubicBezTo>
                    <a:pt x="22479" y="7801737"/>
                    <a:pt x="0" y="7779131"/>
                    <a:pt x="0" y="7751318"/>
                  </a:cubicBezTo>
                  <a:close/>
                </a:path>
              </a:pathLst>
            </a:custGeom>
            <a:solidFill>
              <a:srgbClr val="2D3440"/>
            </a:solidFill>
          </p:spPr>
        </p:sp>
      </p:grpSp>
      <p:sp>
        <p:nvSpPr>
          <p:cNvPr id="33" name="TextBox 33"/>
          <p:cNvSpPr txBox="1"/>
          <p:nvPr/>
        </p:nvSpPr>
        <p:spPr>
          <a:xfrm>
            <a:off x="9764611" y="3061545"/>
            <a:ext cx="7346156" cy="5460797"/>
          </a:xfrm>
          <a:prstGeom prst="rect">
            <a:avLst/>
          </a:prstGeom>
        </p:spPr>
        <p:txBody>
          <a:bodyPr lIns="0" tIns="0" rIns="0" bIns="0" rtlCol="0" anchor="t">
            <a:spAutoFit/>
          </a:bodyPr>
          <a:lstStyle/>
          <a:p>
            <a:pPr algn="l">
              <a:lnSpc>
                <a:spcPts val="3000"/>
              </a:lnSpc>
            </a:pPr>
            <a:r>
              <a:rPr lang="en-US" sz="1937" dirty="0">
                <a:solidFill>
                  <a:srgbClr val="79C0FF"/>
                </a:solidFill>
                <a:latin typeface="Consolas"/>
                <a:ea typeface="Consolas"/>
                <a:cs typeface="Consolas"/>
                <a:sym typeface="Consolas"/>
              </a:rPr>
              <a:t>@RestController</a:t>
            </a:r>
          </a:p>
          <a:p>
            <a:pPr algn="l">
              <a:lnSpc>
                <a:spcPts val="3000"/>
              </a:lnSpc>
            </a:pPr>
            <a:r>
              <a:rPr lang="en-US" sz="1937" dirty="0">
                <a:solidFill>
                  <a:srgbClr val="79C0FF"/>
                </a:solidFill>
                <a:latin typeface="Consolas"/>
                <a:ea typeface="Consolas"/>
                <a:cs typeface="Consolas"/>
                <a:sym typeface="Consolas"/>
              </a:rPr>
              <a:t>@RequestMapping("/api/expenses")</a:t>
            </a:r>
          </a:p>
          <a:p>
            <a:pPr algn="l">
              <a:lnSpc>
                <a:spcPts val="3000"/>
              </a:lnSpc>
            </a:pPr>
            <a:r>
              <a:rPr lang="en-US" sz="1937" dirty="0">
                <a:solidFill>
                  <a:srgbClr val="79C0FF"/>
                </a:solidFill>
                <a:latin typeface="Consolas"/>
                <a:ea typeface="Consolas"/>
                <a:cs typeface="Consolas"/>
                <a:sym typeface="Consolas"/>
              </a:rPr>
              <a:t>public class </a:t>
            </a:r>
            <a:r>
              <a:rPr lang="en-US" sz="1937" dirty="0" err="1">
                <a:solidFill>
                  <a:srgbClr val="79C0FF"/>
                </a:solidFill>
                <a:latin typeface="Consolas"/>
                <a:ea typeface="Consolas"/>
                <a:cs typeface="Consolas"/>
                <a:sym typeface="Consolas"/>
              </a:rPr>
              <a:t>ExpenseController</a:t>
            </a:r>
            <a:r>
              <a:rPr lang="en-US" sz="1937" dirty="0">
                <a:solidFill>
                  <a:srgbClr val="79C0FF"/>
                </a:solidFill>
                <a:latin typeface="Consolas"/>
                <a:ea typeface="Consolas"/>
                <a:cs typeface="Consolas"/>
                <a:sym typeface="Consolas"/>
              </a:rPr>
              <a:t> {</a:t>
            </a:r>
          </a:p>
          <a:p>
            <a:pPr algn="l">
              <a:lnSpc>
                <a:spcPts val="3000"/>
              </a:lnSpc>
            </a:pPr>
            <a:endParaRPr lang="en-US" sz="1937" dirty="0">
              <a:solidFill>
                <a:srgbClr val="79C0FF"/>
              </a:solidFill>
              <a:latin typeface="Consolas"/>
              <a:ea typeface="Consolas"/>
              <a:cs typeface="Consolas"/>
              <a:sym typeface="Consolas"/>
            </a:endParaRPr>
          </a:p>
          <a:p>
            <a:pPr algn="l">
              <a:lnSpc>
                <a:spcPts val="3000"/>
              </a:lnSpc>
            </a:pPr>
            <a:r>
              <a:rPr lang="en-US" sz="1937" dirty="0">
                <a:solidFill>
                  <a:srgbClr val="79C0FF"/>
                </a:solidFill>
                <a:latin typeface="Consolas"/>
                <a:ea typeface="Consolas"/>
                <a:cs typeface="Consolas"/>
                <a:sym typeface="Consolas"/>
              </a:rPr>
              <a:t> @Autowired</a:t>
            </a:r>
          </a:p>
          <a:p>
            <a:pPr algn="l">
              <a:lnSpc>
                <a:spcPts val="3000"/>
              </a:lnSpc>
            </a:pPr>
            <a:r>
              <a:rPr lang="en-US" sz="1937" dirty="0">
                <a:solidFill>
                  <a:srgbClr val="79C0FF"/>
                </a:solidFill>
                <a:latin typeface="Consolas"/>
                <a:ea typeface="Consolas"/>
                <a:cs typeface="Consolas"/>
                <a:sym typeface="Consolas"/>
              </a:rPr>
              <a:t> private </a:t>
            </a:r>
            <a:r>
              <a:rPr lang="en-US" sz="1937" dirty="0" err="1">
                <a:solidFill>
                  <a:srgbClr val="79C0FF"/>
                </a:solidFill>
                <a:latin typeface="Consolas"/>
                <a:ea typeface="Consolas"/>
                <a:cs typeface="Consolas"/>
                <a:sym typeface="Consolas"/>
              </a:rPr>
              <a:t>ExpenseService</a:t>
            </a:r>
            <a:r>
              <a:rPr lang="en-US" sz="1937" dirty="0">
                <a:solidFill>
                  <a:srgbClr val="79C0FF"/>
                </a:solidFill>
                <a:latin typeface="Consolas"/>
                <a:ea typeface="Consolas"/>
                <a:cs typeface="Consolas"/>
                <a:sym typeface="Consolas"/>
              </a:rPr>
              <a:t> </a:t>
            </a:r>
            <a:r>
              <a:rPr lang="en-US" sz="1937" dirty="0" err="1">
                <a:solidFill>
                  <a:srgbClr val="79C0FF"/>
                </a:solidFill>
                <a:latin typeface="Consolas"/>
                <a:ea typeface="Consolas"/>
                <a:cs typeface="Consolas"/>
                <a:sym typeface="Consolas"/>
              </a:rPr>
              <a:t>expenseService</a:t>
            </a:r>
            <a:r>
              <a:rPr lang="en-US" sz="1937" dirty="0">
                <a:solidFill>
                  <a:srgbClr val="79C0FF"/>
                </a:solidFill>
                <a:latin typeface="Consolas"/>
                <a:ea typeface="Consolas"/>
                <a:cs typeface="Consolas"/>
                <a:sym typeface="Consolas"/>
              </a:rPr>
              <a:t>;</a:t>
            </a:r>
          </a:p>
          <a:p>
            <a:pPr algn="l">
              <a:lnSpc>
                <a:spcPts val="3000"/>
              </a:lnSpc>
            </a:pPr>
            <a:endParaRPr lang="en-US" sz="1937" dirty="0">
              <a:solidFill>
                <a:srgbClr val="79C0FF"/>
              </a:solidFill>
              <a:latin typeface="Consolas"/>
              <a:ea typeface="Consolas"/>
              <a:cs typeface="Consolas"/>
              <a:sym typeface="Consolas"/>
            </a:endParaRPr>
          </a:p>
          <a:p>
            <a:pPr algn="l">
              <a:lnSpc>
                <a:spcPts val="3000"/>
              </a:lnSpc>
            </a:pPr>
            <a:r>
              <a:rPr lang="en-US" sz="1937" dirty="0">
                <a:solidFill>
                  <a:srgbClr val="79C0FF"/>
                </a:solidFill>
                <a:latin typeface="Consolas"/>
                <a:ea typeface="Consolas"/>
                <a:cs typeface="Consolas"/>
                <a:sym typeface="Consolas"/>
              </a:rPr>
              <a:t> @PostMapping</a:t>
            </a:r>
          </a:p>
          <a:p>
            <a:pPr algn="l">
              <a:lnSpc>
                <a:spcPts val="3000"/>
              </a:lnSpc>
            </a:pPr>
            <a:r>
              <a:rPr lang="en-US" sz="1937" dirty="0">
                <a:solidFill>
                  <a:srgbClr val="79C0FF"/>
                </a:solidFill>
                <a:latin typeface="Consolas"/>
                <a:ea typeface="Consolas"/>
                <a:cs typeface="Consolas"/>
                <a:sym typeface="Consolas"/>
              </a:rPr>
              <a:t> public Expense </a:t>
            </a:r>
            <a:r>
              <a:rPr lang="en-US" sz="1937" dirty="0" err="1">
                <a:solidFill>
                  <a:srgbClr val="79C0FF"/>
                </a:solidFill>
                <a:latin typeface="Consolas"/>
                <a:ea typeface="Consolas"/>
                <a:cs typeface="Consolas"/>
                <a:sym typeface="Consolas"/>
              </a:rPr>
              <a:t>addExpense</a:t>
            </a:r>
            <a:r>
              <a:rPr lang="en-US" sz="1937" dirty="0">
                <a:solidFill>
                  <a:srgbClr val="79C0FF"/>
                </a:solidFill>
                <a:latin typeface="Consolas"/>
                <a:ea typeface="Consolas"/>
                <a:cs typeface="Consolas"/>
                <a:sym typeface="Consolas"/>
              </a:rPr>
              <a:t>(</a:t>
            </a:r>
          </a:p>
          <a:p>
            <a:pPr algn="l">
              <a:lnSpc>
                <a:spcPts val="3000"/>
              </a:lnSpc>
            </a:pPr>
            <a:r>
              <a:rPr lang="en-US" sz="1937" dirty="0">
                <a:solidFill>
                  <a:srgbClr val="79C0FF"/>
                </a:solidFill>
                <a:latin typeface="Consolas"/>
                <a:ea typeface="Consolas"/>
                <a:cs typeface="Consolas"/>
                <a:sym typeface="Consolas"/>
              </a:rPr>
              <a:t> @RequestBody Expense expense) {</a:t>
            </a:r>
          </a:p>
          <a:p>
            <a:pPr algn="l">
              <a:lnSpc>
                <a:spcPts val="3000"/>
              </a:lnSpc>
            </a:pPr>
            <a:r>
              <a:rPr lang="en-US" sz="1937" dirty="0">
                <a:solidFill>
                  <a:srgbClr val="79C0FF"/>
                </a:solidFill>
                <a:latin typeface="Consolas"/>
                <a:ea typeface="Consolas"/>
                <a:cs typeface="Consolas"/>
                <a:sym typeface="Consolas"/>
              </a:rPr>
              <a:t> return </a:t>
            </a:r>
            <a:r>
              <a:rPr lang="en-US" sz="1937" dirty="0" err="1">
                <a:solidFill>
                  <a:srgbClr val="79C0FF"/>
                </a:solidFill>
                <a:latin typeface="Consolas"/>
                <a:ea typeface="Consolas"/>
                <a:cs typeface="Consolas"/>
                <a:sym typeface="Consolas"/>
              </a:rPr>
              <a:t>expenseService</a:t>
            </a:r>
            <a:endParaRPr lang="en-US" sz="1937" dirty="0">
              <a:solidFill>
                <a:srgbClr val="79C0FF"/>
              </a:solidFill>
              <a:latin typeface="Consolas"/>
              <a:ea typeface="Consolas"/>
              <a:cs typeface="Consolas"/>
              <a:sym typeface="Consolas"/>
            </a:endParaRPr>
          </a:p>
          <a:p>
            <a:pPr algn="l">
              <a:lnSpc>
                <a:spcPts val="3000"/>
              </a:lnSpc>
            </a:pPr>
            <a:r>
              <a:rPr lang="en-US" sz="1937" dirty="0">
                <a:solidFill>
                  <a:srgbClr val="79C0FF"/>
                </a:solidFill>
                <a:latin typeface="Consolas"/>
                <a:ea typeface="Consolas"/>
                <a:cs typeface="Consolas"/>
                <a:sym typeface="Consolas"/>
              </a:rPr>
              <a:t> .</a:t>
            </a:r>
            <a:r>
              <a:rPr lang="en-US" sz="1937" dirty="0" err="1">
                <a:solidFill>
                  <a:srgbClr val="79C0FF"/>
                </a:solidFill>
                <a:latin typeface="Consolas"/>
                <a:ea typeface="Consolas"/>
                <a:cs typeface="Consolas"/>
                <a:sym typeface="Consolas"/>
              </a:rPr>
              <a:t>saveExpense</a:t>
            </a:r>
            <a:r>
              <a:rPr lang="en-US" sz="1937" dirty="0">
                <a:solidFill>
                  <a:srgbClr val="79C0FF"/>
                </a:solidFill>
                <a:latin typeface="Consolas"/>
                <a:ea typeface="Consolas"/>
                <a:cs typeface="Consolas"/>
                <a:sym typeface="Consolas"/>
              </a:rPr>
              <a:t>(expense);</a:t>
            </a:r>
          </a:p>
          <a:p>
            <a:pPr algn="l">
              <a:lnSpc>
                <a:spcPts val="3000"/>
              </a:lnSpc>
            </a:pPr>
            <a:r>
              <a:rPr lang="en-US" sz="1937" dirty="0">
                <a:solidFill>
                  <a:srgbClr val="79C0FF"/>
                </a:solidFill>
                <a:latin typeface="Consolas"/>
                <a:ea typeface="Consolas"/>
                <a:cs typeface="Consolas"/>
                <a:sym typeface="Consolas"/>
              </a:rPr>
              <a:t> }</a:t>
            </a:r>
          </a:p>
          <a:p>
            <a:pPr algn="l">
              <a:lnSpc>
                <a:spcPts val="3000"/>
              </a:lnSpc>
            </a:pPr>
            <a:r>
              <a:rPr lang="en-US" sz="1937" dirty="0">
                <a:solidFill>
                  <a:srgbClr val="79C0FF"/>
                </a:solidFill>
                <a:latin typeface="Consolas"/>
                <a:ea typeface="Consolas"/>
                <a:cs typeface="Consolas"/>
                <a:sym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945804" y="774649"/>
            <a:ext cx="9949605" cy="873176"/>
          </a:xfrm>
          <a:prstGeom prst="rect">
            <a:avLst/>
          </a:prstGeom>
        </p:spPr>
        <p:txBody>
          <a:bodyPr lIns="0" tIns="0" rIns="0" bIns="0" rtlCol="0" anchor="t">
            <a:spAutoFit/>
          </a:bodyPr>
          <a:lstStyle/>
          <a:p>
            <a:pPr algn="l">
              <a:lnSpc>
                <a:spcPts val="6625"/>
              </a:lnSpc>
            </a:pPr>
            <a:r>
              <a:rPr lang="en-US" sz="5312">
                <a:solidFill>
                  <a:srgbClr val="76B9FF"/>
                </a:solidFill>
                <a:latin typeface="Roboto Slab"/>
                <a:ea typeface="Roboto Slab"/>
                <a:cs typeface="Roboto Slab"/>
                <a:sym typeface="Roboto Slab"/>
              </a:rPr>
              <a:t>Service Layer — Business Logic</a:t>
            </a:r>
          </a:p>
        </p:txBody>
      </p:sp>
      <p:sp>
        <p:nvSpPr>
          <p:cNvPr id="7" name="TextBox 7"/>
          <p:cNvSpPr txBox="1"/>
          <p:nvPr/>
        </p:nvSpPr>
        <p:spPr>
          <a:xfrm>
            <a:off x="945804" y="2077193"/>
            <a:ext cx="16396392" cy="1231940"/>
          </a:xfrm>
          <a:prstGeom prst="rect">
            <a:avLst/>
          </a:prstGeom>
        </p:spPr>
        <p:txBody>
          <a:bodyPr lIns="0" tIns="0" rIns="0" bIns="0" rtlCol="0" anchor="t">
            <a:spAutoFit/>
          </a:bodyPr>
          <a:lstStyle/>
          <a:p>
            <a:pPr algn="l">
              <a:lnSpc>
                <a:spcPts val="3312"/>
              </a:lnSpc>
            </a:pPr>
            <a:endParaRPr lang="en-US" sz="2125" dirty="0">
              <a:solidFill>
                <a:srgbClr val="D6E5EF"/>
              </a:solidFill>
              <a:latin typeface="Roboto"/>
              <a:ea typeface="Roboto"/>
              <a:cs typeface="Roboto"/>
              <a:sym typeface="Roboto"/>
            </a:endParaRPr>
          </a:p>
          <a:p>
            <a:pPr algn="l">
              <a:lnSpc>
                <a:spcPts val="3312"/>
              </a:lnSpc>
            </a:pPr>
            <a:r>
              <a:rPr lang="en-US" sz="2125" dirty="0">
                <a:solidFill>
                  <a:srgbClr val="D6E5EF"/>
                </a:solidFill>
                <a:latin typeface="Roboto"/>
                <a:ea typeface="Roboto"/>
                <a:cs typeface="Roboto"/>
                <a:sym typeface="Roboto"/>
              </a:rPr>
              <a:t>The </a:t>
            </a:r>
            <a:r>
              <a:rPr lang="en-US" sz="2125" b="1" dirty="0">
                <a:solidFill>
                  <a:srgbClr val="D6E5EF"/>
                </a:solidFill>
                <a:latin typeface="Roboto Bold"/>
                <a:ea typeface="Roboto Bold"/>
                <a:cs typeface="Roboto Bold"/>
                <a:sym typeface="Roboto Bold"/>
              </a:rPr>
              <a:t>heart of the application</a:t>
            </a:r>
            <a:r>
              <a:rPr lang="en-US" sz="2125" dirty="0">
                <a:solidFill>
                  <a:srgbClr val="D6E5EF"/>
                </a:solidFill>
                <a:latin typeface="Roboto"/>
                <a:ea typeface="Roboto"/>
                <a:cs typeface="Roboto"/>
                <a:sym typeface="Roboto"/>
              </a:rPr>
              <a:t>. The Service layer encapsulates all business rules, validations, and transformations before data reaches the database.</a:t>
            </a:r>
          </a:p>
        </p:txBody>
      </p:sp>
      <p:grpSp>
        <p:nvGrpSpPr>
          <p:cNvPr id="8" name="Group 8"/>
          <p:cNvGrpSpPr/>
          <p:nvPr/>
        </p:nvGrpSpPr>
        <p:grpSpPr>
          <a:xfrm>
            <a:off x="945804" y="3586905"/>
            <a:ext cx="7868545" cy="5606948"/>
            <a:chOff x="0" y="0"/>
            <a:chExt cx="10491394" cy="7475931"/>
          </a:xfrm>
        </p:grpSpPr>
        <p:sp>
          <p:nvSpPr>
            <p:cNvPr id="9" name="Freeform 9"/>
            <p:cNvSpPr/>
            <p:nvPr/>
          </p:nvSpPr>
          <p:spPr>
            <a:xfrm>
              <a:off x="0" y="0"/>
              <a:ext cx="10491470" cy="7475982"/>
            </a:xfrm>
            <a:custGeom>
              <a:avLst/>
              <a:gdLst/>
              <a:ahLst/>
              <a:cxnLst/>
              <a:rect l="l" t="t" r="r" b="b"/>
              <a:pathLst>
                <a:path w="10491470" h="7475982">
                  <a:moveTo>
                    <a:pt x="0" y="54102"/>
                  </a:moveTo>
                  <a:cubicBezTo>
                    <a:pt x="0" y="24257"/>
                    <a:pt x="24257" y="0"/>
                    <a:pt x="54102" y="0"/>
                  </a:cubicBezTo>
                  <a:lnTo>
                    <a:pt x="10437368" y="0"/>
                  </a:lnTo>
                  <a:cubicBezTo>
                    <a:pt x="10467213" y="0"/>
                    <a:pt x="10491470" y="24257"/>
                    <a:pt x="10491470" y="54102"/>
                  </a:cubicBezTo>
                  <a:lnTo>
                    <a:pt x="10491470" y="7421880"/>
                  </a:lnTo>
                  <a:cubicBezTo>
                    <a:pt x="10491470" y="7451725"/>
                    <a:pt x="10467213" y="7475982"/>
                    <a:pt x="10437368" y="7475982"/>
                  </a:cubicBezTo>
                  <a:lnTo>
                    <a:pt x="54102" y="7475982"/>
                  </a:lnTo>
                  <a:cubicBezTo>
                    <a:pt x="24257" y="7475982"/>
                    <a:pt x="0" y="7451725"/>
                    <a:pt x="0" y="7421880"/>
                  </a:cubicBezTo>
                  <a:close/>
                </a:path>
              </a:pathLst>
            </a:custGeom>
            <a:solidFill>
              <a:srgbClr val="2D3440"/>
            </a:solidFill>
          </p:spPr>
        </p:sp>
      </p:grpSp>
      <p:grpSp>
        <p:nvGrpSpPr>
          <p:cNvPr id="10" name="Group 10"/>
          <p:cNvGrpSpPr/>
          <p:nvPr/>
        </p:nvGrpSpPr>
        <p:grpSpPr>
          <a:xfrm>
            <a:off x="932412" y="3586905"/>
            <a:ext cx="7895330" cy="5606948"/>
            <a:chOff x="0" y="0"/>
            <a:chExt cx="10527106" cy="7475931"/>
          </a:xfrm>
        </p:grpSpPr>
        <p:sp>
          <p:nvSpPr>
            <p:cNvPr id="11" name="Freeform 11"/>
            <p:cNvSpPr/>
            <p:nvPr/>
          </p:nvSpPr>
          <p:spPr>
            <a:xfrm>
              <a:off x="0" y="0"/>
              <a:ext cx="10527157" cy="7475982"/>
            </a:xfrm>
            <a:custGeom>
              <a:avLst/>
              <a:gdLst/>
              <a:ahLst/>
              <a:cxnLst/>
              <a:rect l="l" t="t" r="r" b="b"/>
              <a:pathLst>
                <a:path w="10527157" h="7475982">
                  <a:moveTo>
                    <a:pt x="0" y="54102"/>
                  </a:moveTo>
                  <a:cubicBezTo>
                    <a:pt x="0" y="24257"/>
                    <a:pt x="24257" y="0"/>
                    <a:pt x="54102" y="0"/>
                  </a:cubicBezTo>
                  <a:lnTo>
                    <a:pt x="10473055" y="0"/>
                  </a:lnTo>
                  <a:cubicBezTo>
                    <a:pt x="10502900" y="0"/>
                    <a:pt x="10527157" y="24257"/>
                    <a:pt x="10527157" y="54102"/>
                  </a:cubicBezTo>
                  <a:lnTo>
                    <a:pt x="10527157" y="7421880"/>
                  </a:lnTo>
                  <a:cubicBezTo>
                    <a:pt x="10527157" y="7451725"/>
                    <a:pt x="10502900" y="7475982"/>
                    <a:pt x="10473055" y="7475982"/>
                  </a:cubicBezTo>
                  <a:lnTo>
                    <a:pt x="54102" y="7475982"/>
                  </a:lnTo>
                  <a:cubicBezTo>
                    <a:pt x="24257" y="7475982"/>
                    <a:pt x="0" y="7451725"/>
                    <a:pt x="0" y="7421880"/>
                  </a:cubicBezTo>
                  <a:close/>
                </a:path>
              </a:pathLst>
            </a:custGeom>
            <a:solidFill>
              <a:srgbClr val="2D3440"/>
            </a:solidFill>
          </p:spPr>
        </p:sp>
      </p:grpSp>
      <p:sp>
        <p:nvSpPr>
          <p:cNvPr id="12" name="TextBox 12"/>
          <p:cNvSpPr txBox="1"/>
          <p:nvPr/>
        </p:nvSpPr>
        <p:spPr>
          <a:xfrm>
            <a:off x="1270102" y="3733209"/>
            <a:ext cx="7219950" cy="5190534"/>
          </a:xfrm>
          <a:prstGeom prst="rect">
            <a:avLst/>
          </a:prstGeom>
        </p:spPr>
        <p:txBody>
          <a:bodyPr lIns="0" tIns="0" rIns="0" bIns="0" rtlCol="0" anchor="t">
            <a:spAutoFit/>
          </a:bodyPr>
          <a:lstStyle/>
          <a:p>
            <a:pPr algn="l">
              <a:lnSpc>
                <a:spcPts val="3312"/>
              </a:lnSpc>
            </a:pPr>
            <a:r>
              <a:rPr lang="en-US" sz="2125" dirty="0">
                <a:solidFill>
                  <a:srgbClr val="79C0FF"/>
                </a:solidFill>
                <a:latin typeface="Consolas"/>
                <a:ea typeface="Consolas"/>
                <a:cs typeface="Consolas"/>
                <a:sym typeface="Consolas"/>
              </a:rPr>
              <a:t>@Service</a:t>
            </a:r>
          </a:p>
          <a:p>
            <a:pPr algn="l">
              <a:lnSpc>
                <a:spcPts val="3312"/>
              </a:lnSpc>
            </a:pPr>
            <a:r>
              <a:rPr lang="en-US" sz="2125" dirty="0">
                <a:solidFill>
                  <a:srgbClr val="79C0FF"/>
                </a:solidFill>
                <a:latin typeface="Consolas"/>
                <a:ea typeface="Consolas"/>
                <a:cs typeface="Consolas"/>
                <a:sym typeface="Consolas"/>
              </a:rPr>
              <a:t>public class </a:t>
            </a:r>
            <a:r>
              <a:rPr lang="en-US" sz="2125" dirty="0" err="1">
                <a:solidFill>
                  <a:srgbClr val="79C0FF"/>
                </a:solidFill>
                <a:latin typeface="Consolas"/>
                <a:ea typeface="Consolas"/>
                <a:cs typeface="Consolas"/>
                <a:sym typeface="Consolas"/>
              </a:rPr>
              <a:t>ExpenseService</a:t>
            </a:r>
            <a:r>
              <a:rPr lang="en-US" sz="2125" dirty="0">
                <a:solidFill>
                  <a:srgbClr val="79C0FF"/>
                </a:solidFill>
                <a:latin typeface="Consolas"/>
                <a:ea typeface="Consolas"/>
                <a:cs typeface="Consolas"/>
                <a:sym typeface="Consolas"/>
              </a:rPr>
              <a:t> {</a:t>
            </a:r>
          </a:p>
          <a:p>
            <a:pPr algn="l">
              <a:lnSpc>
                <a:spcPts val="3312"/>
              </a:lnSpc>
            </a:pP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@Autowired</a:t>
            </a:r>
          </a:p>
          <a:p>
            <a:pPr algn="l">
              <a:lnSpc>
                <a:spcPts val="3312"/>
              </a:lnSpc>
            </a:pPr>
            <a:r>
              <a:rPr lang="en-US" sz="2125" dirty="0">
                <a:solidFill>
                  <a:srgbClr val="79C0FF"/>
                </a:solidFill>
                <a:latin typeface="Consolas"/>
                <a:ea typeface="Consolas"/>
                <a:cs typeface="Consolas"/>
                <a:sym typeface="Consolas"/>
              </a:rPr>
              <a:t>  private </a:t>
            </a:r>
            <a:r>
              <a:rPr lang="en-US" sz="2125" dirty="0" err="1">
                <a:solidFill>
                  <a:srgbClr val="79C0FF"/>
                </a:solidFill>
                <a:latin typeface="Consolas"/>
                <a:ea typeface="Consolas"/>
                <a:cs typeface="Consolas"/>
                <a:sym typeface="Consolas"/>
              </a:rPr>
              <a:t>ExpenseRepository</a:t>
            </a:r>
            <a:r>
              <a:rPr lang="en-US" sz="2125" dirty="0">
                <a:solidFill>
                  <a:srgbClr val="79C0FF"/>
                </a:solidFill>
                <a:latin typeface="Consolas"/>
                <a:ea typeface="Consolas"/>
                <a:cs typeface="Consolas"/>
                <a:sym typeface="Consolas"/>
              </a:rPr>
              <a:t> repository;</a:t>
            </a:r>
          </a:p>
          <a:p>
            <a:pPr algn="l">
              <a:lnSpc>
                <a:spcPts val="3312"/>
              </a:lnSpc>
            </a:pP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public Expense </a:t>
            </a:r>
            <a:r>
              <a:rPr lang="en-US" sz="2125" dirty="0" err="1">
                <a:solidFill>
                  <a:srgbClr val="79C0FF"/>
                </a:solidFill>
                <a:latin typeface="Consolas"/>
                <a:ea typeface="Consolas"/>
                <a:cs typeface="Consolas"/>
                <a:sym typeface="Consolas"/>
              </a:rPr>
              <a:t>saveExpense</a:t>
            </a:r>
            <a:r>
              <a:rPr lang="en-US" sz="2125" dirty="0">
                <a:solidFill>
                  <a:srgbClr val="79C0FF"/>
                </a:solidFill>
                <a:latin typeface="Consolas"/>
                <a:ea typeface="Consolas"/>
                <a:cs typeface="Consolas"/>
                <a:sym typeface="Consolas"/>
              </a:rPr>
              <a:t>(</a:t>
            </a:r>
          </a:p>
          <a:p>
            <a:pPr algn="l">
              <a:lnSpc>
                <a:spcPts val="3312"/>
              </a:lnSpc>
            </a:pPr>
            <a:r>
              <a:rPr lang="en-US" sz="2125" dirty="0">
                <a:solidFill>
                  <a:srgbClr val="79C0FF"/>
                </a:solidFill>
                <a:latin typeface="Consolas"/>
                <a:ea typeface="Consolas"/>
                <a:cs typeface="Consolas"/>
                <a:sym typeface="Consolas"/>
              </a:rPr>
              <a:t>      Expense expense) {</a:t>
            </a:r>
          </a:p>
          <a:p>
            <a:pPr algn="l">
              <a:lnSpc>
                <a:spcPts val="3312"/>
              </a:lnSpc>
            </a:pPr>
            <a:r>
              <a:rPr lang="en-US" sz="2125" dirty="0">
                <a:solidFill>
                  <a:srgbClr val="79C0FF"/>
                </a:solidFill>
                <a:latin typeface="Consolas"/>
                <a:ea typeface="Consolas"/>
                <a:cs typeface="Consolas"/>
                <a:sym typeface="Consolas"/>
              </a:rPr>
              <a:t>    // validations go here</a:t>
            </a:r>
          </a:p>
          <a:p>
            <a:pPr algn="l">
              <a:lnSpc>
                <a:spcPts val="3312"/>
              </a:lnSpc>
            </a:pPr>
            <a:r>
              <a:rPr lang="en-US" sz="2125" dirty="0">
                <a:solidFill>
                  <a:srgbClr val="79C0FF"/>
                </a:solidFill>
                <a:latin typeface="Consolas"/>
                <a:ea typeface="Consolas"/>
                <a:cs typeface="Consolas"/>
                <a:sym typeface="Consolas"/>
              </a:rPr>
              <a:t>    return </a:t>
            </a:r>
            <a:r>
              <a:rPr lang="en-US" sz="2125" dirty="0" err="1">
                <a:solidFill>
                  <a:srgbClr val="79C0FF"/>
                </a:solidFill>
                <a:latin typeface="Consolas"/>
                <a:ea typeface="Consolas"/>
                <a:cs typeface="Consolas"/>
                <a:sym typeface="Consolas"/>
              </a:rPr>
              <a:t>repository.save</a:t>
            </a:r>
            <a:r>
              <a:rPr lang="en-US" sz="2125" dirty="0">
                <a:solidFill>
                  <a:srgbClr val="79C0FF"/>
                </a:solidFill>
                <a:latin typeface="Consolas"/>
                <a:ea typeface="Consolas"/>
                <a:cs typeface="Consolas"/>
                <a:sym typeface="Consolas"/>
              </a:rPr>
              <a:t>(expense);</a:t>
            </a:r>
          </a:p>
          <a:p>
            <a:pPr algn="l">
              <a:lnSpc>
                <a:spcPts val="3312"/>
              </a:lnSpc>
            </a:pPr>
            <a:r>
              <a:rPr lang="en-US" sz="2125" dirty="0">
                <a:solidFill>
                  <a:srgbClr val="79C0FF"/>
                </a:solidFill>
                <a:latin typeface="Consolas"/>
                <a:ea typeface="Consolas"/>
                <a:cs typeface="Consolas"/>
                <a:sym typeface="Consolas"/>
              </a:rPr>
              <a:t>  }</a:t>
            </a:r>
          </a:p>
          <a:p>
            <a:pPr algn="l">
              <a:lnSpc>
                <a:spcPts val="3312"/>
              </a:lnSpc>
            </a:pPr>
            <a:r>
              <a:rPr lang="en-US" sz="2125" dirty="0">
                <a:solidFill>
                  <a:srgbClr val="79C0FF"/>
                </a:solidFill>
                <a:latin typeface="Consolas"/>
                <a:ea typeface="Consolas"/>
                <a:cs typeface="Consolas"/>
                <a:sym typeface="Consolas"/>
              </a:rPr>
              <a:t>}</a:t>
            </a:r>
          </a:p>
        </p:txBody>
      </p:sp>
      <p:grpSp>
        <p:nvGrpSpPr>
          <p:cNvPr id="13" name="Group 13"/>
          <p:cNvGrpSpPr/>
          <p:nvPr/>
        </p:nvGrpSpPr>
        <p:grpSpPr>
          <a:xfrm>
            <a:off x="9483176" y="3586905"/>
            <a:ext cx="3805533" cy="2908849"/>
            <a:chOff x="0" y="0"/>
            <a:chExt cx="5074044" cy="3878466"/>
          </a:xfrm>
        </p:grpSpPr>
        <p:sp>
          <p:nvSpPr>
            <p:cNvPr id="14" name="Freeform 14"/>
            <p:cNvSpPr/>
            <p:nvPr/>
          </p:nvSpPr>
          <p:spPr>
            <a:xfrm>
              <a:off x="0" y="0"/>
              <a:ext cx="5074031" cy="3878453"/>
            </a:xfrm>
            <a:custGeom>
              <a:avLst/>
              <a:gdLst/>
              <a:ahLst/>
              <a:cxnLst/>
              <a:rect l="l" t="t" r="r" b="b"/>
              <a:pathLst>
                <a:path w="5074031" h="3878453">
                  <a:moveTo>
                    <a:pt x="0" y="54102"/>
                  </a:moveTo>
                  <a:cubicBezTo>
                    <a:pt x="0" y="24257"/>
                    <a:pt x="24257" y="0"/>
                    <a:pt x="54102" y="0"/>
                  </a:cubicBezTo>
                  <a:lnTo>
                    <a:pt x="5019929" y="0"/>
                  </a:lnTo>
                  <a:cubicBezTo>
                    <a:pt x="5049774" y="0"/>
                    <a:pt x="5074031" y="24257"/>
                    <a:pt x="5074031" y="54102"/>
                  </a:cubicBezTo>
                  <a:lnTo>
                    <a:pt x="5074031" y="3824351"/>
                  </a:lnTo>
                  <a:cubicBezTo>
                    <a:pt x="5074031" y="3854196"/>
                    <a:pt x="5049774" y="3878453"/>
                    <a:pt x="5019929" y="3878453"/>
                  </a:cubicBezTo>
                  <a:lnTo>
                    <a:pt x="54102" y="3878453"/>
                  </a:lnTo>
                  <a:cubicBezTo>
                    <a:pt x="24257" y="3878453"/>
                    <a:pt x="0" y="3854196"/>
                    <a:pt x="0" y="3824351"/>
                  </a:cubicBezTo>
                  <a:close/>
                </a:path>
              </a:pathLst>
            </a:custGeom>
            <a:solidFill>
              <a:srgbClr val="3F4652"/>
            </a:solidFill>
          </p:spPr>
        </p:sp>
      </p:grpSp>
      <p:sp>
        <p:nvSpPr>
          <p:cNvPr id="15" name="TextBox 15"/>
          <p:cNvSpPr txBox="1"/>
          <p:nvPr/>
        </p:nvSpPr>
        <p:spPr>
          <a:xfrm>
            <a:off x="9753305" y="3837984"/>
            <a:ext cx="3265284"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@Service</a:t>
            </a:r>
          </a:p>
        </p:txBody>
      </p:sp>
      <p:sp>
        <p:nvSpPr>
          <p:cNvPr id="16" name="TextBox 16"/>
          <p:cNvSpPr txBox="1"/>
          <p:nvPr/>
        </p:nvSpPr>
        <p:spPr>
          <a:xfrm>
            <a:off x="9753305" y="4451004"/>
            <a:ext cx="3265284" cy="1352398"/>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Registers this class as a Spring-managed bean in the application context.</a:t>
            </a:r>
          </a:p>
        </p:txBody>
      </p:sp>
      <p:grpSp>
        <p:nvGrpSpPr>
          <p:cNvPr id="17" name="Group 17"/>
          <p:cNvGrpSpPr/>
          <p:nvPr/>
        </p:nvGrpSpPr>
        <p:grpSpPr>
          <a:xfrm>
            <a:off x="13546188" y="3586905"/>
            <a:ext cx="3805533" cy="2908849"/>
            <a:chOff x="0" y="0"/>
            <a:chExt cx="5074044" cy="3878466"/>
          </a:xfrm>
        </p:grpSpPr>
        <p:sp>
          <p:nvSpPr>
            <p:cNvPr id="18" name="Freeform 18"/>
            <p:cNvSpPr/>
            <p:nvPr/>
          </p:nvSpPr>
          <p:spPr>
            <a:xfrm>
              <a:off x="0" y="0"/>
              <a:ext cx="5074031" cy="3878453"/>
            </a:xfrm>
            <a:custGeom>
              <a:avLst/>
              <a:gdLst/>
              <a:ahLst/>
              <a:cxnLst/>
              <a:rect l="l" t="t" r="r" b="b"/>
              <a:pathLst>
                <a:path w="5074031" h="3878453">
                  <a:moveTo>
                    <a:pt x="0" y="54102"/>
                  </a:moveTo>
                  <a:cubicBezTo>
                    <a:pt x="0" y="24257"/>
                    <a:pt x="24257" y="0"/>
                    <a:pt x="54102" y="0"/>
                  </a:cubicBezTo>
                  <a:lnTo>
                    <a:pt x="5019929" y="0"/>
                  </a:lnTo>
                  <a:cubicBezTo>
                    <a:pt x="5049774" y="0"/>
                    <a:pt x="5074031" y="24257"/>
                    <a:pt x="5074031" y="54102"/>
                  </a:cubicBezTo>
                  <a:lnTo>
                    <a:pt x="5074031" y="3824351"/>
                  </a:lnTo>
                  <a:cubicBezTo>
                    <a:pt x="5074031" y="3854196"/>
                    <a:pt x="5049774" y="3878453"/>
                    <a:pt x="5019929" y="3878453"/>
                  </a:cubicBezTo>
                  <a:lnTo>
                    <a:pt x="54102" y="3878453"/>
                  </a:lnTo>
                  <a:cubicBezTo>
                    <a:pt x="24257" y="3878453"/>
                    <a:pt x="0" y="3854196"/>
                    <a:pt x="0" y="3824351"/>
                  </a:cubicBezTo>
                  <a:close/>
                </a:path>
              </a:pathLst>
            </a:custGeom>
            <a:solidFill>
              <a:srgbClr val="3F4652"/>
            </a:solidFill>
          </p:spPr>
        </p:sp>
      </p:grpSp>
      <p:sp>
        <p:nvSpPr>
          <p:cNvPr id="19" name="TextBox 19"/>
          <p:cNvSpPr txBox="1"/>
          <p:nvPr/>
        </p:nvSpPr>
        <p:spPr>
          <a:xfrm>
            <a:off x="13816308" y="3837984"/>
            <a:ext cx="3265284"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Validation</a:t>
            </a:r>
          </a:p>
        </p:txBody>
      </p:sp>
      <p:sp>
        <p:nvSpPr>
          <p:cNvPr id="20" name="TextBox 20"/>
          <p:cNvSpPr txBox="1"/>
          <p:nvPr/>
        </p:nvSpPr>
        <p:spPr>
          <a:xfrm>
            <a:off x="13816308" y="4451004"/>
            <a:ext cx="3265284" cy="1774622"/>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Business rules — amount checks, category validation — live here, never in the Controller.</a:t>
            </a:r>
          </a:p>
        </p:txBody>
      </p:sp>
      <p:grpSp>
        <p:nvGrpSpPr>
          <p:cNvPr id="21" name="Group 21"/>
          <p:cNvGrpSpPr/>
          <p:nvPr/>
        </p:nvGrpSpPr>
        <p:grpSpPr>
          <a:xfrm>
            <a:off x="9483176" y="6753225"/>
            <a:ext cx="7868545" cy="2083441"/>
            <a:chOff x="0" y="0"/>
            <a:chExt cx="10491394" cy="2777922"/>
          </a:xfrm>
        </p:grpSpPr>
        <p:sp>
          <p:nvSpPr>
            <p:cNvPr id="22" name="Freeform 22"/>
            <p:cNvSpPr/>
            <p:nvPr/>
          </p:nvSpPr>
          <p:spPr>
            <a:xfrm>
              <a:off x="0" y="0"/>
              <a:ext cx="10491470" cy="2777998"/>
            </a:xfrm>
            <a:custGeom>
              <a:avLst/>
              <a:gdLst/>
              <a:ahLst/>
              <a:cxnLst/>
              <a:rect l="l" t="t" r="r" b="b"/>
              <a:pathLst>
                <a:path w="10491470" h="2777998">
                  <a:moveTo>
                    <a:pt x="0" y="54102"/>
                  </a:moveTo>
                  <a:cubicBezTo>
                    <a:pt x="0" y="24257"/>
                    <a:pt x="24257" y="0"/>
                    <a:pt x="54102" y="0"/>
                  </a:cubicBezTo>
                  <a:lnTo>
                    <a:pt x="10437368" y="0"/>
                  </a:lnTo>
                  <a:cubicBezTo>
                    <a:pt x="10467213" y="0"/>
                    <a:pt x="10491470" y="24257"/>
                    <a:pt x="10491470" y="54102"/>
                  </a:cubicBezTo>
                  <a:lnTo>
                    <a:pt x="10491470" y="2723896"/>
                  </a:lnTo>
                  <a:cubicBezTo>
                    <a:pt x="10491470" y="2753741"/>
                    <a:pt x="10467213" y="2777998"/>
                    <a:pt x="10437368" y="2777998"/>
                  </a:cubicBezTo>
                  <a:lnTo>
                    <a:pt x="54102" y="2777998"/>
                  </a:lnTo>
                  <a:cubicBezTo>
                    <a:pt x="24257" y="2777998"/>
                    <a:pt x="0" y="2753741"/>
                    <a:pt x="0" y="2723896"/>
                  </a:cubicBezTo>
                  <a:close/>
                </a:path>
              </a:pathLst>
            </a:custGeom>
            <a:solidFill>
              <a:srgbClr val="3F4652"/>
            </a:solidFill>
          </p:spPr>
        </p:sp>
      </p:grpSp>
      <p:sp>
        <p:nvSpPr>
          <p:cNvPr id="23" name="TextBox 23"/>
          <p:cNvSpPr txBox="1"/>
          <p:nvPr/>
        </p:nvSpPr>
        <p:spPr>
          <a:xfrm>
            <a:off x="9753305" y="7004294"/>
            <a:ext cx="3377956"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Delegation</a:t>
            </a:r>
          </a:p>
        </p:txBody>
      </p:sp>
      <p:sp>
        <p:nvSpPr>
          <p:cNvPr id="24" name="TextBox 24"/>
          <p:cNvSpPr txBox="1"/>
          <p:nvPr/>
        </p:nvSpPr>
        <p:spPr>
          <a:xfrm>
            <a:off x="9753305" y="7617323"/>
            <a:ext cx="7328297" cy="949223"/>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After processing, delegates persistence to the ExpenseRepository.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945804" y="729253"/>
            <a:ext cx="10097691" cy="873176"/>
          </a:xfrm>
          <a:prstGeom prst="rect">
            <a:avLst/>
          </a:prstGeom>
        </p:spPr>
        <p:txBody>
          <a:bodyPr lIns="0" tIns="0" rIns="0" bIns="0" rtlCol="0" anchor="t">
            <a:spAutoFit/>
          </a:bodyPr>
          <a:lstStyle/>
          <a:p>
            <a:pPr algn="l">
              <a:lnSpc>
                <a:spcPts val="6625"/>
              </a:lnSpc>
            </a:pPr>
            <a:r>
              <a:rPr lang="en-US" sz="5312">
                <a:solidFill>
                  <a:srgbClr val="76B9FF"/>
                </a:solidFill>
                <a:latin typeface="Roboto Slab"/>
                <a:ea typeface="Roboto Slab"/>
                <a:cs typeface="Roboto Slab"/>
                <a:sym typeface="Roboto Slab"/>
              </a:rPr>
              <a:t>Repository Layer — Data Access</a:t>
            </a:r>
          </a:p>
        </p:txBody>
      </p:sp>
      <p:sp>
        <p:nvSpPr>
          <p:cNvPr id="7" name="TextBox 7"/>
          <p:cNvSpPr txBox="1"/>
          <p:nvPr/>
        </p:nvSpPr>
        <p:spPr>
          <a:xfrm>
            <a:off x="945804" y="2031797"/>
            <a:ext cx="16396392" cy="1231940"/>
          </a:xfrm>
          <a:prstGeom prst="rect">
            <a:avLst/>
          </a:prstGeom>
        </p:spPr>
        <p:txBody>
          <a:bodyPr lIns="0" tIns="0" rIns="0" bIns="0" rtlCol="0" anchor="t">
            <a:spAutoFit/>
          </a:bodyPr>
          <a:lstStyle/>
          <a:p>
            <a:pPr algn="l">
              <a:lnSpc>
                <a:spcPts val="3312"/>
              </a:lnSpc>
            </a:pPr>
            <a:endParaRPr lang="en-US" sz="2125" dirty="0">
              <a:solidFill>
                <a:srgbClr val="D6E5EF"/>
              </a:solidFill>
              <a:latin typeface="Roboto"/>
              <a:ea typeface="Roboto"/>
              <a:cs typeface="Roboto"/>
              <a:sym typeface="Roboto"/>
            </a:endParaRPr>
          </a:p>
          <a:p>
            <a:pPr algn="l">
              <a:lnSpc>
                <a:spcPts val="3312"/>
              </a:lnSpc>
            </a:pPr>
            <a:r>
              <a:rPr lang="en-US" sz="2125" dirty="0">
                <a:solidFill>
                  <a:srgbClr val="D6E5EF"/>
                </a:solidFill>
                <a:latin typeface="Roboto"/>
                <a:ea typeface="Roboto"/>
                <a:cs typeface="Roboto"/>
                <a:sym typeface="Roboto"/>
              </a:rPr>
              <a:t>The </a:t>
            </a:r>
            <a:r>
              <a:rPr lang="en-US" sz="2125" b="1" dirty="0">
                <a:solidFill>
                  <a:srgbClr val="D6E5EF"/>
                </a:solidFill>
                <a:latin typeface="Roboto Bold"/>
                <a:ea typeface="Roboto Bold"/>
                <a:cs typeface="Roboto Bold"/>
                <a:sym typeface="Roboto Bold"/>
              </a:rPr>
              <a:t>bridge between Java and the database</a:t>
            </a:r>
            <a:r>
              <a:rPr lang="en-US" sz="2125" dirty="0">
                <a:solidFill>
                  <a:srgbClr val="D6E5EF"/>
                </a:solidFill>
                <a:latin typeface="Roboto"/>
                <a:ea typeface="Roboto"/>
                <a:cs typeface="Roboto"/>
                <a:sym typeface="Roboto"/>
              </a:rPr>
              <a:t>. By extending </a:t>
            </a:r>
            <a:r>
              <a:rPr lang="en-US" sz="2125" dirty="0" err="1">
                <a:solidFill>
                  <a:srgbClr val="D6E5EF"/>
                </a:solidFill>
                <a:latin typeface="Roboto"/>
                <a:ea typeface="Roboto"/>
                <a:cs typeface="Roboto"/>
                <a:sym typeface="Roboto"/>
              </a:rPr>
              <a:t>JpaRepository</a:t>
            </a:r>
            <a:r>
              <a:rPr lang="en-US" sz="2125" dirty="0">
                <a:solidFill>
                  <a:srgbClr val="D6E5EF"/>
                </a:solidFill>
                <a:latin typeface="Roboto"/>
                <a:ea typeface="Roboto"/>
                <a:cs typeface="Roboto"/>
                <a:sym typeface="Roboto"/>
              </a:rPr>
              <a:t>, the repository gets a full suite of CRUD operations with zero boilerplate.</a:t>
            </a:r>
          </a:p>
        </p:txBody>
      </p:sp>
      <p:grpSp>
        <p:nvGrpSpPr>
          <p:cNvPr id="8" name="Group 8"/>
          <p:cNvGrpSpPr/>
          <p:nvPr/>
        </p:nvGrpSpPr>
        <p:grpSpPr>
          <a:xfrm>
            <a:off x="945804" y="3560559"/>
            <a:ext cx="7868545" cy="5606948"/>
            <a:chOff x="0" y="0"/>
            <a:chExt cx="10491394" cy="7475931"/>
          </a:xfrm>
        </p:grpSpPr>
        <p:sp>
          <p:nvSpPr>
            <p:cNvPr id="9" name="Freeform 9"/>
            <p:cNvSpPr/>
            <p:nvPr/>
          </p:nvSpPr>
          <p:spPr>
            <a:xfrm>
              <a:off x="0" y="0"/>
              <a:ext cx="10491470" cy="7475982"/>
            </a:xfrm>
            <a:custGeom>
              <a:avLst/>
              <a:gdLst/>
              <a:ahLst/>
              <a:cxnLst/>
              <a:rect l="l" t="t" r="r" b="b"/>
              <a:pathLst>
                <a:path w="10491470" h="7475982">
                  <a:moveTo>
                    <a:pt x="0" y="54102"/>
                  </a:moveTo>
                  <a:cubicBezTo>
                    <a:pt x="0" y="24257"/>
                    <a:pt x="24257" y="0"/>
                    <a:pt x="54102" y="0"/>
                  </a:cubicBezTo>
                  <a:lnTo>
                    <a:pt x="10437368" y="0"/>
                  </a:lnTo>
                  <a:cubicBezTo>
                    <a:pt x="10467213" y="0"/>
                    <a:pt x="10491470" y="24257"/>
                    <a:pt x="10491470" y="54102"/>
                  </a:cubicBezTo>
                  <a:lnTo>
                    <a:pt x="10491470" y="7421880"/>
                  </a:lnTo>
                  <a:cubicBezTo>
                    <a:pt x="10491470" y="7451725"/>
                    <a:pt x="10467213" y="7475982"/>
                    <a:pt x="10437368" y="7475982"/>
                  </a:cubicBezTo>
                  <a:lnTo>
                    <a:pt x="54102" y="7475982"/>
                  </a:lnTo>
                  <a:cubicBezTo>
                    <a:pt x="24257" y="7475982"/>
                    <a:pt x="0" y="7451725"/>
                    <a:pt x="0" y="7421880"/>
                  </a:cubicBezTo>
                  <a:close/>
                </a:path>
              </a:pathLst>
            </a:custGeom>
            <a:solidFill>
              <a:srgbClr val="2D3440"/>
            </a:solidFill>
          </p:spPr>
        </p:sp>
      </p:grpSp>
      <p:grpSp>
        <p:nvGrpSpPr>
          <p:cNvPr id="10" name="Group 10"/>
          <p:cNvGrpSpPr/>
          <p:nvPr/>
        </p:nvGrpSpPr>
        <p:grpSpPr>
          <a:xfrm>
            <a:off x="932412" y="3560559"/>
            <a:ext cx="7895330" cy="5606948"/>
            <a:chOff x="0" y="0"/>
            <a:chExt cx="10527106" cy="7475931"/>
          </a:xfrm>
        </p:grpSpPr>
        <p:sp>
          <p:nvSpPr>
            <p:cNvPr id="11" name="Freeform 11"/>
            <p:cNvSpPr/>
            <p:nvPr/>
          </p:nvSpPr>
          <p:spPr>
            <a:xfrm>
              <a:off x="0" y="0"/>
              <a:ext cx="10527157" cy="7475982"/>
            </a:xfrm>
            <a:custGeom>
              <a:avLst/>
              <a:gdLst/>
              <a:ahLst/>
              <a:cxnLst/>
              <a:rect l="l" t="t" r="r" b="b"/>
              <a:pathLst>
                <a:path w="10527157" h="7475982">
                  <a:moveTo>
                    <a:pt x="0" y="54102"/>
                  </a:moveTo>
                  <a:cubicBezTo>
                    <a:pt x="0" y="24257"/>
                    <a:pt x="24257" y="0"/>
                    <a:pt x="54102" y="0"/>
                  </a:cubicBezTo>
                  <a:lnTo>
                    <a:pt x="10473055" y="0"/>
                  </a:lnTo>
                  <a:cubicBezTo>
                    <a:pt x="10502900" y="0"/>
                    <a:pt x="10527157" y="24257"/>
                    <a:pt x="10527157" y="54102"/>
                  </a:cubicBezTo>
                  <a:lnTo>
                    <a:pt x="10527157" y="7421880"/>
                  </a:lnTo>
                  <a:cubicBezTo>
                    <a:pt x="10527157" y="7451725"/>
                    <a:pt x="10502900" y="7475982"/>
                    <a:pt x="10473055" y="7475982"/>
                  </a:cubicBezTo>
                  <a:lnTo>
                    <a:pt x="54102" y="7475982"/>
                  </a:lnTo>
                  <a:cubicBezTo>
                    <a:pt x="24257" y="7475982"/>
                    <a:pt x="0" y="7451725"/>
                    <a:pt x="0" y="7421880"/>
                  </a:cubicBezTo>
                  <a:close/>
                </a:path>
              </a:pathLst>
            </a:custGeom>
            <a:solidFill>
              <a:srgbClr val="2D3440"/>
            </a:solidFill>
          </p:spPr>
        </p:sp>
      </p:grpSp>
      <p:sp>
        <p:nvSpPr>
          <p:cNvPr id="12" name="TextBox 12"/>
          <p:cNvSpPr txBox="1"/>
          <p:nvPr/>
        </p:nvSpPr>
        <p:spPr>
          <a:xfrm>
            <a:off x="1270102" y="3706863"/>
            <a:ext cx="7219950" cy="5190534"/>
          </a:xfrm>
          <a:prstGeom prst="rect">
            <a:avLst/>
          </a:prstGeom>
        </p:spPr>
        <p:txBody>
          <a:bodyPr lIns="0" tIns="0" rIns="0" bIns="0" rtlCol="0" anchor="t">
            <a:spAutoFit/>
          </a:bodyPr>
          <a:lstStyle/>
          <a:p>
            <a:pPr algn="l">
              <a:lnSpc>
                <a:spcPts val="3312"/>
              </a:lnSpc>
            </a:pPr>
            <a:r>
              <a:rPr lang="en-US" sz="2125" dirty="0">
                <a:solidFill>
                  <a:srgbClr val="79C0FF"/>
                </a:solidFill>
                <a:latin typeface="Consolas"/>
                <a:ea typeface="Consolas"/>
                <a:cs typeface="Consolas"/>
                <a:sym typeface="Consolas"/>
              </a:rPr>
              <a:t>@Repository</a:t>
            </a:r>
          </a:p>
          <a:p>
            <a:pPr algn="l">
              <a:lnSpc>
                <a:spcPts val="3312"/>
              </a:lnSpc>
            </a:pPr>
            <a:r>
              <a:rPr lang="en-US" sz="2125" dirty="0">
                <a:solidFill>
                  <a:srgbClr val="79C0FF"/>
                </a:solidFill>
                <a:latin typeface="Consolas"/>
                <a:ea typeface="Consolas"/>
                <a:cs typeface="Consolas"/>
                <a:sym typeface="Consolas"/>
              </a:rPr>
              <a:t>public interface </a:t>
            </a:r>
            <a:r>
              <a:rPr lang="en-US" sz="2125" dirty="0" err="1">
                <a:solidFill>
                  <a:srgbClr val="79C0FF"/>
                </a:solidFill>
                <a:latin typeface="Consolas"/>
                <a:ea typeface="Consolas"/>
                <a:cs typeface="Consolas"/>
                <a:sym typeface="Consolas"/>
              </a:rPr>
              <a:t>ExpenseRepository</a:t>
            </a: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extends </a:t>
            </a:r>
            <a:r>
              <a:rPr lang="en-US" sz="2125" dirty="0" err="1">
                <a:solidFill>
                  <a:srgbClr val="79C0FF"/>
                </a:solidFill>
                <a:latin typeface="Consolas"/>
                <a:ea typeface="Consolas"/>
                <a:cs typeface="Consolas"/>
                <a:sym typeface="Consolas"/>
              </a:rPr>
              <a:t>JpaRepository</a:t>
            </a: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&lt;Expense, Long&gt; {</a:t>
            </a:r>
          </a:p>
          <a:p>
            <a:pPr algn="l">
              <a:lnSpc>
                <a:spcPts val="3312"/>
              </a:lnSpc>
            </a:pP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 CRUD methods provided</a:t>
            </a:r>
          </a:p>
          <a:p>
            <a:pPr algn="l">
              <a:lnSpc>
                <a:spcPts val="3312"/>
              </a:lnSpc>
            </a:pPr>
            <a:r>
              <a:rPr lang="en-US" sz="2125" dirty="0">
                <a:solidFill>
                  <a:srgbClr val="79C0FF"/>
                </a:solidFill>
                <a:latin typeface="Consolas"/>
                <a:ea typeface="Consolas"/>
                <a:cs typeface="Consolas"/>
                <a:sym typeface="Consolas"/>
              </a:rPr>
              <a:t>  // automatically by Spring Data JPA</a:t>
            </a:r>
          </a:p>
          <a:p>
            <a:pPr algn="l">
              <a:lnSpc>
                <a:spcPts val="3312"/>
              </a:lnSpc>
            </a:pPr>
            <a:endParaRPr lang="en-US" sz="2125" dirty="0">
              <a:solidFill>
                <a:srgbClr val="79C0FF"/>
              </a:solidFill>
              <a:latin typeface="Consolas"/>
              <a:ea typeface="Consolas"/>
              <a:cs typeface="Consolas"/>
              <a:sym typeface="Consolas"/>
            </a:endParaRPr>
          </a:p>
          <a:p>
            <a:pPr algn="l">
              <a:lnSpc>
                <a:spcPts val="3312"/>
              </a:lnSpc>
            </a:pPr>
            <a:r>
              <a:rPr lang="en-US" sz="2125" dirty="0">
                <a:solidFill>
                  <a:srgbClr val="79C0FF"/>
                </a:solidFill>
                <a:latin typeface="Consolas"/>
                <a:ea typeface="Consolas"/>
                <a:cs typeface="Consolas"/>
                <a:sym typeface="Consolas"/>
              </a:rPr>
              <a:t>  // Custom queries can be added here</a:t>
            </a:r>
          </a:p>
          <a:p>
            <a:pPr algn="l">
              <a:lnSpc>
                <a:spcPts val="3312"/>
              </a:lnSpc>
            </a:pPr>
            <a:r>
              <a:rPr lang="en-US" sz="2125" dirty="0">
                <a:solidFill>
                  <a:srgbClr val="79C0FF"/>
                </a:solidFill>
                <a:latin typeface="Consolas"/>
                <a:ea typeface="Consolas"/>
                <a:cs typeface="Consolas"/>
                <a:sym typeface="Consolas"/>
              </a:rPr>
              <a:t>  List&lt;Expense&gt; </a:t>
            </a:r>
            <a:r>
              <a:rPr lang="en-US" sz="2125" dirty="0" err="1">
                <a:solidFill>
                  <a:srgbClr val="79C0FF"/>
                </a:solidFill>
                <a:latin typeface="Consolas"/>
                <a:ea typeface="Consolas"/>
                <a:cs typeface="Consolas"/>
                <a:sym typeface="Consolas"/>
              </a:rPr>
              <a:t>findByCategory</a:t>
            </a:r>
            <a:r>
              <a:rPr lang="en-US" sz="2125" dirty="0">
                <a:solidFill>
                  <a:srgbClr val="79C0FF"/>
                </a:solidFill>
                <a:latin typeface="Consolas"/>
                <a:ea typeface="Consolas"/>
                <a:cs typeface="Consolas"/>
                <a:sym typeface="Consolas"/>
              </a:rPr>
              <a:t>(</a:t>
            </a:r>
          </a:p>
          <a:p>
            <a:pPr algn="l">
              <a:lnSpc>
                <a:spcPts val="3312"/>
              </a:lnSpc>
            </a:pPr>
            <a:r>
              <a:rPr lang="en-US" sz="2125" dirty="0">
                <a:solidFill>
                  <a:srgbClr val="79C0FF"/>
                </a:solidFill>
                <a:latin typeface="Consolas"/>
                <a:ea typeface="Consolas"/>
                <a:cs typeface="Consolas"/>
                <a:sym typeface="Consolas"/>
              </a:rPr>
              <a:t>      String category);</a:t>
            </a:r>
          </a:p>
          <a:p>
            <a:pPr algn="l">
              <a:lnSpc>
                <a:spcPts val="3312"/>
              </a:lnSpc>
            </a:pPr>
            <a:r>
              <a:rPr lang="en-US" sz="2125" dirty="0">
                <a:solidFill>
                  <a:srgbClr val="79C0FF"/>
                </a:solidFill>
                <a:latin typeface="Consolas"/>
                <a:ea typeface="Consolas"/>
                <a:cs typeface="Consolas"/>
                <a:sym typeface="Consolas"/>
              </a:rPr>
              <a:t>}</a:t>
            </a:r>
          </a:p>
        </p:txBody>
      </p:sp>
      <p:sp>
        <p:nvSpPr>
          <p:cNvPr id="13" name="TextBox 13"/>
          <p:cNvSpPr txBox="1"/>
          <p:nvPr/>
        </p:nvSpPr>
        <p:spPr>
          <a:xfrm>
            <a:off x="10480624" y="3541509"/>
            <a:ext cx="3377956"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Zero Boilerplate</a:t>
            </a:r>
          </a:p>
        </p:txBody>
      </p:sp>
      <p:sp>
        <p:nvSpPr>
          <p:cNvPr id="14" name="TextBox 14"/>
          <p:cNvSpPr txBox="1"/>
          <p:nvPr/>
        </p:nvSpPr>
        <p:spPr>
          <a:xfrm>
            <a:off x="10480624" y="4154538"/>
            <a:ext cx="6871097" cy="968273"/>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Extending JpaRepository auto-generates save(), findAll(), deleteById(), and more.</a:t>
            </a:r>
          </a:p>
        </p:txBody>
      </p:sp>
      <p:sp>
        <p:nvSpPr>
          <p:cNvPr id="15" name="TextBox 15"/>
          <p:cNvSpPr txBox="1"/>
          <p:nvPr/>
        </p:nvSpPr>
        <p:spPr>
          <a:xfrm>
            <a:off x="10480624" y="5618855"/>
            <a:ext cx="3377956"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Query Methods</a:t>
            </a:r>
          </a:p>
        </p:txBody>
      </p:sp>
      <p:sp>
        <p:nvSpPr>
          <p:cNvPr id="16" name="TextBox 16"/>
          <p:cNvSpPr txBox="1"/>
          <p:nvPr/>
        </p:nvSpPr>
        <p:spPr>
          <a:xfrm>
            <a:off x="10480624" y="6231884"/>
            <a:ext cx="6871097" cy="949223"/>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Spring Data derives SQL from method names — findByCategory() generates the query automatically.</a:t>
            </a:r>
          </a:p>
        </p:txBody>
      </p:sp>
      <p:sp>
        <p:nvSpPr>
          <p:cNvPr id="17" name="TextBox 17"/>
          <p:cNvSpPr txBox="1"/>
          <p:nvPr/>
        </p:nvSpPr>
        <p:spPr>
          <a:xfrm>
            <a:off x="10480624" y="7677150"/>
            <a:ext cx="3377956" cy="441274"/>
          </a:xfrm>
          <a:prstGeom prst="rect">
            <a:avLst/>
          </a:prstGeom>
        </p:spPr>
        <p:txBody>
          <a:bodyPr lIns="0" tIns="0" rIns="0" bIns="0" rtlCol="0" anchor="t">
            <a:spAutoFit/>
          </a:bodyPr>
          <a:lstStyle/>
          <a:p>
            <a:pPr algn="l">
              <a:lnSpc>
                <a:spcPts val="3312"/>
              </a:lnSpc>
            </a:pPr>
            <a:r>
              <a:rPr lang="en-US" sz="2625">
                <a:solidFill>
                  <a:srgbClr val="D6E5EF"/>
                </a:solidFill>
                <a:latin typeface="Roboto Slab"/>
                <a:ea typeface="Roboto Slab"/>
                <a:cs typeface="Roboto Slab"/>
                <a:sym typeface="Roboto Slab"/>
              </a:rPr>
              <a:t>@Repository</a:t>
            </a:r>
          </a:p>
        </p:txBody>
      </p:sp>
      <p:sp>
        <p:nvSpPr>
          <p:cNvPr id="18" name="TextBox 18"/>
          <p:cNvSpPr txBox="1"/>
          <p:nvPr/>
        </p:nvSpPr>
        <p:spPr>
          <a:xfrm>
            <a:off x="10480624" y="8290169"/>
            <a:ext cx="6871097" cy="949223"/>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Enables exception translation — converts low-level DB exceptions into Spring's unified DataAccessException.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945804" y="745331"/>
            <a:ext cx="6756054" cy="873176"/>
          </a:xfrm>
          <a:prstGeom prst="rect">
            <a:avLst/>
          </a:prstGeom>
        </p:spPr>
        <p:txBody>
          <a:bodyPr lIns="0" tIns="0" rIns="0" bIns="0" rtlCol="0" anchor="t">
            <a:spAutoFit/>
          </a:bodyPr>
          <a:lstStyle/>
          <a:p>
            <a:pPr algn="l">
              <a:lnSpc>
                <a:spcPts val="6625"/>
              </a:lnSpc>
            </a:pPr>
            <a:r>
              <a:rPr lang="en-US" sz="5312">
                <a:solidFill>
                  <a:srgbClr val="76B9FF"/>
                </a:solidFill>
                <a:latin typeface="Roboto Slab"/>
                <a:ea typeface="Roboto Slab"/>
                <a:cs typeface="Roboto Slab"/>
                <a:sym typeface="Roboto Slab"/>
              </a:rPr>
              <a:t>Full Request Flow</a:t>
            </a:r>
          </a:p>
        </p:txBody>
      </p:sp>
      <p:sp>
        <p:nvSpPr>
          <p:cNvPr id="7" name="TextBox 7"/>
          <p:cNvSpPr txBox="1"/>
          <p:nvPr/>
        </p:nvSpPr>
        <p:spPr>
          <a:xfrm>
            <a:off x="945804" y="2047875"/>
            <a:ext cx="16396392" cy="507949"/>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Every API call in Finsight travels through all layers in sequence — each layer responsible for exactly one concern.</a:t>
            </a:r>
          </a:p>
        </p:txBody>
      </p:sp>
      <p:grpSp>
        <p:nvGrpSpPr>
          <p:cNvPr id="8" name="Group 8"/>
          <p:cNvGrpSpPr/>
          <p:nvPr/>
        </p:nvGrpSpPr>
        <p:grpSpPr>
          <a:xfrm>
            <a:off x="1208332" y="2845594"/>
            <a:ext cx="15871184" cy="5955506"/>
            <a:chOff x="0" y="0"/>
            <a:chExt cx="21161578" cy="7940675"/>
          </a:xfrm>
        </p:grpSpPr>
        <p:sp>
          <p:nvSpPr>
            <p:cNvPr id="9" name="Freeform 9" descr="preencoded.png"/>
            <p:cNvSpPr/>
            <p:nvPr/>
          </p:nvSpPr>
          <p:spPr>
            <a:xfrm>
              <a:off x="0" y="0"/>
              <a:ext cx="21161629" cy="7940675"/>
            </a:xfrm>
            <a:custGeom>
              <a:avLst/>
              <a:gdLst/>
              <a:ahLst/>
              <a:cxnLst/>
              <a:rect l="l" t="t" r="r" b="b"/>
              <a:pathLst>
                <a:path w="21161629" h="7940675">
                  <a:moveTo>
                    <a:pt x="0" y="0"/>
                  </a:moveTo>
                  <a:lnTo>
                    <a:pt x="21161629" y="0"/>
                  </a:lnTo>
                  <a:lnTo>
                    <a:pt x="21161629" y="7940675"/>
                  </a:lnTo>
                  <a:lnTo>
                    <a:pt x="0" y="7940675"/>
                  </a:lnTo>
                  <a:lnTo>
                    <a:pt x="0" y="0"/>
                  </a:lnTo>
                  <a:close/>
                </a:path>
              </a:pathLst>
            </a:custGeom>
            <a:blipFill>
              <a:blip r:embed="rId3"/>
              <a:stretch>
                <a:fillRect l="-12" r="-11"/>
              </a:stretch>
            </a:blipFill>
          </p:spPr>
        </p:sp>
      </p:grpSp>
      <p:sp>
        <p:nvSpPr>
          <p:cNvPr id="10" name="TextBox 10"/>
          <p:cNvSpPr txBox="1"/>
          <p:nvPr/>
        </p:nvSpPr>
        <p:spPr>
          <a:xfrm>
            <a:off x="14032020" y="7336298"/>
            <a:ext cx="2393813" cy="480184"/>
          </a:xfrm>
          <a:prstGeom prst="rect">
            <a:avLst/>
          </a:prstGeom>
        </p:spPr>
        <p:txBody>
          <a:bodyPr lIns="0" tIns="0" rIns="0" bIns="0" rtlCol="0" anchor="t">
            <a:spAutoFit/>
          </a:bodyPr>
          <a:lstStyle/>
          <a:p>
            <a:pPr algn="ctr">
              <a:lnSpc>
                <a:spcPts val="3625"/>
              </a:lnSpc>
            </a:pPr>
            <a:r>
              <a:rPr lang="en-US" sz="2874">
                <a:solidFill>
                  <a:srgbClr val="D6E5EF"/>
                </a:solidFill>
                <a:latin typeface="Roboto Slab"/>
                <a:ea typeface="Roboto Slab"/>
                <a:cs typeface="Roboto Slab"/>
                <a:sym typeface="Roboto Slab"/>
              </a:rPr>
              <a:t>Database</a:t>
            </a:r>
          </a:p>
        </p:txBody>
      </p:sp>
      <p:sp>
        <p:nvSpPr>
          <p:cNvPr id="11" name="TextBox 11"/>
          <p:cNvSpPr txBox="1"/>
          <p:nvPr/>
        </p:nvSpPr>
        <p:spPr>
          <a:xfrm>
            <a:off x="11015167" y="7336298"/>
            <a:ext cx="2393813" cy="480184"/>
          </a:xfrm>
          <a:prstGeom prst="rect">
            <a:avLst/>
          </a:prstGeom>
        </p:spPr>
        <p:txBody>
          <a:bodyPr lIns="0" tIns="0" rIns="0" bIns="0" rtlCol="0" anchor="t">
            <a:spAutoFit/>
          </a:bodyPr>
          <a:lstStyle/>
          <a:p>
            <a:pPr algn="ctr">
              <a:lnSpc>
                <a:spcPts val="3625"/>
              </a:lnSpc>
            </a:pPr>
            <a:r>
              <a:rPr lang="en-US" sz="2874">
                <a:solidFill>
                  <a:srgbClr val="D6E5EF"/>
                </a:solidFill>
                <a:latin typeface="Roboto Slab"/>
                <a:ea typeface="Roboto Slab"/>
                <a:cs typeface="Roboto Slab"/>
                <a:sym typeface="Roboto Slab"/>
              </a:rPr>
              <a:t>Repository</a:t>
            </a:r>
          </a:p>
        </p:txBody>
      </p:sp>
      <p:sp>
        <p:nvSpPr>
          <p:cNvPr id="12" name="TextBox 12"/>
          <p:cNvSpPr txBox="1"/>
          <p:nvPr/>
        </p:nvSpPr>
        <p:spPr>
          <a:xfrm>
            <a:off x="8014706" y="7336298"/>
            <a:ext cx="2393813" cy="480184"/>
          </a:xfrm>
          <a:prstGeom prst="rect">
            <a:avLst/>
          </a:prstGeom>
        </p:spPr>
        <p:txBody>
          <a:bodyPr lIns="0" tIns="0" rIns="0" bIns="0" rtlCol="0" anchor="t">
            <a:spAutoFit/>
          </a:bodyPr>
          <a:lstStyle/>
          <a:p>
            <a:pPr algn="ctr">
              <a:lnSpc>
                <a:spcPts val="3625"/>
              </a:lnSpc>
            </a:pPr>
            <a:r>
              <a:rPr lang="en-US" sz="2874">
                <a:solidFill>
                  <a:srgbClr val="D6E5EF"/>
                </a:solidFill>
                <a:latin typeface="Roboto Slab"/>
                <a:ea typeface="Roboto Slab"/>
                <a:cs typeface="Roboto Slab"/>
                <a:sym typeface="Roboto Slab"/>
              </a:rPr>
              <a:t>Service</a:t>
            </a:r>
          </a:p>
        </p:txBody>
      </p:sp>
      <p:sp>
        <p:nvSpPr>
          <p:cNvPr id="13" name="TextBox 13"/>
          <p:cNvSpPr txBox="1"/>
          <p:nvPr/>
        </p:nvSpPr>
        <p:spPr>
          <a:xfrm>
            <a:off x="5014236" y="7336298"/>
            <a:ext cx="2393813" cy="480184"/>
          </a:xfrm>
          <a:prstGeom prst="rect">
            <a:avLst/>
          </a:prstGeom>
        </p:spPr>
        <p:txBody>
          <a:bodyPr lIns="0" tIns="0" rIns="0" bIns="0" rtlCol="0" anchor="t">
            <a:spAutoFit/>
          </a:bodyPr>
          <a:lstStyle/>
          <a:p>
            <a:pPr algn="ctr">
              <a:lnSpc>
                <a:spcPts val="3625"/>
              </a:lnSpc>
            </a:pPr>
            <a:r>
              <a:rPr lang="en-US" sz="2874">
                <a:solidFill>
                  <a:srgbClr val="D6E5EF"/>
                </a:solidFill>
                <a:latin typeface="Roboto Slab"/>
                <a:ea typeface="Roboto Slab"/>
                <a:cs typeface="Roboto Slab"/>
                <a:sym typeface="Roboto Slab"/>
              </a:rPr>
              <a:t>Controller</a:t>
            </a:r>
          </a:p>
        </p:txBody>
      </p:sp>
      <p:sp>
        <p:nvSpPr>
          <p:cNvPr id="14" name="TextBox 14"/>
          <p:cNvSpPr txBox="1"/>
          <p:nvPr/>
        </p:nvSpPr>
        <p:spPr>
          <a:xfrm>
            <a:off x="1948196" y="7336298"/>
            <a:ext cx="2393813" cy="480184"/>
          </a:xfrm>
          <a:prstGeom prst="rect">
            <a:avLst/>
          </a:prstGeom>
        </p:spPr>
        <p:txBody>
          <a:bodyPr lIns="0" tIns="0" rIns="0" bIns="0" rtlCol="0" anchor="t">
            <a:spAutoFit/>
          </a:bodyPr>
          <a:lstStyle/>
          <a:p>
            <a:pPr algn="ctr">
              <a:lnSpc>
                <a:spcPts val="3625"/>
              </a:lnSpc>
            </a:pPr>
            <a:r>
              <a:rPr lang="en-US" sz="2874">
                <a:solidFill>
                  <a:srgbClr val="D6E5EF"/>
                </a:solidFill>
                <a:latin typeface="Roboto Slab"/>
                <a:ea typeface="Roboto Slab"/>
                <a:cs typeface="Roboto Slab"/>
                <a:sym typeface="Roboto Slab"/>
              </a:rPr>
              <a:t>API Request</a:t>
            </a:r>
          </a:p>
        </p:txBody>
      </p:sp>
      <p:sp>
        <p:nvSpPr>
          <p:cNvPr id="15" name="TextBox 15"/>
          <p:cNvSpPr txBox="1"/>
          <p:nvPr/>
        </p:nvSpPr>
        <p:spPr>
          <a:xfrm>
            <a:off x="945804" y="9005145"/>
            <a:ext cx="16396392" cy="507949"/>
          </a:xfrm>
          <a:prstGeom prst="rect">
            <a:avLst/>
          </a:prstGeom>
        </p:spPr>
        <p:txBody>
          <a:bodyPr lIns="0" tIns="0" rIns="0" bIns="0" rtlCol="0" anchor="t">
            <a:spAutoFit/>
          </a:bodyPr>
          <a:lstStyle/>
          <a:p>
            <a:pPr algn="l">
              <a:lnSpc>
                <a:spcPts val="3312"/>
              </a:lnSpc>
            </a:pPr>
            <a:r>
              <a:rPr lang="en-US" sz="2125">
                <a:solidFill>
                  <a:srgbClr val="D6E5EF"/>
                </a:solidFill>
                <a:latin typeface="Roboto"/>
                <a:ea typeface="Roboto"/>
                <a:cs typeface="Roboto"/>
                <a:sym typeface="Roboto"/>
              </a:rPr>
              <a:t>This unidirectional flow ensures predictable behavior, straightforward debugging, and clean unit test boundaries at every layer.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grpSp>
        <p:nvGrpSpPr>
          <p:cNvPr id="8" name="Group 8"/>
          <p:cNvGrpSpPr/>
          <p:nvPr/>
        </p:nvGrpSpPr>
        <p:grpSpPr>
          <a:xfrm>
            <a:off x="7850238" y="3711178"/>
            <a:ext cx="3536004" cy="532809"/>
            <a:chOff x="0" y="0"/>
            <a:chExt cx="4714672" cy="710413"/>
          </a:xfrm>
        </p:grpSpPr>
        <p:sp>
          <p:nvSpPr>
            <p:cNvPr id="9" name="Freeform 9"/>
            <p:cNvSpPr/>
            <p:nvPr/>
          </p:nvSpPr>
          <p:spPr>
            <a:xfrm>
              <a:off x="0" y="0"/>
              <a:ext cx="4714621" cy="710438"/>
            </a:xfrm>
            <a:custGeom>
              <a:avLst/>
              <a:gdLst/>
              <a:ahLst/>
              <a:cxnLst/>
              <a:rect l="l" t="t" r="r" b="b"/>
              <a:pathLst>
                <a:path w="4714621" h="710438">
                  <a:moveTo>
                    <a:pt x="0" y="45339"/>
                  </a:moveTo>
                  <a:cubicBezTo>
                    <a:pt x="0" y="20320"/>
                    <a:pt x="20320" y="0"/>
                    <a:pt x="45339" y="0"/>
                  </a:cubicBezTo>
                  <a:lnTo>
                    <a:pt x="4669282" y="0"/>
                  </a:lnTo>
                  <a:cubicBezTo>
                    <a:pt x="4694301" y="0"/>
                    <a:pt x="4714621" y="20320"/>
                    <a:pt x="4714621" y="45339"/>
                  </a:cubicBezTo>
                  <a:lnTo>
                    <a:pt x="4714621" y="665099"/>
                  </a:lnTo>
                  <a:cubicBezTo>
                    <a:pt x="4714621" y="690118"/>
                    <a:pt x="4694301" y="710438"/>
                    <a:pt x="4669282" y="710438"/>
                  </a:cubicBezTo>
                  <a:lnTo>
                    <a:pt x="45339" y="710438"/>
                  </a:lnTo>
                  <a:cubicBezTo>
                    <a:pt x="20320" y="710438"/>
                    <a:pt x="0" y="690118"/>
                    <a:pt x="0" y="665099"/>
                  </a:cubicBezTo>
                  <a:close/>
                </a:path>
              </a:pathLst>
            </a:custGeom>
            <a:solidFill>
              <a:srgbClr val="082545"/>
            </a:solidFill>
          </p:spPr>
        </p:sp>
      </p:grpSp>
      <p:sp>
        <p:nvSpPr>
          <p:cNvPr id="10" name="TextBox 10"/>
          <p:cNvSpPr txBox="1"/>
          <p:nvPr/>
        </p:nvSpPr>
        <p:spPr>
          <a:xfrm>
            <a:off x="8020345" y="3719960"/>
            <a:ext cx="3195790" cy="439045"/>
          </a:xfrm>
          <a:prstGeom prst="rect">
            <a:avLst/>
          </a:prstGeom>
        </p:spPr>
        <p:txBody>
          <a:bodyPr lIns="0" tIns="0" rIns="0" bIns="0" rtlCol="0" anchor="t">
            <a:spAutoFit/>
          </a:bodyPr>
          <a:lstStyle/>
          <a:p>
            <a:pPr algn="l">
              <a:lnSpc>
                <a:spcPts val="2812"/>
              </a:lnSpc>
            </a:pPr>
            <a:r>
              <a:rPr lang="en-US" sz="1750">
                <a:solidFill>
                  <a:srgbClr val="D6E5EF"/>
                </a:solidFill>
                <a:latin typeface="Roboto"/>
                <a:ea typeface="Roboto"/>
                <a:cs typeface="Roboto"/>
                <a:sym typeface="Roboto"/>
              </a:rPr>
              <a:t>FINSIGHT — MONEY MANAGER</a:t>
            </a:r>
          </a:p>
        </p:txBody>
      </p:sp>
      <p:sp>
        <p:nvSpPr>
          <p:cNvPr id="11" name="TextBox 11"/>
          <p:cNvSpPr txBox="1"/>
          <p:nvPr/>
        </p:nvSpPr>
        <p:spPr>
          <a:xfrm>
            <a:off x="7850238" y="4338342"/>
            <a:ext cx="7666587"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Database &amp; Persistence</a:t>
            </a:r>
          </a:p>
        </p:txBody>
      </p:sp>
      <p:sp>
        <p:nvSpPr>
          <p:cNvPr id="12" name="TextBox 12"/>
          <p:cNvSpPr txBox="1"/>
          <p:nvPr/>
        </p:nvSpPr>
        <p:spPr>
          <a:xfrm>
            <a:off x="7850238" y="5573316"/>
            <a:ext cx="9445523" cy="1339726"/>
          </a:xfrm>
          <a:prstGeom prst="rect">
            <a:avLst/>
          </a:prstGeom>
        </p:spPr>
        <p:txBody>
          <a:bodyPr lIns="0" tIns="0" rIns="0" bIns="0" rtlCol="0" anchor="t">
            <a:spAutoFit/>
          </a:bodyPr>
          <a:lstStyle/>
          <a:p>
            <a:pPr algn="l">
              <a:lnSpc>
                <a:spcPts val="3562"/>
              </a:lnSpc>
            </a:pPr>
            <a:endParaRPr lang="en-US" sz="2187" dirty="0">
              <a:solidFill>
                <a:srgbClr val="D6E5EF"/>
              </a:solidFill>
              <a:latin typeface="Roboto"/>
              <a:ea typeface="Roboto"/>
              <a:cs typeface="Roboto"/>
              <a:sym typeface="Roboto"/>
            </a:endParaRPr>
          </a:p>
          <a:p>
            <a:pPr algn="l">
              <a:lnSpc>
                <a:spcPts val="3562"/>
              </a:lnSpc>
            </a:pPr>
            <a:r>
              <a:rPr lang="en-US" sz="2187" dirty="0">
                <a:solidFill>
                  <a:srgbClr val="D6E5EF"/>
                </a:solidFill>
                <a:latin typeface="Roboto"/>
                <a:ea typeface="Roboto"/>
                <a:cs typeface="Roboto"/>
                <a:sym typeface="Roboto"/>
              </a:rPr>
              <a:t>JPA and Hibernate power </a:t>
            </a:r>
            <a:r>
              <a:rPr lang="en-US" sz="2187" dirty="0" err="1">
                <a:solidFill>
                  <a:srgbClr val="D6E5EF"/>
                </a:solidFill>
                <a:latin typeface="Roboto"/>
                <a:ea typeface="Roboto"/>
                <a:cs typeface="Roboto"/>
                <a:sym typeface="Roboto"/>
              </a:rPr>
              <a:t>Finsight's</a:t>
            </a:r>
            <a:r>
              <a:rPr lang="en-US" sz="2187" dirty="0">
                <a:solidFill>
                  <a:srgbClr val="D6E5EF"/>
                </a:solidFill>
                <a:latin typeface="Roboto"/>
                <a:ea typeface="Roboto"/>
                <a:cs typeface="Roboto"/>
                <a:sym typeface="Roboto"/>
              </a:rPr>
              <a:t> data layer — mapping Java objects to relational tables with minimal configuration.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868261" y="768553"/>
            <a:ext cx="6202261" cy="784622"/>
          </a:xfrm>
          <a:prstGeom prst="rect">
            <a:avLst/>
          </a:prstGeom>
        </p:spPr>
        <p:txBody>
          <a:bodyPr lIns="0" tIns="0" rIns="0" bIns="0" rtlCol="0" anchor="t">
            <a:spAutoFit/>
          </a:bodyPr>
          <a:lstStyle/>
          <a:p>
            <a:pPr algn="l">
              <a:lnSpc>
                <a:spcPts val="6062"/>
              </a:lnSpc>
            </a:pPr>
            <a:r>
              <a:rPr lang="en-US" sz="4875">
                <a:solidFill>
                  <a:srgbClr val="76B9FF"/>
                </a:solidFill>
                <a:latin typeface="Roboto Slab"/>
                <a:ea typeface="Roboto Slab"/>
                <a:cs typeface="Roboto Slab"/>
                <a:sym typeface="Roboto Slab"/>
              </a:rPr>
              <a:t>Entity Class &amp; DTO</a:t>
            </a:r>
          </a:p>
        </p:txBody>
      </p:sp>
      <p:sp>
        <p:nvSpPr>
          <p:cNvPr id="7" name="TextBox 7"/>
          <p:cNvSpPr txBox="1"/>
          <p:nvPr/>
        </p:nvSpPr>
        <p:spPr>
          <a:xfrm>
            <a:off x="868261" y="1920631"/>
            <a:ext cx="16551478" cy="438741"/>
          </a:xfrm>
          <a:prstGeom prst="rect">
            <a:avLst/>
          </a:prstGeom>
        </p:spPr>
        <p:txBody>
          <a:bodyPr lIns="0" tIns="0" rIns="0" bIns="0" rtlCol="0" anchor="t">
            <a:spAutoFit/>
          </a:bodyPr>
          <a:lstStyle/>
          <a:p>
            <a:pPr algn="l">
              <a:lnSpc>
                <a:spcPts val="2874"/>
              </a:lnSpc>
            </a:pPr>
            <a:r>
              <a:rPr lang="en-US" sz="1937">
                <a:solidFill>
                  <a:srgbClr val="D6E5EF"/>
                </a:solidFill>
                <a:latin typeface="Roboto"/>
                <a:ea typeface="Roboto"/>
                <a:cs typeface="Roboto"/>
                <a:sym typeface="Roboto"/>
              </a:rPr>
              <a:t>The </a:t>
            </a:r>
            <a:r>
              <a:rPr lang="en-US" sz="1937" b="1">
                <a:solidFill>
                  <a:srgbClr val="D6E5EF"/>
                </a:solidFill>
                <a:latin typeface="Roboto Bold"/>
                <a:ea typeface="Roboto Bold"/>
                <a:cs typeface="Roboto Bold"/>
                <a:sym typeface="Roboto Bold"/>
              </a:rPr>
              <a:t>Entity</a:t>
            </a:r>
            <a:r>
              <a:rPr lang="en-US" sz="1937">
                <a:solidFill>
                  <a:srgbClr val="D6E5EF"/>
                </a:solidFill>
                <a:latin typeface="Roboto"/>
                <a:ea typeface="Roboto"/>
                <a:cs typeface="Roboto"/>
                <a:sym typeface="Roboto"/>
              </a:rPr>
              <a:t> represents the database table. The </a:t>
            </a:r>
            <a:r>
              <a:rPr lang="en-US" sz="1937" b="1">
                <a:solidFill>
                  <a:srgbClr val="D6E5EF"/>
                </a:solidFill>
                <a:latin typeface="Roboto Bold"/>
                <a:ea typeface="Roboto Bold"/>
                <a:cs typeface="Roboto Bold"/>
                <a:sym typeface="Roboto Bold"/>
              </a:rPr>
              <a:t>DTO</a:t>
            </a:r>
            <a:r>
              <a:rPr lang="en-US" sz="1937">
                <a:solidFill>
                  <a:srgbClr val="D6E5EF"/>
                </a:solidFill>
                <a:latin typeface="Roboto"/>
                <a:ea typeface="Roboto"/>
                <a:cs typeface="Roboto"/>
                <a:sym typeface="Roboto"/>
              </a:rPr>
              <a:t> controls what data is exposed through the API — keeping internal structure private.</a:t>
            </a:r>
          </a:p>
        </p:txBody>
      </p:sp>
      <p:sp>
        <p:nvSpPr>
          <p:cNvPr id="8" name="TextBox 8"/>
          <p:cNvSpPr txBox="1"/>
          <p:nvPr/>
        </p:nvSpPr>
        <p:spPr>
          <a:xfrm>
            <a:off x="868261" y="2820438"/>
            <a:ext cx="3723827" cy="750334"/>
          </a:xfrm>
          <a:prstGeom prst="rect">
            <a:avLst/>
          </a:prstGeom>
        </p:spPr>
        <p:txBody>
          <a:bodyPr lIns="0" tIns="0" rIns="0" bIns="0" rtlCol="0" anchor="t">
            <a:spAutoFit/>
          </a:bodyPr>
          <a:lstStyle/>
          <a:p>
            <a:pPr algn="l">
              <a:lnSpc>
                <a:spcPts val="2999"/>
              </a:lnSpc>
            </a:pPr>
            <a:r>
              <a:rPr lang="en-US" sz="2437" dirty="0">
                <a:solidFill>
                  <a:srgbClr val="76B9FF"/>
                </a:solidFill>
                <a:latin typeface="Roboto Slab"/>
                <a:ea typeface="Roboto Slab"/>
                <a:cs typeface="Roboto Slab"/>
                <a:sym typeface="Roboto Slab"/>
              </a:rPr>
              <a:t>Entity — maps to DB table</a:t>
            </a:r>
          </a:p>
        </p:txBody>
      </p:sp>
      <p:grpSp>
        <p:nvGrpSpPr>
          <p:cNvPr id="9" name="Group 9"/>
          <p:cNvGrpSpPr/>
          <p:nvPr/>
        </p:nvGrpSpPr>
        <p:grpSpPr>
          <a:xfrm>
            <a:off x="868261" y="3452222"/>
            <a:ext cx="7973168" cy="4216603"/>
            <a:chOff x="0" y="0"/>
            <a:chExt cx="10630891" cy="5622138"/>
          </a:xfrm>
        </p:grpSpPr>
        <p:sp>
          <p:nvSpPr>
            <p:cNvPr id="10" name="Freeform 10"/>
            <p:cNvSpPr/>
            <p:nvPr/>
          </p:nvSpPr>
          <p:spPr>
            <a:xfrm>
              <a:off x="0" y="0"/>
              <a:ext cx="10630915" cy="5622163"/>
            </a:xfrm>
            <a:custGeom>
              <a:avLst/>
              <a:gdLst/>
              <a:ahLst/>
              <a:cxnLst/>
              <a:rect l="l" t="t" r="r" b="b"/>
              <a:pathLst>
                <a:path w="10630915" h="5622163">
                  <a:moveTo>
                    <a:pt x="0" y="49657"/>
                  </a:moveTo>
                  <a:cubicBezTo>
                    <a:pt x="0" y="22225"/>
                    <a:pt x="22225" y="0"/>
                    <a:pt x="49657" y="0"/>
                  </a:cubicBezTo>
                  <a:lnTo>
                    <a:pt x="10581259" y="0"/>
                  </a:lnTo>
                  <a:cubicBezTo>
                    <a:pt x="10608690" y="0"/>
                    <a:pt x="10630915" y="22225"/>
                    <a:pt x="10630915" y="49657"/>
                  </a:cubicBezTo>
                  <a:lnTo>
                    <a:pt x="10630915" y="5572506"/>
                  </a:lnTo>
                  <a:cubicBezTo>
                    <a:pt x="10630915" y="5599938"/>
                    <a:pt x="10608690" y="5622163"/>
                    <a:pt x="10581259" y="5622163"/>
                  </a:cubicBezTo>
                  <a:lnTo>
                    <a:pt x="49657" y="5622163"/>
                  </a:lnTo>
                  <a:cubicBezTo>
                    <a:pt x="22225" y="5622163"/>
                    <a:pt x="0" y="5599938"/>
                    <a:pt x="0" y="5572506"/>
                  </a:cubicBezTo>
                  <a:close/>
                </a:path>
              </a:pathLst>
            </a:custGeom>
            <a:solidFill>
              <a:srgbClr val="2D3440"/>
            </a:solidFill>
          </p:spPr>
        </p:sp>
      </p:grpSp>
      <p:grpSp>
        <p:nvGrpSpPr>
          <p:cNvPr id="11" name="Group 11"/>
          <p:cNvGrpSpPr/>
          <p:nvPr/>
        </p:nvGrpSpPr>
        <p:grpSpPr>
          <a:xfrm>
            <a:off x="855907" y="3452222"/>
            <a:ext cx="7997876" cy="4216603"/>
            <a:chOff x="0" y="0"/>
            <a:chExt cx="10663834" cy="5622138"/>
          </a:xfrm>
        </p:grpSpPr>
        <p:sp>
          <p:nvSpPr>
            <p:cNvPr id="12" name="Freeform 12"/>
            <p:cNvSpPr/>
            <p:nvPr/>
          </p:nvSpPr>
          <p:spPr>
            <a:xfrm>
              <a:off x="0" y="0"/>
              <a:ext cx="10663809" cy="5622163"/>
            </a:xfrm>
            <a:custGeom>
              <a:avLst/>
              <a:gdLst/>
              <a:ahLst/>
              <a:cxnLst/>
              <a:rect l="l" t="t" r="r" b="b"/>
              <a:pathLst>
                <a:path w="10663809" h="5622163">
                  <a:moveTo>
                    <a:pt x="0" y="49657"/>
                  </a:moveTo>
                  <a:cubicBezTo>
                    <a:pt x="0" y="22225"/>
                    <a:pt x="22225" y="0"/>
                    <a:pt x="49657" y="0"/>
                  </a:cubicBezTo>
                  <a:lnTo>
                    <a:pt x="10614152" y="0"/>
                  </a:lnTo>
                  <a:cubicBezTo>
                    <a:pt x="10641584" y="0"/>
                    <a:pt x="10663809" y="22225"/>
                    <a:pt x="10663809" y="49657"/>
                  </a:cubicBezTo>
                  <a:lnTo>
                    <a:pt x="10663809" y="5572506"/>
                  </a:lnTo>
                  <a:cubicBezTo>
                    <a:pt x="10663809" y="5599938"/>
                    <a:pt x="10641584" y="5622163"/>
                    <a:pt x="10614152" y="5622163"/>
                  </a:cubicBezTo>
                  <a:lnTo>
                    <a:pt x="49657" y="5622163"/>
                  </a:lnTo>
                  <a:cubicBezTo>
                    <a:pt x="22225" y="5622163"/>
                    <a:pt x="0" y="5599938"/>
                    <a:pt x="0" y="5572506"/>
                  </a:cubicBezTo>
                  <a:close/>
                </a:path>
              </a:pathLst>
            </a:custGeom>
            <a:solidFill>
              <a:srgbClr val="2D3440"/>
            </a:solidFill>
          </p:spPr>
        </p:sp>
      </p:grpSp>
      <p:sp>
        <p:nvSpPr>
          <p:cNvPr id="13" name="TextBox 13"/>
          <p:cNvSpPr txBox="1"/>
          <p:nvPr/>
        </p:nvSpPr>
        <p:spPr>
          <a:xfrm>
            <a:off x="1165917" y="3604917"/>
            <a:ext cx="7377855" cy="3815953"/>
          </a:xfrm>
          <a:prstGeom prst="rect">
            <a:avLst/>
          </a:prstGeom>
        </p:spPr>
        <p:txBody>
          <a:bodyPr lIns="0" tIns="0" rIns="0" bIns="0" rtlCol="0" anchor="t">
            <a:spAutoFit/>
          </a:bodyPr>
          <a:lstStyle/>
          <a:p>
            <a:pPr algn="l">
              <a:lnSpc>
                <a:spcPts val="2874"/>
              </a:lnSpc>
            </a:pPr>
            <a:r>
              <a:rPr lang="en-US" sz="1937" dirty="0">
                <a:solidFill>
                  <a:srgbClr val="79C0FF"/>
                </a:solidFill>
                <a:latin typeface="Consolas"/>
                <a:ea typeface="Consolas"/>
                <a:cs typeface="Consolas"/>
                <a:sym typeface="Consolas"/>
              </a:rPr>
              <a:t>@Entity</a:t>
            </a:r>
          </a:p>
          <a:p>
            <a:pPr algn="l">
              <a:lnSpc>
                <a:spcPts val="2874"/>
              </a:lnSpc>
            </a:pPr>
            <a:r>
              <a:rPr lang="en-US" sz="1937" dirty="0">
                <a:solidFill>
                  <a:srgbClr val="79C0FF"/>
                </a:solidFill>
                <a:latin typeface="Consolas"/>
                <a:ea typeface="Consolas"/>
                <a:cs typeface="Consolas"/>
                <a:sym typeface="Consolas"/>
              </a:rPr>
              <a:t>public class Expense {</a:t>
            </a:r>
          </a:p>
          <a:p>
            <a:pPr algn="l">
              <a:lnSpc>
                <a:spcPts val="2874"/>
              </a:lnSpc>
            </a:pPr>
            <a:endParaRPr lang="en-US" sz="1937" dirty="0">
              <a:solidFill>
                <a:srgbClr val="79C0FF"/>
              </a:solidFill>
              <a:latin typeface="Consolas"/>
              <a:ea typeface="Consolas"/>
              <a:cs typeface="Consolas"/>
              <a:sym typeface="Consolas"/>
            </a:endParaRPr>
          </a:p>
          <a:p>
            <a:pPr algn="l">
              <a:lnSpc>
                <a:spcPts val="2874"/>
              </a:lnSpc>
            </a:pPr>
            <a:r>
              <a:rPr lang="en-US" sz="1937" dirty="0">
                <a:solidFill>
                  <a:srgbClr val="79C0FF"/>
                </a:solidFill>
                <a:latin typeface="Consolas"/>
                <a:ea typeface="Consolas"/>
                <a:cs typeface="Consolas"/>
                <a:sym typeface="Consolas"/>
              </a:rPr>
              <a:t>  @Id</a:t>
            </a:r>
          </a:p>
          <a:p>
            <a:pPr algn="l">
              <a:lnSpc>
                <a:spcPts val="2874"/>
              </a:lnSpc>
            </a:pPr>
            <a:r>
              <a:rPr lang="en-US" sz="1937" dirty="0">
                <a:solidFill>
                  <a:srgbClr val="79C0FF"/>
                </a:solidFill>
                <a:latin typeface="Consolas"/>
                <a:ea typeface="Consolas"/>
                <a:cs typeface="Consolas"/>
                <a:sym typeface="Consolas"/>
              </a:rPr>
              <a:t>  @GeneratedValue</a:t>
            </a:r>
          </a:p>
          <a:p>
            <a:pPr algn="l">
              <a:lnSpc>
                <a:spcPts val="2874"/>
              </a:lnSpc>
            </a:pPr>
            <a:r>
              <a:rPr lang="en-US" sz="1937" dirty="0">
                <a:solidFill>
                  <a:srgbClr val="79C0FF"/>
                </a:solidFill>
                <a:latin typeface="Consolas"/>
                <a:ea typeface="Consolas"/>
                <a:cs typeface="Consolas"/>
                <a:sym typeface="Consolas"/>
              </a:rPr>
              <a:t>  private Long id;</a:t>
            </a:r>
          </a:p>
          <a:p>
            <a:pPr algn="l">
              <a:lnSpc>
                <a:spcPts val="2874"/>
              </a:lnSpc>
            </a:pPr>
            <a:endParaRPr lang="en-US" sz="1937" dirty="0">
              <a:solidFill>
                <a:srgbClr val="79C0FF"/>
              </a:solidFill>
              <a:latin typeface="Consolas"/>
              <a:ea typeface="Consolas"/>
              <a:cs typeface="Consolas"/>
              <a:sym typeface="Consolas"/>
            </a:endParaRPr>
          </a:p>
          <a:p>
            <a:pPr algn="l">
              <a:lnSpc>
                <a:spcPts val="2874"/>
              </a:lnSpc>
            </a:pPr>
            <a:r>
              <a:rPr lang="en-US" sz="1937" dirty="0">
                <a:solidFill>
                  <a:srgbClr val="79C0FF"/>
                </a:solidFill>
                <a:latin typeface="Consolas"/>
                <a:ea typeface="Consolas"/>
                <a:cs typeface="Consolas"/>
                <a:sym typeface="Consolas"/>
              </a:rPr>
              <a:t>  private String category;</a:t>
            </a:r>
          </a:p>
          <a:p>
            <a:pPr algn="l">
              <a:lnSpc>
                <a:spcPts val="2874"/>
              </a:lnSpc>
            </a:pPr>
            <a:r>
              <a:rPr lang="en-US" sz="1937" dirty="0">
                <a:solidFill>
                  <a:srgbClr val="79C0FF"/>
                </a:solidFill>
                <a:latin typeface="Consolas"/>
                <a:ea typeface="Consolas"/>
                <a:cs typeface="Consolas"/>
                <a:sym typeface="Consolas"/>
              </a:rPr>
              <a:t>  private double amount;</a:t>
            </a:r>
          </a:p>
          <a:p>
            <a:pPr algn="l">
              <a:lnSpc>
                <a:spcPts val="2874"/>
              </a:lnSpc>
            </a:pPr>
            <a:r>
              <a:rPr lang="en-US" sz="1937" dirty="0">
                <a:solidFill>
                  <a:srgbClr val="79C0FF"/>
                </a:solidFill>
                <a:latin typeface="Consolas"/>
                <a:ea typeface="Consolas"/>
                <a:cs typeface="Consolas"/>
                <a:sym typeface="Consolas"/>
              </a:rPr>
              <a:t>}</a:t>
            </a:r>
          </a:p>
        </p:txBody>
      </p:sp>
      <p:grpSp>
        <p:nvGrpSpPr>
          <p:cNvPr id="14" name="Group 14"/>
          <p:cNvGrpSpPr/>
          <p:nvPr/>
        </p:nvGrpSpPr>
        <p:grpSpPr>
          <a:xfrm>
            <a:off x="868261" y="7912894"/>
            <a:ext cx="7973168" cy="1351807"/>
            <a:chOff x="0" y="0"/>
            <a:chExt cx="10630891" cy="1802409"/>
          </a:xfrm>
        </p:grpSpPr>
        <p:sp>
          <p:nvSpPr>
            <p:cNvPr id="15" name="Freeform 15"/>
            <p:cNvSpPr/>
            <p:nvPr/>
          </p:nvSpPr>
          <p:spPr>
            <a:xfrm>
              <a:off x="0" y="0"/>
              <a:ext cx="10630915" cy="1802384"/>
            </a:xfrm>
            <a:custGeom>
              <a:avLst/>
              <a:gdLst/>
              <a:ahLst/>
              <a:cxnLst/>
              <a:rect l="l" t="t" r="r" b="b"/>
              <a:pathLst>
                <a:path w="10630915" h="1802384">
                  <a:moveTo>
                    <a:pt x="0" y="49657"/>
                  </a:moveTo>
                  <a:cubicBezTo>
                    <a:pt x="0" y="22225"/>
                    <a:pt x="22225" y="0"/>
                    <a:pt x="49657" y="0"/>
                  </a:cubicBezTo>
                  <a:lnTo>
                    <a:pt x="10581259" y="0"/>
                  </a:lnTo>
                  <a:cubicBezTo>
                    <a:pt x="10608690" y="0"/>
                    <a:pt x="10630915" y="22225"/>
                    <a:pt x="10630915" y="49657"/>
                  </a:cubicBezTo>
                  <a:lnTo>
                    <a:pt x="10630915" y="1752727"/>
                  </a:lnTo>
                  <a:cubicBezTo>
                    <a:pt x="10630915" y="1780159"/>
                    <a:pt x="10608690" y="1802384"/>
                    <a:pt x="10581259" y="1802384"/>
                  </a:cubicBezTo>
                  <a:lnTo>
                    <a:pt x="49657" y="1802384"/>
                  </a:lnTo>
                  <a:cubicBezTo>
                    <a:pt x="22225" y="1802384"/>
                    <a:pt x="0" y="1780159"/>
                    <a:pt x="0" y="1752727"/>
                  </a:cubicBezTo>
                  <a:close/>
                </a:path>
              </a:pathLst>
            </a:custGeom>
            <a:solidFill>
              <a:srgbClr val="022349"/>
            </a:solidFill>
          </p:spPr>
        </p:sp>
      </p:grpSp>
      <p:grpSp>
        <p:nvGrpSpPr>
          <p:cNvPr id="16" name="Group 16"/>
          <p:cNvGrpSpPr/>
          <p:nvPr/>
        </p:nvGrpSpPr>
        <p:grpSpPr>
          <a:xfrm>
            <a:off x="1116216" y="8272462"/>
            <a:ext cx="310010" cy="247945"/>
            <a:chOff x="0" y="0"/>
            <a:chExt cx="413347" cy="330594"/>
          </a:xfrm>
        </p:grpSpPr>
        <p:sp>
          <p:nvSpPr>
            <p:cNvPr id="17" name="Freeform 17" descr="preencoded.png"/>
            <p:cNvSpPr/>
            <p:nvPr/>
          </p:nvSpPr>
          <p:spPr>
            <a:xfrm>
              <a:off x="0" y="0"/>
              <a:ext cx="413385" cy="330581"/>
            </a:xfrm>
            <a:custGeom>
              <a:avLst/>
              <a:gdLst/>
              <a:ahLst/>
              <a:cxnLst/>
              <a:rect l="l" t="t" r="r" b="b"/>
              <a:pathLst>
                <a:path w="413385" h="330581">
                  <a:moveTo>
                    <a:pt x="0" y="0"/>
                  </a:moveTo>
                  <a:lnTo>
                    <a:pt x="413385" y="0"/>
                  </a:lnTo>
                  <a:lnTo>
                    <a:pt x="413385" y="330581"/>
                  </a:lnTo>
                  <a:lnTo>
                    <a:pt x="0" y="330581"/>
                  </a:lnTo>
                  <a:lnTo>
                    <a:pt x="0" y="0"/>
                  </a:lnTo>
                  <a:close/>
                </a:path>
              </a:pathLst>
            </a:custGeom>
            <a:blipFill>
              <a:blip r:embed="rId3"/>
              <a:stretch>
                <a:fillRect l="-755" r="-749" b="-3"/>
              </a:stretch>
            </a:blipFill>
          </p:spPr>
        </p:sp>
      </p:grpSp>
      <p:sp>
        <p:nvSpPr>
          <p:cNvPr id="18" name="TextBox 18"/>
          <p:cNvSpPr txBox="1"/>
          <p:nvPr/>
        </p:nvSpPr>
        <p:spPr>
          <a:xfrm>
            <a:off x="1674171" y="8125120"/>
            <a:ext cx="6919322" cy="820341"/>
          </a:xfrm>
          <a:prstGeom prst="rect">
            <a:avLst/>
          </a:prstGeom>
        </p:spPr>
        <p:txBody>
          <a:bodyPr lIns="0" tIns="0" rIns="0" bIns="0" rtlCol="0" anchor="t">
            <a:spAutoFit/>
          </a:bodyPr>
          <a:lstStyle/>
          <a:p>
            <a:pPr algn="l">
              <a:lnSpc>
                <a:spcPts val="2874"/>
              </a:lnSpc>
            </a:pPr>
            <a:r>
              <a:rPr lang="en-US" sz="1937">
                <a:solidFill>
                  <a:srgbClr val="FFFFFF"/>
                </a:solidFill>
                <a:latin typeface="Roboto"/>
                <a:ea typeface="Roboto"/>
                <a:cs typeface="Roboto"/>
                <a:sym typeface="Roboto"/>
              </a:rPr>
              <a:t>Annotated with @Entity — Hibernate automatically creates and manages the corresponding table.</a:t>
            </a:r>
          </a:p>
        </p:txBody>
      </p:sp>
      <p:sp>
        <p:nvSpPr>
          <p:cNvPr id="19" name="TextBox 19"/>
          <p:cNvSpPr txBox="1"/>
          <p:nvPr/>
        </p:nvSpPr>
        <p:spPr>
          <a:xfrm>
            <a:off x="9456096" y="2820438"/>
            <a:ext cx="3565769" cy="387696"/>
          </a:xfrm>
          <a:prstGeom prst="rect">
            <a:avLst/>
          </a:prstGeom>
        </p:spPr>
        <p:txBody>
          <a:bodyPr lIns="0" tIns="0" rIns="0" bIns="0" rtlCol="0" anchor="t">
            <a:spAutoFit/>
          </a:bodyPr>
          <a:lstStyle/>
          <a:p>
            <a:pPr algn="l">
              <a:lnSpc>
                <a:spcPts val="2999"/>
              </a:lnSpc>
            </a:pPr>
            <a:r>
              <a:rPr lang="en-US" sz="2437">
                <a:solidFill>
                  <a:srgbClr val="76B9FF"/>
                </a:solidFill>
                <a:latin typeface="Roboto Slab"/>
                <a:ea typeface="Roboto Slab"/>
                <a:cs typeface="Roboto Slab"/>
                <a:sym typeface="Roboto Slab"/>
              </a:rPr>
              <a:t>DTO — safe data transfer</a:t>
            </a:r>
          </a:p>
        </p:txBody>
      </p:sp>
      <p:grpSp>
        <p:nvGrpSpPr>
          <p:cNvPr id="20" name="Group 20"/>
          <p:cNvGrpSpPr/>
          <p:nvPr/>
        </p:nvGrpSpPr>
        <p:grpSpPr>
          <a:xfrm>
            <a:off x="9456096" y="3452222"/>
            <a:ext cx="7973168" cy="3100388"/>
            <a:chOff x="0" y="0"/>
            <a:chExt cx="10630891" cy="4133850"/>
          </a:xfrm>
        </p:grpSpPr>
        <p:sp>
          <p:nvSpPr>
            <p:cNvPr id="21" name="Freeform 21"/>
            <p:cNvSpPr/>
            <p:nvPr/>
          </p:nvSpPr>
          <p:spPr>
            <a:xfrm>
              <a:off x="0" y="0"/>
              <a:ext cx="10630915" cy="4133850"/>
            </a:xfrm>
            <a:custGeom>
              <a:avLst/>
              <a:gdLst/>
              <a:ahLst/>
              <a:cxnLst/>
              <a:rect l="l" t="t" r="r" b="b"/>
              <a:pathLst>
                <a:path w="10630915" h="4133850">
                  <a:moveTo>
                    <a:pt x="0" y="49657"/>
                  </a:moveTo>
                  <a:cubicBezTo>
                    <a:pt x="0" y="22225"/>
                    <a:pt x="22225" y="0"/>
                    <a:pt x="49657" y="0"/>
                  </a:cubicBezTo>
                  <a:lnTo>
                    <a:pt x="10581259" y="0"/>
                  </a:lnTo>
                  <a:cubicBezTo>
                    <a:pt x="10608690" y="0"/>
                    <a:pt x="10630915" y="22225"/>
                    <a:pt x="10630915" y="49657"/>
                  </a:cubicBezTo>
                  <a:lnTo>
                    <a:pt x="10630915" y="4084193"/>
                  </a:lnTo>
                  <a:cubicBezTo>
                    <a:pt x="10630915" y="4111625"/>
                    <a:pt x="10608690" y="4133850"/>
                    <a:pt x="10581259" y="4133850"/>
                  </a:cubicBezTo>
                  <a:lnTo>
                    <a:pt x="49657" y="4133850"/>
                  </a:lnTo>
                  <a:cubicBezTo>
                    <a:pt x="22225" y="4133850"/>
                    <a:pt x="0" y="4111625"/>
                    <a:pt x="0" y="4084193"/>
                  </a:cubicBezTo>
                  <a:close/>
                </a:path>
              </a:pathLst>
            </a:custGeom>
            <a:solidFill>
              <a:srgbClr val="2D3440"/>
            </a:solidFill>
          </p:spPr>
        </p:sp>
      </p:grpSp>
      <p:grpSp>
        <p:nvGrpSpPr>
          <p:cNvPr id="22" name="Group 22"/>
          <p:cNvGrpSpPr/>
          <p:nvPr/>
        </p:nvGrpSpPr>
        <p:grpSpPr>
          <a:xfrm>
            <a:off x="9443742" y="3452222"/>
            <a:ext cx="7997876" cy="3100388"/>
            <a:chOff x="0" y="0"/>
            <a:chExt cx="10663834" cy="4133850"/>
          </a:xfrm>
        </p:grpSpPr>
        <p:sp>
          <p:nvSpPr>
            <p:cNvPr id="23" name="Freeform 23"/>
            <p:cNvSpPr/>
            <p:nvPr/>
          </p:nvSpPr>
          <p:spPr>
            <a:xfrm>
              <a:off x="0" y="0"/>
              <a:ext cx="10663936" cy="4133850"/>
            </a:xfrm>
            <a:custGeom>
              <a:avLst/>
              <a:gdLst/>
              <a:ahLst/>
              <a:cxnLst/>
              <a:rect l="l" t="t" r="r" b="b"/>
              <a:pathLst>
                <a:path w="10663936" h="4133850">
                  <a:moveTo>
                    <a:pt x="0" y="49657"/>
                  </a:moveTo>
                  <a:cubicBezTo>
                    <a:pt x="0" y="22225"/>
                    <a:pt x="22225" y="0"/>
                    <a:pt x="49657" y="0"/>
                  </a:cubicBezTo>
                  <a:lnTo>
                    <a:pt x="10614279" y="0"/>
                  </a:lnTo>
                  <a:cubicBezTo>
                    <a:pt x="10641711" y="0"/>
                    <a:pt x="10663936" y="22225"/>
                    <a:pt x="10663936" y="49657"/>
                  </a:cubicBezTo>
                  <a:lnTo>
                    <a:pt x="10663936" y="4084193"/>
                  </a:lnTo>
                  <a:cubicBezTo>
                    <a:pt x="10663936" y="4111625"/>
                    <a:pt x="10641711" y="4133850"/>
                    <a:pt x="10614279" y="4133850"/>
                  </a:cubicBezTo>
                  <a:lnTo>
                    <a:pt x="49657" y="4133850"/>
                  </a:lnTo>
                  <a:cubicBezTo>
                    <a:pt x="22225" y="4133850"/>
                    <a:pt x="0" y="4111625"/>
                    <a:pt x="0" y="4084193"/>
                  </a:cubicBezTo>
                  <a:close/>
                </a:path>
              </a:pathLst>
            </a:custGeom>
            <a:solidFill>
              <a:srgbClr val="2D3440"/>
            </a:solidFill>
          </p:spPr>
        </p:sp>
      </p:grpSp>
      <p:sp>
        <p:nvSpPr>
          <p:cNvPr id="24" name="TextBox 24"/>
          <p:cNvSpPr txBox="1"/>
          <p:nvPr/>
        </p:nvSpPr>
        <p:spPr>
          <a:xfrm>
            <a:off x="9753752" y="3604917"/>
            <a:ext cx="7377855" cy="2699747"/>
          </a:xfrm>
          <a:prstGeom prst="rect">
            <a:avLst/>
          </a:prstGeom>
        </p:spPr>
        <p:txBody>
          <a:bodyPr lIns="0" tIns="0" rIns="0" bIns="0" rtlCol="0" anchor="t">
            <a:spAutoFit/>
          </a:bodyPr>
          <a:lstStyle/>
          <a:p>
            <a:pPr algn="l">
              <a:lnSpc>
                <a:spcPts val="2874"/>
              </a:lnSpc>
            </a:pPr>
            <a:r>
              <a:rPr lang="en-US" sz="1937" dirty="0">
                <a:solidFill>
                  <a:srgbClr val="D6E5EF"/>
                </a:solidFill>
                <a:latin typeface="Consolas"/>
                <a:ea typeface="Consolas"/>
                <a:cs typeface="Consolas"/>
                <a:sym typeface="Consolas"/>
              </a:rPr>
              <a:t>public class </a:t>
            </a:r>
            <a:r>
              <a:rPr lang="en-US" sz="1937" dirty="0" err="1">
                <a:solidFill>
                  <a:srgbClr val="D6E5EF"/>
                </a:solidFill>
                <a:latin typeface="Consolas"/>
                <a:ea typeface="Consolas"/>
                <a:cs typeface="Consolas"/>
                <a:sym typeface="Consolas"/>
              </a:rPr>
              <a:t>ExpenseDTO</a:t>
            </a:r>
            <a:r>
              <a:rPr lang="en-US" sz="1937" dirty="0">
                <a:solidFill>
                  <a:srgbClr val="D6E5EF"/>
                </a:solidFill>
                <a:latin typeface="Consolas"/>
                <a:ea typeface="Consolas"/>
                <a:cs typeface="Consolas"/>
                <a:sym typeface="Consolas"/>
              </a:rPr>
              <a:t> {</a:t>
            </a:r>
          </a:p>
          <a:p>
            <a:pPr algn="l">
              <a:lnSpc>
                <a:spcPts val="2874"/>
              </a:lnSpc>
            </a:pPr>
            <a:endParaRPr lang="en-US" sz="1937" dirty="0">
              <a:solidFill>
                <a:srgbClr val="D6E5EF"/>
              </a:solidFill>
              <a:latin typeface="Consolas"/>
              <a:ea typeface="Consolas"/>
              <a:cs typeface="Consolas"/>
              <a:sym typeface="Consolas"/>
            </a:endParaRPr>
          </a:p>
          <a:p>
            <a:pPr algn="l">
              <a:lnSpc>
                <a:spcPts val="2874"/>
              </a:lnSpc>
            </a:pPr>
            <a:r>
              <a:rPr lang="en-US" sz="1937" dirty="0">
                <a:solidFill>
                  <a:srgbClr val="D6E5EF"/>
                </a:solidFill>
                <a:latin typeface="Consolas"/>
                <a:ea typeface="Consolas"/>
                <a:cs typeface="Consolas"/>
                <a:sym typeface="Consolas"/>
              </a:rPr>
              <a:t>  private String category;</a:t>
            </a:r>
          </a:p>
          <a:p>
            <a:pPr algn="l">
              <a:lnSpc>
                <a:spcPts val="2874"/>
              </a:lnSpc>
            </a:pPr>
            <a:r>
              <a:rPr lang="en-US" sz="1937" dirty="0">
                <a:solidFill>
                  <a:srgbClr val="D6E5EF"/>
                </a:solidFill>
                <a:latin typeface="Consolas"/>
                <a:ea typeface="Consolas"/>
                <a:cs typeface="Consolas"/>
                <a:sym typeface="Consolas"/>
              </a:rPr>
              <a:t>  private double amount;</a:t>
            </a:r>
          </a:p>
          <a:p>
            <a:pPr algn="l">
              <a:lnSpc>
                <a:spcPts val="2874"/>
              </a:lnSpc>
            </a:pPr>
            <a:endParaRPr lang="en-US" sz="1937" dirty="0">
              <a:solidFill>
                <a:srgbClr val="D6E5EF"/>
              </a:solidFill>
              <a:latin typeface="Consolas"/>
              <a:ea typeface="Consolas"/>
              <a:cs typeface="Consolas"/>
              <a:sym typeface="Consolas"/>
            </a:endParaRPr>
          </a:p>
          <a:p>
            <a:pPr algn="l">
              <a:lnSpc>
                <a:spcPts val="2874"/>
              </a:lnSpc>
            </a:pPr>
            <a:r>
              <a:rPr lang="en-US" sz="1937" dirty="0">
                <a:solidFill>
                  <a:srgbClr val="D6E5EF"/>
                </a:solidFill>
                <a:latin typeface="Consolas"/>
                <a:ea typeface="Consolas"/>
                <a:cs typeface="Consolas"/>
                <a:sym typeface="Consolas"/>
              </a:rPr>
              <a:t>  // Getters &amp; Setters</a:t>
            </a:r>
          </a:p>
          <a:p>
            <a:pPr algn="l">
              <a:lnSpc>
                <a:spcPts val="2874"/>
              </a:lnSpc>
            </a:pPr>
            <a:r>
              <a:rPr lang="en-US" sz="1937" dirty="0">
                <a:solidFill>
                  <a:srgbClr val="D6E5EF"/>
                </a:solidFill>
                <a:latin typeface="Consolas"/>
                <a:ea typeface="Consolas"/>
                <a:cs typeface="Consolas"/>
                <a:sym typeface="Consolas"/>
              </a:rPr>
              <a:t>}</a:t>
            </a:r>
          </a:p>
        </p:txBody>
      </p:sp>
      <p:grpSp>
        <p:nvGrpSpPr>
          <p:cNvPr id="25" name="Group 25"/>
          <p:cNvGrpSpPr/>
          <p:nvPr/>
        </p:nvGrpSpPr>
        <p:grpSpPr>
          <a:xfrm>
            <a:off x="9456096" y="6796678"/>
            <a:ext cx="7973168" cy="1351807"/>
            <a:chOff x="0" y="0"/>
            <a:chExt cx="10630891" cy="1802409"/>
          </a:xfrm>
        </p:grpSpPr>
        <p:sp>
          <p:nvSpPr>
            <p:cNvPr id="26" name="Freeform 26"/>
            <p:cNvSpPr/>
            <p:nvPr/>
          </p:nvSpPr>
          <p:spPr>
            <a:xfrm>
              <a:off x="0" y="0"/>
              <a:ext cx="10630915" cy="1802384"/>
            </a:xfrm>
            <a:custGeom>
              <a:avLst/>
              <a:gdLst/>
              <a:ahLst/>
              <a:cxnLst/>
              <a:rect l="l" t="t" r="r" b="b"/>
              <a:pathLst>
                <a:path w="10630915" h="1802384">
                  <a:moveTo>
                    <a:pt x="0" y="49657"/>
                  </a:moveTo>
                  <a:cubicBezTo>
                    <a:pt x="0" y="22225"/>
                    <a:pt x="22225" y="0"/>
                    <a:pt x="49657" y="0"/>
                  </a:cubicBezTo>
                  <a:lnTo>
                    <a:pt x="10581259" y="0"/>
                  </a:lnTo>
                  <a:cubicBezTo>
                    <a:pt x="10608690" y="0"/>
                    <a:pt x="10630915" y="22225"/>
                    <a:pt x="10630915" y="49657"/>
                  </a:cubicBezTo>
                  <a:lnTo>
                    <a:pt x="10630915" y="1752727"/>
                  </a:lnTo>
                  <a:cubicBezTo>
                    <a:pt x="10630915" y="1780159"/>
                    <a:pt x="10608690" y="1802384"/>
                    <a:pt x="10581259" y="1802384"/>
                  </a:cubicBezTo>
                  <a:lnTo>
                    <a:pt x="49657" y="1802384"/>
                  </a:lnTo>
                  <a:cubicBezTo>
                    <a:pt x="22225" y="1802384"/>
                    <a:pt x="0" y="1780159"/>
                    <a:pt x="0" y="1752727"/>
                  </a:cubicBezTo>
                  <a:close/>
                </a:path>
              </a:pathLst>
            </a:custGeom>
            <a:solidFill>
              <a:srgbClr val="082545"/>
            </a:solidFill>
          </p:spPr>
        </p:sp>
      </p:grpSp>
      <p:grpSp>
        <p:nvGrpSpPr>
          <p:cNvPr id="27" name="Group 27"/>
          <p:cNvGrpSpPr/>
          <p:nvPr/>
        </p:nvGrpSpPr>
        <p:grpSpPr>
          <a:xfrm>
            <a:off x="9704041" y="7156247"/>
            <a:ext cx="310010" cy="247945"/>
            <a:chOff x="0" y="0"/>
            <a:chExt cx="413347" cy="330594"/>
          </a:xfrm>
        </p:grpSpPr>
        <p:sp>
          <p:nvSpPr>
            <p:cNvPr id="28" name="Freeform 28" descr="preencoded.png"/>
            <p:cNvSpPr/>
            <p:nvPr/>
          </p:nvSpPr>
          <p:spPr>
            <a:xfrm>
              <a:off x="0" y="0"/>
              <a:ext cx="413385" cy="330581"/>
            </a:xfrm>
            <a:custGeom>
              <a:avLst/>
              <a:gdLst/>
              <a:ahLst/>
              <a:cxnLst/>
              <a:rect l="l" t="t" r="r" b="b"/>
              <a:pathLst>
                <a:path w="413385" h="330581">
                  <a:moveTo>
                    <a:pt x="0" y="0"/>
                  </a:moveTo>
                  <a:lnTo>
                    <a:pt x="413385" y="0"/>
                  </a:lnTo>
                  <a:lnTo>
                    <a:pt x="413385" y="330581"/>
                  </a:lnTo>
                  <a:lnTo>
                    <a:pt x="0" y="330581"/>
                  </a:lnTo>
                  <a:lnTo>
                    <a:pt x="0" y="0"/>
                  </a:lnTo>
                  <a:close/>
                </a:path>
              </a:pathLst>
            </a:custGeom>
            <a:blipFill>
              <a:blip r:embed="rId4"/>
              <a:stretch>
                <a:fillRect l="-755" r="-749" b="-3"/>
              </a:stretch>
            </a:blipFill>
          </p:spPr>
        </p:sp>
      </p:grpSp>
      <p:sp>
        <p:nvSpPr>
          <p:cNvPr id="29" name="TextBox 29"/>
          <p:cNvSpPr txBox="1"/>
          <p:nvPr/>
        </p:nvSpPr>
        <p:spPr>
          <a:xfrm>
            <a:off x="10261997" y="7008914"/>
            <a:ext cx="6919322" cy="820341"/>
          </a:xfrm>
          <a:prstGeom prst="rect">
            <a:avLst/>
          </a:prstGeom>
        </p:spPr>
        <p:txBody>
          <a:bodyPr lIns="0" tIns="0" rIns="0" bIns="0" rtlCol="0" anchor="t">
            <a:spAutoFit/>
          </a:bodyPr>
          <a:lstStyle/>
          <a:p>
            <a:pPr algn="l">
              <a:lnSpc>
                <a:spcPts val="2874"/>
              </a:lnSpc>
            </a:pPr>
            <a:r>
              <a:rPr lang="en-US" sz="1937">
                <a:solidFill>
                  <a:srgbClr val="FFFFFF"/>
                </a:solidFill>
                <a:latin typeface="Roboto"/>
                <a:ea typeface="Roboto"/>
                <a:cs typeface="Roboto"/>
                <a:sym typeface="Roboto"/>
              </a:rPr>
              <a:t>The DTO omits the id field — preventing internal IDs from leaking through the public API response.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2266055" y="650824"/>
            <a:ext cx="5179666" cy="642042"/>
          </a:xfrm>
          <a:prstGeom prst="rect">
            <a:avLst/>
          </a:prstGeom>
        </p:spPr>
        <p:txBody>
          <a:bodyPr lIns="0" tIns="0" rIns="0" bIns="0" rtlCol="0" anchor="t">
            <a:spAutoFit/>
          </a:bodyPr>
          <a:lstStyle/>
          <a:p>
            <a:pPr algn="l">
              <a:lnSpc>
                <a:spcPts val="4875"/>
              </a:lnSpc>
            </a:pPr>
            <a:r>
              <a:rPr lang="en-US" sz="3875" dirty="0">
                <a:solidFill>
                  <a:srgbClr val="76B9FF"/>
                </a:solidFill>
                <a:latin typeface="Roboto Slab"/>
                <a:ea typeface="Roboto Slab"/>
                <a:cs typeface="Roboto Slab"/>
                <a:sym typeface="Roboto Slab"/>
              </a:rPr>
              <a:t>JPA, Hibernate &amp; ORM</a:t>
            </a:r>
          </a:p>
        </p:txBody>
      </p:sp>
      <p:grpSp>
        <p:nvGrpSpPr>
          <p:cNvPr id="8" name="Group 8"/>
          <p:cNvGrpSpPr/>
          <p:nvPr/>
        </p:nvGrpSpPr>
        <p:grpSpPr>
          <a:xfrm>
            <a:off x="2266055" y="2112016"/>
            <a:ext cx="6634610" cy="1936404"/>
            <a:chOff x="0" y="0"/>
            <a:chExt cx="8846147" cy="2581872"/>
          </a:xfrm>
        </p:grpSpPr>
        <p:sp>
          <p:nvSpPr>
            <p:cNvPr id="9" name="Freeform 9"/>
            <p:cNvSpPr/>
            <p:nvPr/>
          </p:nvSpPr>
          <p:spPr>
            <a:xfrm>
              <a:off x="0" y="0"/>
              <a:ext cx="8846185" cy="2581910"/>
            </a:xfrm>
            <a:custGeom>
              <a:avLst/>
              <a:gdLst/>
              <a:ahLst/>
              <a:cxnLst/>
              <a:rect l="l" t="t" r="r" b="b"/>
              <a:pathLst>
                <a:path w="8846185" h="2581910">
                  <a:moveTo>
                    <a:pt x="0" y="39878"/>
                  </a:moveTo>
                  <a:cubicBezTo>
                    <a:pt x="0" y="17907"/>
                    <a:pt x="17907" y="0"/>
                    <a:pt x="39878" y="0"/>
                  </a:cubicBezTo>
                  <a:lnTo>
                    <a:pt x="8806307" y="0"/>
                  </a:lnTo>
                  <a:cubicBezTo>
                    <a:pt x="8828277" y="0"/>
                    <a:pt x="8846185" y="17907"/>
                    <a:pt x="8846185" y="39878"/>
                  </a:cubicBezTo>
                  <a:lnTo>
                    <a:pt x="8846185" y="2542032"/>
                  </a:lnTo>
                  <a:cubicBezTo>
                    <a:pt x="8846185" y="2564003"/>
                    <a:pt x="8828277" y="2581910"/>
                    <a:pt x="8806307" y="2581910"/>
                  </a:cubicBezTo>
                  <a:lnTo>
                    <a:pt x="39878" y="2581910"/>
                  </a:lnTo>
                  <a:cubicBezTo>
                    <a:pt x="17907" y="2581910"/>
                    <a:pt x="0" y="2564003"/>
                    <a:pt x="0" y="2542032"/>
                  </a:cubicBezTo>
                  <a:close/>
                </a:path>
              </a:pathLst>
            </a:custGeom>
            <a:solidFill>
              <a:srgbClr val="3F4652"/>
            </a:solidFill>
          </p:spPr>
        </p:sp>
      </p:grpSp>
      <p:grpSp>
        <p:nvGrpSpPr>
          <p:cNvPr id="10" name="Group 10"/>
          <p:cNvGrpSpPr/>
          <p:nvPr/>
        </p:nvGrpSpPr>
        <p:grpSpPr>
          <a:xfrm>
            <a:off x="2266055" y="2112016"/>
            <a:ext cx="3317234" cy="1936404"/>
            <a:chOff x="0" y="0"/>
            <a:chExt cx="4422978" cy="2581872"/>
          </a:xfrm>
        </p:grpSpPr>
        <p:sp>
          <p:nvSpPr>
            <p:cNvPr id="11" name="Freeform 11"/>
            <p:cNvSpPr/>
            <p:nvPr/>
          </p:nvSpPr>
          <p:spPr>
            <a:xfrm>
              <a:off x="0" y="0"/>
              <a:ext cx="4423029" cy="2581910"/>
            </a:xfrm>
            <a:custGeom>
              <a:avLst/>
              <a:gdLst/>
              <a:ahLst/>
              <a:cxnLst/>
              <a:rect l="l" t="t" r="r" b="b"/>
              <a:pathLst>
                <a:path w="4423029" h="2581910">
                  <a:moveTo>
                    <a:pt x="0" y="39878"/>
                  </a:moveTo>
                  <a:cubicBezTo>
                    <a:pt x="0" y="17907"/>
                    <a:pt x="17907" y="0"/>
                    <a:pt x="39878" y="0"/>
                  </a:cubicBezTo>
                  <a:lnTo>
                    <a:pt x="4383151" y="0"/>
                  </a:lnTo>
                  <a:cubicBezTo>
                    <a:pt x="4405122" y="0"/>
                    <a:pt x="4423029" y="17907"/>
                    <a:pt x="4423029" y="39878"/>
                  </a:cubicBezTo>
                  <a:lnTo>
                    <a:pt x="4423029" y="2542032"/>
                  </a:lnTo>
                  <a:cubicBezTo>
                    <a:pt x="4423029" y="2564003"/>
                    <a:pt x="4405122" y="2581910"/>
                    <a:pt x="4383151" y="2581910"/>
                  </a:cubicBezTo>
                  <a:lnTo>
                    <a:pt x="39878" y="2581910"/>
                  </a:lnTo>
                  <a:cubicBezTo>
                    <a:pt x="17907" y="2581910"/>
                    <a:pt x="0" y="2564003"/>
                    <a:pt x="0" y="2542032"/>
                  </a:cubicBezTo>
                  <a:close/>
                </a:path>
              </a:pathLst>
            </a:custGeom>
            <a:solidFill>
              <a:srgbClr val="3F4652"/>
            </a:solidFill>
          </p:spPr>
        </p:sp>
      </p:grpSp>
      <p:sp>
        <p:nvSpPr>
          <p:cNvPr id="12" name="TextBox 12"/>
          <p:cNvSpPr txBox="1"/>
          <p:nvPr/>
        </p:nvSpPr>
        <p:spPr>
          <a:xfrm>
            <a:off x="2465337" y="2301773"/>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JPA</a:t>
            </a:r>
          </a:p>
        </p:txBody>
      </p:sp>
      <p:sp>
        <p:nvSpPr>
          <p:cNvPr id="13" name="TextBox 13"/>
          <p:cNvSpPr txBox="1"/>
          <p:nvPr/>
        </p:nvSpPr>
        <p:spPr>
          <a:xfrm>
            <a:off x="2465337" y="2724598"/>
            <a:ext cx="2918670" cy="852935"/>
          </a:xfrm>
          <a:prstGeom prst="rect">
            <a:avLst/>
          </a:prstGeom>
        </p:spPr>
        <p:txBody>
          <a:bodyPr lIns="0" tIns="0" rIns="0" bIns="0" rtlCol="0" anchor="t">
            <a:spAutoFit/>
          </a:bodyPr>
          <a:lstStyle/>
          <a:p>
            <a:pPr algn="l">
              <a:lnSpc>
                <a:spcPts val="2125"/>
              </a:lnSpc>
            </a:pPr>
            <a:r>
              <a:rPr lang="en-US" sz="1562" b="1">
                <a:solidFill>
                  <a:srgbClr val="D6E5EF"/>
                </a:solidFill>
                <a:latin typeface="Roboto Bold"/>
                <a:ea typeface="Roboto Bold"/>
                <a:cs typeface="Roboto Bold"/>
                <a:sym typeface="Roboto Bold"/>
              </a:rPr>
              <a:t>Specification</a:t>
            </a:r>
            <a:r>
              <a:rPr lang="en-US" sz="1562">
                <a:solidFill>
                  <a:srgbClr val="D6E5EF"/>
                </a:solidFill>
                <a:latin typeface="Roboto"/>
                <a:ea typeface="Roboto"/>
                <a:cs typeface="Roboto"/>
                <a:sym typeface="Roboto"/>
              </a:rPr>
              <a:t> — defines the standard API for ORM in Java (interfaces, annotations, rules).</a:t>
            </a:r>
          </a:p>
        </p:txBody>
      </p:sp>
      <p:grpSp>
        <p:nvGrpSpPr>
          <p:cNvPr id="14" name="Group 14"/>
          <p:cNvGrpSpPr/>
          <p:nvPr/>
        </p:nvGrpSpPr>
        <p:grpSpPr>
          <a:xfrm>
            <a:off x="5583288" y="2112016"/>
            <a:ext cx="3317377" cy="1936404"/>
            <a:chOff x="0" y="0"/>
            <a:chExt cx="4423169" cy="2581872"/>
          </a:xfrm>
        </p:grpSpPr>
        <p:sp>
          <p:nvSpPr>
            <p:cNvPr id="15" name="Freeform 15"/>
            <p:cNvSpPr/>
            <p:nvPr/>
          </p:nvSpPr>
          <p:spPr>
            <a:xfrm>
              <a:off x="0" y="0"/>
              <a:ext cx="4423156" cy="2581910"/>
            </a:xfrm>
            <a:custGeom>
              <a:avLst/>
              <a:gdLst/>
              <a:ahLst/>
              <a:cxnLst/>
              <a:rect l="l" t="t" r="r" b="b"/>
              <a:pathLst>
                <a:path w="4423156" h="2581910">
                  <a:moveTo>
                    <a:pt x="0" y="0"/>
                  </a:moveTo>
                  <a:lnTo>
                    <a:pt x="4423156" y="0"/>
                  </a:lnTo>
                  <a:lnTo>
                    <a:pt x="4423156" y="2581910"/>
                  </a:lnTo>
                  <a:lnTo>
                    <a:pt x="0" y="2581910"/>
                  </a:lnTo>
                  <a:close/>
                </a:path>
              </a:pathLst>
            </a:custGeom>
            <a:solidFill>
              <a:srgbClr val="3F4652"/>
            </a:solidFill>
          </p:spPr>
        </p:sp>
      </p:grpSp>
      <p:grpSp>
        <p:nvGrpSpPr>
          <p:cNvPr id="16" name="Group 16"/>
          <p:cNvGrpSpPr/>
          <p:nvPr/>
        </p:nvGrpSpPr>
        <p:grpSpPr>
          <a:xfrm>
            <a:off x="5583288" y="2112016"/>
            <a:ext cx="28575" cy="1936404"/>
            <a:chOff x="0" y="0"/>
            <a:chExt cx="38100" cy="2581872"/>
          </a:xfrm>
        </p:grpSpPr>
        <p:sp>
          <p:nvSpPr>
            <p:cNvPr id="17" name="Freeform 17"/>
            <p:cNvSpPr/>
            <p:nvPr/>
          </p:nvSpPr>
          <p:spPr>
            <a:xfrm>
              <a:off x="0" y="0"/>
              <a:ext cx="38100" cy="2581910"/>
            </a:xfrm>
            <a:custGeom>
              <a:avLst/>
              <a:gdLst/>
              <a:ahLst/>
              <a:cxnLst/>
              <a:rect l="l" t="t" r="r" b="b"/>
              <a:pathLst>
                <a:path w="38100" h="2581910">
                  <a:moveTo>
                    <a:pt x="0" y="19050"/>
                  </a:moveTo>
                  <a:cubicBezTo>
                    <a:pt x="0" y="8509"/>
                    <a:pt x="8509" y="0"/>
                    <a:pt x="19050" y="0"/>
                  </a:cubicBezTo>
                  <a:cubicBezTo>
                    <a:pt x="29591" y="0"/>
                    <a:pt x="38100" y="8509"/>
                    <a:pt x="38100" y="19050"/>
                  </a:cubicBezTo>
                  <a:lnTo>
                    <a:pt x="38100" y="2562860"/>
                  </a:lnTo>
                  <a:cubicBezTo>
                    <a:pt x="38100" y="2573401"/>
                    <a:pt x="29591" y="2581910"/>
                    <a:pt x="19050" y="2581910"/>
                  </a:cubicBezTo>
                  <a:cubicBezTo>
                    <a:pt x="8509" y="2581910"/>
                    <a:pt x="0" y="2573401"/>
                    <a:pt x="0" y="2562860"/>
                  </a:cubicBezTo>
                  <a:close/>
                </a:path>
              </a:pathLst>
            </a:custGeom>
            <a:solidFill>
              <a:srgbClr val="585F6B"/>
            </a:solidFill>
          </p:spPr>
        </p:sp>
      </p:grpSp>
      <p:sp>
        <p:nvSpPr>
          <p:cNvPr id="18" name="TextBox 18"/>
          <p:cNvSpPr txBox="1"/>
          <p:nvPr/>
        </p:nvSpPr>
        <p:spPr>
          <a:xfrm>
            <a:off x="5782570" y="2301773"/>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Hibernate</a:t>
            </a:r>
          </a:p>
        </p:txBody>
      </p:sp>
      <p:sp>
        <p:nvSpPr>
          <p:cNvPr id="19" name="TextBox 19"/>
          <p:cNvSpPr txBox="1"/>
          <p:nvPr/>
        </p:nvSpPr>
        <p:spPr>
          <a:xfrm>
            <a:off x="5782570" y="2724598"/>
            <a:ext cx="2918822" cy="1124541"/>
          </a:xfrm>
          <a:prstGeom prst="rect">
            <a:avLst/>
          </a:prstGeom>
        </p:spPr>
        <p:txBody>
          <a:bodyPr lIns="0" tIns="0" rIns="0" bIns="0" rtlCol="0" anchor="t">
            <a:spAutoFit/>
          </a:bodyPr>
          <a:lstStyle/>
          <a:p>
            <a:pPr algn="l">
              <a:lnSpc>
                <a:spcPts val="2125"/>
              </a:lnSpc>
            </a:pPr>
            <a:r>
              <a:rPr lang="en-US" sz="1562" b="1">
                <a:solidFill>
                  <a:srgbClr val="D6E5EF"/>
                </a:solidFill>
                <a:latin typeface="Roboto Bold"/>
                <a:ea typeface="Roboto Bold"/>
                <a:cs typeface="Roboto Bold"/>
                <a:sym typeface="Roboto Bold"/>
              </a:rPr>
              <a:t>Implementation</a:t>
            </a:r>
            <a:r>
              <a:rPr lang="en-US" sz="1562">
                <a:solidFill>
                  <a:srgbClr val="D6E5EF"/>
                </a:solidFill>
                <a:latin typeface="Roboto"/>
                <a:ea typeface="Roboto"/>
                <a:cs typeface="Roboto"/>
                <a:sym typeface="Roboto"/>
              </a:rPr>
              <a:t> — the engine that executes JPA rules, generating SQL and managing sessions.</a:t>
            </a:r>
          </a:p>
        </p:txBody>
      </p:sp>
      <p:sp>
        <p:nvSpPr>
          <p:cNvPr id="20" name="TextBox 20"/>
          <p:cNvSpPr txBox="1"/>
          <p:nvPr/>
        </p:nvSpPr>
        <p:spPr>
          <a:xfrm>
            <a:off x="2266055" y="4196505"/>
            <a:ext cx="2491978" cy="320878"/>
          </a:xfrm>
          <a:prstGeom prst="rect">
            <a:avLst/>
          </a:prstGeom>
        </p:spPr>
        <p:txBody>
          <a:bodyPr lIns="0" tIns="0" rIns="0" bIns="0" rtlCol="0" anchor="t">
            <a:spAutoFit/>
          </a:bodyPr>
          <a:lstStyle/>
          <a:p>
            <a:pPr algn="l">
              <a:lnSpc>
                <a:spcPts val="2437"/>
              </a:lnSpc>
            </a:pPr>
            <a:r>
              <a:rPr lang="en-US" sz="1937">
                <a:solidFill>
                  <a:srgbClr val="76B9FF"/>
                </a:solidFill>
                <a:latin typeface="Roboto Slab"/>
                <a:ea typeface="Roboto Slab"/>
                <a:cs typeface="Roboto Slab"/>
                <a:sym typeface="Roboto Slab"/>
              </a:rPr>
              <a:t>Entity Lifecycle</a:t>
            </a:r>
          </a:p>
        </p:txBody>
      </p:sp>
      <p:grpSp>
        <p:nvGrpSpPr>
          <p:cNvPr id="21" name="Group 21"/>
          <p:cNvGrpSpPr/>
          <p:nvPr/>
        </p:nvGrpSpPr>
        <p:grpSpPr>
          <a:xfrm>
            <a:off x="2266055" y="4674984"/>
            <a:ext cx="996706" cy="1196130"/>
            <a:chOff x="0" y="0"/>
            <a:chExt cx="1328941" cy="1594841"/>
          </a:xfrm>
        </p:grpSpPr>
        <p:sp>
          <p:nvSpPr>
            <p:cNvPr id="22" name="Freeform 22" descr="preencoded.png"/>
            <p:cNvSpPr/>
            <p:nvPr/>
          </p:nvSpPr>
          <p:spPr>
            <a:xfrm>
              <a:off x="0" y="0"/>
              <a:ext cx="1328928" cy="1594866"/>
            </a:xfrm>
            <a:custGeom>
              <a:avLst/>
              <a:gdLst/>
              <a:ahLst/>
              <a:cxnLst/>
              <a:rect l="l" t="t" r="r" b="b"/>
              <a:pathLst>
                <a:path w="1328928" h="1594866">
                  <a:moveTo>
                    <a:pt x="0" y="0"/>
                  </a:moveTo>
                  <a:lnTo>
                    <a:pt x="1328928" y="0"/>
                  </a:lnTo>
                  <a:lnTo>
                    <a:pt x="1328928" y="1594866"/>
                  </a:lnTo>
                  <a:lnTo>
                    <a:pt x="0" y="1594866"/>
                  </a:lnTo>
                  <a:lnTo>
                    <a:pt x="0" y="0"/>
                  </a:lnTo>
                  <a:close/>
                </a:path>
              </a:pathLst>
            </a:custGeom>
            <a:blipFill>
              <a:blip r:embed="rId3"/>
              <a:stretch>
                <a:fillRect l="-3" r="-3" b="1"/>
              </a:stretch>
            </a:blipFill>
          </p:spPr>
        </p:sp>
      </p:grpSp>
      <p:sp>
        <p:nvSpPr>
          <p:cNvPr id="23" name="TextBox 23"/>
          <p:cNvSpPr txBox="1"/>
          <p:nvPr/>
        </p:nvSpPr>
        <p:spPr>
          <a:xfrm>
            <a:off x="3402806" y="4864741"/>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Transient</a:t>
            </a:r>
          </a:p>
        </p:txBody>
      </p:sp>
      <p:sp>
        <p:nvSpPr>
          <p:cNvPr id="24" name="TextBox 24"/>
          <p:cNvSpPr txBox="1"/>
          <p:nvPr/>
        </p:nvSpPr>
        <p:spPr>
          <a:xfrm>
            <a:off x="3402806" y="5287566"/>
            <a:ext cx="5497859" cy="309715"/>
          </a:xfrm>
          <a:prstGeom prst="rect">
            <a:avLst/>
          </a:prstGeom>
        </p:spPr>
        <p:txBody>
          <a:bodyPr lIns="0" tIns="0" rIns="0" bIns="0" rtlCol="0" anchor="t">
            <a:spAutoFit/>
          </a:bodyPr>
          <a:lstStyle/>
          <a:p>
            <a:pPr algn="l">
              <a:lnSpc>
                <a:spcPts val="2125"/>
              </a:lnSpc>
            </a:pPr>
            <a:r>
              <a:rPr lang="en-US" sz="1562">
                <a:solidFill>
                  <a:srgbClr val="D6E5EF"/>
                </a:solidFill>
                <a:latin typeface="Roboto"/>
                <a:ea typeface="Roboto"/>
                <a:cs typeface="Roboto"/>
                <a:sym typeface="Roboto"/>
              </a:rPr>
              <a:t>Object created, not yet tracked</a:t>
            </a:r>
          </a:p>
        </p:txBody>
      </p:sp>
      <p:grpSp>
        <p:nvGrpSpPr>
          <p:cNvPr id="25" name="Group 25"/>
          <p:cNvGrpSpPr/>
          <p:nvPr/>
        </p:nvGrpSpPr>
        <p:grpSpPr>
          <a:xfrm>
            <a:off x="2266055" y="5871124"/>
            <a:ext cx="996706" cy="1196130"/>
            <a:chOff x="0" y="0"/>
            <a:chExt cx="1328941" cy="1594841"/>
          </a:xfrm>
        </p:grpSpPr>
        <p:sp>
          <p:nvSpPr>
            <p:cNvPr id="26" name="Freeform 26" descr="preencoded.png"/>
            <p:cNvSpPr/>
            <p:nvPr/>
          </p:nvSpPr>
          <p:spPr>
            <a:xfrm>
              <a:off x="0" y="0"/>
              <a:ext cx="1328928" cy="1594866"/>
            </a:xfrm>
            <a:custGeom>
              <a:avLst/>
              <a:gdLst/>
              <a:ahLst/>
              <a:cxnLst/>
              <a:rect l="l" t="t" r="r" b="b"/>
              <a:pathLst>
                <a:path w="1328928" h="1594866">
                  <a:moveTo>
                    <a:pt x="0" y="0"/>
                  </a:moveTo>
                  <a:lnTo>
                    <a:pt x="1328928" y="0"/>
                  </a:lnTo>
                  <a:lnTo>
                    <a:pt x="1328928" y="1594866"/>
                  </a:lnTo>
                  <a:lnTo>
                    <a:pt x="0" y="1594866"/>
                  </a:lnTo>
                  <a:lnTo>
                    <a:pt x="0" y="0"/>
                  </a:lnTo>
                  <a:close/>
                </a:path>
              </a:pathLst>
            </a:custGeom>
            <a:blipFill>
              <a:blip r:embed="rId4"/>
              <a:stretch>
                <a:fillRect l="-3" r="-3" b="1"/>
              </a:stretch>
            </a:blipFill>
          </p:spPr>
        </p:sp>
      </p:grpSp>
      <p:sp>
        <p:nvSpPr>
          <p:cNvPr id="27" name="TextBox 27"/>
          <p:cNvSpPr txBox="1"/>
          <p:nvPr/>
        </p:nvSpPr>
        <p:spPr>
          <a:xfrm>
            <a:off x="3402806" y="6060872"/>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Persistent</a:t>
            </a:r>
          </a:p>
        </p:txBody>
      </p:sp>
      <p:sp>
        <p:nvSpPr>
          <p:cNvPr id="28" name="TextBox 28"/>
          <p:cNvSpPr txBox="1"/>
          <p:nvPr/>
        </p:nvSpPr>
        <p:spPr>
          <a:xfrm>
            <a:off x="3402806" y="6483696"/>
            <a:ext cx="5497859" cy="309715"/>
          </a:xfrm>
          <a:prstGeom prst="rect">
            <a:avLst/>
          </a:prstGeom>
        </p:spPr>
        <p:txBody>
          <a:bodyPr lIns="0" tIns="0" rIns="0" bIns="0" rtlCol="0" anchor="t">
            <a:spAutoFit/>
          </a:bodyPr>
          <a:lstStyle/>
          <a:p>
            <a:pPr algn="l">
              <a:lnSpc>
                <a:spcPts val="2125"/>
              </a:lnSpc>
            </a:pPr>
            <a:r>
              <a:rPr lang="en-US" sz="1562">
                <a:solidFill>
                  <a:srgbClr val="D6E5EF"/>
                </a:solidFill>
                <a:latin typeface="Roboto"/>
                <a:ea typeface="Roboto"/>
                <a:cs typeface="Roboto"/>
                <a:sym typeface="Roboto"/>
              </a:rPr>
              <a:t>Managed by Hibernate session</a:t>
            </a:r>
          </a:p>
        </p:txBody>
      </p:sp>
      <p:grpSp>
        <p:nvGrpSpPr>
          <p:cNvPr id="29" name="Group 29"/>
          <p:cNvGrpSpPr/>
          <p:nvPr/>
        </p:nvGrpSpPr>
        <p:grpSpPr>
          <a:xfrm>
            <a:off x="2266055" y="7067255"/>
            <a:ext cx="996706" cy="1196130"/>
            <a:chOff x="0" y="0"/>
            <a:chExt cx="1328941" cy="1594841"/>
          </a:xfrm>
        </p:grpSpPr>
        <p:sp>
          <p:nvSpPr>
            <p:cNvPr id="30" name="Freeform 30" descr="preencoded.png"/>
            <p:cNvSpPr/>
            <p:nvPr/>
          </p:nvSpPr>
          <p:spPr>
            <a:xfrm>
              <a:off x="0" y="0"/>
              <a:ext cx="1328928" cy="1594866"/>
            </a:xfrm>
            <a:custGeom>
              <a:avLst/>
              <a:gdLst/>
              <a:ahLst/>
              <a:cxnLst/>
              <a:rect l="l" t="t" r="r" b="b"/>
              <a:pathLst>
                <a:path w="1328928" h="1594866">
                  <a:moveTo>
                    <a:pt x="0" y="0"/>
                  </a:moveTo>
                  <a:lnTo>
                    <a:pt x="1328928" y="0"/>
                  </a:lnTo>
                  <a:lnTo>
                    <a:pt x="1328928" y="1594866"/>
                  </a:lnTo>
                  <a:lnTo>
                    <a:pt x="0" y="1594866"/>
                  </a:lnTo>
                  <a:lnTo>
                    <a:pt x="0" y="0"/>
                  </a:lnTo>
                  <a:close/>
                </a:path>
              </a:pathLst>
            </a:custGeom>
            <a:blipFill>
              <a:blip r:embed="rId5"/>
              <a:stretch>
                <a:fillRect l="-3" r="-3" b="1"/>
              </a:stretch>
            </a:blipFill>
          </p:spPr>
        </p:sp>
      </p:grpSp>
      <p:sp>
        <p:nvSpPr>
          <p:cNvPr id="31" name="TextBox 31"/>
          <p:cNvSpPr txBox="1"/>
          <p:nvPr/>
        </p:nvSpPr>
        <p:spPr>
          <a:xfrm>
            <a:off x="3402806" y="7257012"/>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Detached</a:t>
            </a:r>
          </a:p>
        </p:txBody>
      </p:sp>
      <p:sp>
        <p:nvSpPr>
          <p:cNvPr id="32" name="TextBox 32"/>
          <p:cNvSpPr txBox="1"/>
          <p:nvPr/>
        </p:nvSpPr>
        <p:spPr>
          <a:xfrm>
            <a:off x="3402806" y="7679827"/>
            <a:ext cx="5497859" cy="309715"/>
          </a:xfrm>
          <a:prstGeom prst="rect">
            <a:avLst/>
          </a:prstGeom>
        </p:spPr>
        <p:txBody>
          <a:bodyPr lIns="0" tIns="0" rIns="0" bIns="0" rtlCol="0" anchor="t">
            <a:spAutoFit/>
          </a:bodyPr>
          <a:lstStyle/>
          <a:p>
            <a:pPr algn="l">
              <a:lnSpc>
                <a:spcPts val="2125"/>
              </a:lnSpc>
            </a:pPr>
            <a:r>
              <a:rPr lang="en-US" sz="1562">
                <a:solidFill>
                  <a:srgbClr val="D6E5EF"/>
                </a:solidFill>
                <a:latin typeface="Roboto"/>
                <a:ea typeface="Roboto"/>
                <a:cs typeface="Roboto"/>
                <a:sym typeface="Roboto"/>
              </a:rPr>
              <a:t>Session closed, no longer tracked</a:t>
            </a:r>
          </a:p>
        </p:txBody>
      </p:sp>
      <p:grpSp>
        <p:nvGrpSpPr>
          <p:cNvPr id="33" name="Group 33"/>
          <p:cNvGrpSpPr/>
          <p:nvPr/>
        </p:nvGrpSpPr>
        <p:grpSpPr>
          <a:xfrm>
            <a:off x="2266055" y="8263385"/>
            <a:ext cx="996706" cy="1196130"/>
            <a:chOff x="0" y="0"/>
            <a:chExt cx="1328941" cy="1594841"/>
          </a:xfrm>
        </p:grpSpPr>
        <p:sp>
          <p:nvSpPr>
            <p:cNvPr id="34" name="Freeform 34" descr="preencoded.png"/>
            <p:cNvSpPr/>
            <p:nvPr/>
          </p:nvSpPr>
          <p:spPr>
            <a:xfrm>
              <a:off x="0" y="0"/>
              <a:ext cx="1328928" cy="1594866"/>
            </a:xfrm>
            <a:custGeom>
              <a:avLst/>
              <a:gdLst/>
              <a:ahLst/>
              <a:cxnLst/>
              <a:rect l="l" t="t" r="r" b="b"/>
              <a:pathLst>
                <a:path w="1328928" h="1594866">
                  <a:moveTo>
                    <a:pt x="0" y="0"/>
                  </a:moveTo>
                  <a:lnTo>
                    <a:pt x="1328928" y="0"/>
                  </a:lnTo>
                  <a:lnTo>
                    <a:pt x="1328928" y="1594866"/>
                  </a:lnTo>
                  <a:lnTo>
                    <a:pt x="0" y="1594866"/>
                  </a:lnTo>
                  <a:lnTo>
                    <a:pt x="0" y="0"/>
                  </a:lnTo>
                  <a:close/>
                </a:path>
              </a:pathLst>
            </a:custGeom>
            <a:blipFill>
              <a:blip r:embed="rId6"/>
              <a:stretch>
                <a:fillRect l="-3" r="-3" b="1"/>
              </a:stretch>
            </a:blipFill>
          </p:spPr>
        </p:sp>
      </p:grpSp>
      <p:sp>
        <p:nvSpPr>
          <p:cNvPr id="35" name="TextBox 35"/>
          <p:cNvSpPr txBox="1"/>
          <p:nvPr/>
        </p:nvSpPr>
        <p:spPr>
          <a:xfrm>
            <a:off x="3402806" y="8453142"/>
            <a:ext cx="2491978" cy="320878"/>
          </a:xfrm>
          <a:prstGeom prst="rect">
            <a:avLst/>
          </a:prstGeom>
        </p:spPr>
        <p:txBody>
          <a:bodyPr lIns="0" tIns="0" rIns="0" bIns="0" rtlCol="0" anchor="t">
            <a:spAutoFit/>
          </a:bodyPr>
          <a:lstStyle/>
          <a:p>
            <a:pPr algn="l">
              <a:lnSpc>
                <a:spcPts val="2437"/>
              </a:lnSpc>
            </a:pPr>
            <a:r>
              <a:rPr lang="en-US" sz="1937">
                <a:solidFill>
                  <a:srgbClr val="D6E5EF"/>
                </a:solidFill>
                <a:latin typeface="Roboto Slab"/>
                <a:ea typeface="Roboto Slab"/>
                <a:cs typeface="Roboto Slab"/>
                <a:sym typeface="Roboto Slab"/>
              </a:rPr>
              <a:t>Removed</a:t>
            </a:r>
          </a:p>
        </p:txBody>
      </p:sp>
      <p:sp>
        <p:nvSpPr>
          <p:cNvPr id="36" name="TextBox 36"/>
          <p:cNvSpPr txBox="1"/>
          <p:nvPr/>
        </p:nvSpPr>
        <p:spPr>
          <a:xfrm>
            <a:off x="3402806" y="8875957"/>
            <a:ext cx="5497859" cy="309715"/>
          </a:xfrm>
          <a:prstGeom prst="rect">
            <a:avLst/>
          </a:prstGeom>
        </p:spPr>
        <p:txBody>
          <a:bodyPr lIns="0" tIns="0" rIns="0" bIns="0" rtlCol="0" anchor="t">
            <a:spAutoFit/>
          </a:bodyPr>
          <a:lstStyle/>
          <a:p>
            <a:pPr algn="l">
              <a:lnSpc>
                <a:spcPts val="2125"/>
              </a:lnSpc>
            </a:pPr>
            <a:r>
              <a:rPr lang="en-US" sz="1562">
                <a:solidFill>
                  <a:srgbClr val="D6E5EF"/>
                </a:solidFill>
                <a:latin typeface="Roboto"/>
                <a:ea typeface="Roboto"/>
                <a:cs typeface="Roboto"/>
                <a:sym typeface="Roboto"/>
              </a:rPr>
              <a:t>Scheduled for deletion from DB</a:t>
            </a:r>
          </a:p>
        </p:txBody>
      </p:sp>
      <p:sp>
        <p:nvSpPr>
          <p:cNvPr id="37" name="TextBox 37"/>
          <p:cNvSpPr txBox="1"/>
          <p:nvPr/>
        </p:nvSpPr>
        <p:spPr>
          <a:xfrm>
            <a:off x="9396565" y="1655264"/>
            <a:ext cx="2491978" cy="320878"/>
          </a:xfrm>
          <a:prstGeom prst="rect">
            <a:avLst/>
          </a:prstGeom>
        </p:spPr>
        <p:txBody>
          <a:bodyPr lIns="0" tIns="0" rIns="0" bIns="0" rtlCol="0" anchor="t">
            <a:spAutoFit/>
          </a:bodyPr>
          <a:lstStyle/>
          <a:p>
            <a:pPr algn="l">
              <a:lnSpc>
                <a:spcPts val="2437"/>
              </a:lnSpc>
            </a:pPr>
            <a:r>
              <a:rPr lang="en-US" sz="1937">
                <a:solidFill>
                  <a:srgbClr val="76B9FF"/>
                </a:solidFill>
                <a:latin typeface="Roboto Slab"/>
                <a:ea typeface="Roboto Slab"/>
                <a:cs typeface="Roboto Slab"/>
                <a:sym typeface="Roboto Slab"/>
              </a:rPr>
              <a:t>ORM Mapping</a:t>
            </a:r>
          </a:p>
        </p:txBody>
      </p:sp>
      <p:grpSp>
        <p:nvGrpSpPr>
          <p:cNvPr id="38" name="Group 38"/>
          <p:cNvGrpSpPr/>
          <p:nvPr/>
        </p:nvGrpSpPr>
        <p:grpSpPr>
          <a:xfrm>
            <a:off x="9396565" y="2133752"/>
            <a:ext cx="6634610" cy="6634610"/>
            <a:chOff x="0" y="0"/>
            <a:chExt cx="8846147" cy="8846147"/>
          </a:xfrm>
        </p:grpSpPr>
        <p:sp>
          <p:nvSpPr>
            <p:cNvPr id="39" name="Freeform 39" descr="preencoded.png"/>
            <p:cNvSpPr/>
            <p:nvPr/>
          </p:nvSpPr>
          <p:spPr>
            <a:xfrm>
              <a:off x="0" y="0"/>
              <a:ext cx="8846185" cy="8846185"/>
            </a:xfrm>
            <a:custGeom>
              <a:avLst/>
              <a:gdLst/>
              <a:ahLst/>
              <a:cxnLst/>
              <a:rect l="l" t="t" r="r" b="b"/>
              <a:pathLst>
                <a:path w="8846185" h="8846185">
                  <a:moveTo>
                    <a:pt x="0" y="0"/>
                  </a:moveTo>
                  <a:lnTo>
                    <a:pt x="8846185" y="0"/>
                  </a:lnTo>
                  <a:lnTo>
                    <a:pt x="8846185" y="8846185"/>
                  </a:lnTo>
                  <a:lnTo>
                    <a:pt x="0" y="8846185"/>
                  </a:lnTo>
                  <a:lnTo>
                    <a:pt x="0" y="0"/>
                  </a:lnTo>
                  <a:close/>
                </a:path>
              </a:pathLst>
            </a:custGeom>
            <a:blipFill>
              <a:blip r:embed="rId7"/>
              <a:stretch>
                <a:fillRect/>
              </a:stretch>
            </a:blipFill>
          </p:spPr>
        </p:sp>
      </p:grpSp>
      <p:grpSp>
        <p:nvGrpSpPr>
          <p:cNvPr id="40" name="Group 40"/>
          <p:cNvGrpSpPr/>
          <p:nvPr/>
        </p:nvGrpSpPr>
        <p:grpSpPr>
          <a:xfrm>
            <a:off x="9396565" y="2133752"/>
            <a:ext cx="6634610" cy="6634610"/>
            <a:chOff x="0" y="0"/>
            <a:chExt cx="8846147" cy="8846147"/>
          </a:xfrm>
        </p:grpSpPr>
        <p:sp>
          <p:nvSpPr>
            <p:cNvPr id="41" name="Freeform 41" descr="preencoded.png"/>
            <p:cNvSpPr/>
            <p:nvPr/>
          </p:nvSpPr>
          <p:spPr>
            <a:xfrm>
              <a:off x="0" y="0"/>
              <a:ext cx="8846185" cy="8846185"/>
            </a:xfrm>
            <a:custGeom>
              <a:avLst/>
              <a:gdLst/>
              <a:ahLst/>
              <a:cxnLst/>
              <a:rect l="l" t="t" r="r" b="b"/>
              <a:pathLst>
                <a:path w="8846185" h="8846185">
                  <a:moveTo>
                    <a:pt x="0" y="0"/>
                  </a:moveTo>
                  <a:lnTo>
                    <a:pt x="8846185" y="0"/>
                  </a:lnTo>
                  <a:lnTo>
                    <a:pt x="8846185" y="8846185"/>
                  </a:lnTo>
                  <a:lnTo>
                    <a:pt x="0" y="8846185"/>
                  </a:lnTo>
                  <a:lnTo>
                    <a:pt x="0" y="0"/>
                  </a:lnTo>
                  <a:close/>
                </a:path>
              </a:pathLst>
            </a:custGeom>
            <a:blipFill>
              <a:blip r:embed="rId8"/>
              <a:stretch>
                <a:fillRect/>
              </a:stretch>
            </a:blipFill>
          </p:spPr>
        </p:sp>
      </p:grpSp>
      <p:sp>
        <p:nvSpPr>
          <p:cNvPr id="42" name="TextBox 42"/>
          <p:cNvSpPr txBox="1"/>
          <p:nvPr/>
        </p:nvSpPr>
        <p:spPr>
          <a:xfrm>
            <a:off x="9396565" y="8887863"/>
            <a:ext cx="6634610" cy="581320"/>
          </a:xfrm>
          <a:prstGeom prst="rect">
            <a:avLst/>
          </a:prstGeom>
        </p:spPr>
        <p:txBody>
          <a:bodyPr lIns="0" tIns="0" rIns="0" bIns="0" rtlCol="0" anchor="t">
            <a:spAutoFit/>
          </a:bodyPr>
          <a:lstStyle/>
          <a:p>
            <a:pPr algn="l">
              <a:lnSpc>
                <a:spcPts val="2125"/>
              </a:lnSpc>
            </a:pPr>
            <a:r>
              <a:rPr lang="en-US" sz="1562">
                <a:solidFill>
                  <a:srgbClr val="D6E5EF"/>
                </a:solidFill>
                <a:latin typeface="Roboto"/>
                <a:ea typeface="Roboto"/>
                <a:cs typeface="Roboto"/>
                <a:sym typeface="Roboto"/>
              </a:rPr>
              <a:t>ORM eliminates raw SQL for standard operations — Hibernate translates object interactions directly into database queries.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8" y="2438105"/>
            <a:ext cx="9445523" cy="1790995"/>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Spring Security + JWT Authentication Flow</a:t>
            </a:r>
          </a:p>
        </p:txBody>
      </p:sp>
      <p:sp>
        <p:nvSpPr>
          <p:cNvPr id="9" name="TextBox 9"/>
          <p:cNvSpPr txBox="1"/>
          <p:nvPr/>
        </p:nvSpPr>
        <p:spPr>
          <a:xfrm>
            <a:off x="7850238" y="4559056"/>
            <a:ext cx="9445523" cy="3270647"/>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This backend security system implements stateless authentication using Spring Security and JSON Web Tokens (JWT). Unlike traditional session-based authentication, JWT provides a scalable, distributed solution where each request carries its own authentication credentials. The flow begins with user login and password verification using BCrypt hashing, proceeds through JWT token generation, and establishes a security filter chain that validates tokens on every subsequent request.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2418902" y="589359"/>
            <a:ext cx="7947422" cy="582211"/>
          </a:xfrm>
          <a:prstGeom prst="rect">
            <a:avLst/>
          </a:prstGeom>
        </p:spPr>
        <p:txBody>
          <a:bodyPr lIns="0" tIns="0" rIns="0" bIns="0" rtlCol="0" anchor="t">
            <a:spAutoFit/>
          </a:bodyPr>
          <a:lstStyle/>
          <a:p>
            <a:pPr algn="l">
              <a:lnSpc>
                <a:spcPts val="4750"/>
              </a:lnSpc>
            </a:pPr>
            <a:r>
              <a:rPr lang="en-US" sz="3812" dirty="0">
                <a:solidFill>
                  <a:srgbClr val="76B9FF"/>
                </a:solidFill>
                <a:latin typeface="Roboto Slab"/>
                <a:ea typeface="Roboto Slab"/>
                <a:cs typeface="Roboto Slab"/>
                <a:sym typeface="Roboto Slab"/>
              </a:rPr>
              <a:t>Security </a:t>
            </a:r>
            <a:r>
              <a:rPr lang="en-US" sz="3812" dirty="0" err="1">
                <a:solidFill>
                  <a:srgbClr val="76B9FF"/>
                </a:solidFill>
                <a:latin typeface="Roboto Slab"/>
                <a:ea typeface="Roboto Slab"/>
                <a:cs typeface="Roboto Slab"/>
                <a:sym typeface="Roboto Slab"/>
              </a:rPr>
              <a:t>ArchitectureComponents</a:t>
            </a:r>
            <a:endParaRPr lang="en-US" sz="3812" dirty="0">
              <a:solidFill>
                <a:srgbClr val="76B9FF"/>
              </a:solidFill>
              <a:latin typeface="Roboto Slab"/>
              <a:ea typeface="Roboto Slab"/>
              <a:cs typeface="Roboto Slab"/>
              <a:sym typeface="Roboto Slab"/>
            </a:endParaRPr>
          </a:p>
        </p:txBody>
      </p:sp>
      <p:grpSp>
        <p:nvGrpSpPr>
          <p:cNvPr id="7" name="Group 7"/>
          <p:cNvGrpSpPr/>
          <p:nvPr/>
        </p:nvGrpSpPr>
        <p:grpSpPr>
          <a:xfrm>
            <a:off x="2418902" y="1485309"/>
            <a:ext cx="6657975" cy="2564759"/>
            <a:chOff x="0" y="0"/>
            <a:chExt cx="8877300" cy="3419678"/>
          </a:xfrm>
        </p:grpSpPr>
        <p:sp>
          <p:nvSpPr>
            <p:cNvPr id="8" name="Freeform 8"/>
            <p:cNvSpPr/>
            <p:nvPr/>
          </p:nvSpPr>
          <p:spPr>
            <a:xfrm>
              <a:off x="0" y="0"/>
              <a:ext cx="8877300" cy="3419729"/>
            </a:xfrm>
            <a:custGeom>
              <a:avLst/>
              <a:gdLst/>
              <a:ahLst/>
              <a:cxnLst/>
              <a:rect l="l" t="t" r="r" b="b"/>
              <a:pathLst>
                <a:path w="8877300" h="3419729">
                  <a:moveTo>
                    <a:pt x="0" y="38989"/>
                  </a:moveTo>
                  <a:cubicBezTo>
                    <a:pt x="0" y="17399"/>
                    <a:pt x="17399" y="0"/>
                    <a:pt x="38989" y="0"/>
                  </a:cubicBezTo>
                  <a:lnTo>
                    <a:pt x="8838311" y="0"/>
                  </a:lnTo>
                  <a:cubicBezTo>
                    <a:pt x="8859901" y="0"/>
                    <a:pt x="8877300" y="17399"/>
                    <a:pt x="8877300" y="38989"/>
                  </a:cubicBezTo>
                  <a:lnTo>
                    <a:pt x="8877300" y="3380740"/>
                  </a:lnTo>
                  <a:cubicBezTo>
                    <a:pt x="8877300" y="3402330"/>
                    <a:pt x="8859901" y="3419729"/>
                    <a:pt x="8838311" y="3419729"/>
                  </a:cubicBezTo>
                  <a:lnTo>
                    <a:pt x="38989" y="3419729"/>
                  </a:lnTo>
                  <a:cubicBezTo>
                    <a:pt x="17399" y="3419729"/>
                    <a:pt x="0" y="3402330"/>
                    <a:pt x="0" y="3380740"/>
                  </a:cubicBezTo>
                  <a:close/>
                </a:path>
              </a:pathLst>
            </a:custGeom>
            <a:solidFill>
              <a:srgbClr val="3F4652"/>
            </a:solidFill>
          </p:spPr>
        </p:sp>
      </p:grpSp>
      <p:grpSp>
        <p:nvGrpSpPr>
          <p:cNvPr id="9" name="Group 9"/>
          <p:cNvGrpSpPr/>
          <p:nvPr/>
        </p:nvGrpSpPr>
        <p:grpSpPr>
          <a:xfrm>
            <a:off x="2613717" y="1680124"/>
            <a:ext cx="584749" cy="584749"/>
            <a:chOff x="0" y="0"/>
            <a:chExt cx="779666" cy="779666"/>
          </a:xfrm>
        </p:grpSpPr>
        <p:sp>
          <p:nvSpPr>
            <p:cNvPr id="10" name="Freeform 10" descr="preencoded.png"/>
            <p:cNvSpPr/>
            <p:nvPr/>
          </p:nvSpPr>
          <p:spPr>
            <a:xfrm>
              <a:off x="0" y="0"/>
              <a:ext cx="779653" cy="779653"/>
            </a:xfrm>
            <a:custGeom>
              <a:avLst/>
              <a:gdLst/>
              <a:ahLst/>
              <a:cxnLst/>
              <a:rect l="l" t="t" r="r" b="b"/>
              <a:pathLst>
                <a:path w="779653" h="779653">
                  <a:moveTo>
                    <a:pt x="0" y="0"/>
                  </a:moveTo>
                  <a:lnTo>
                    <a:pt x="779653" y="0"/>
                  </a:lnTo>
                  <a:lnTo>
                    <a:pt x="779653" y="779653"/>
                  </a:lnTo>
                  <a:lnTo>
                    <a:pt x="0" y="779653"/>
                  </a:lnTo>
                  <a:lnTo>
                    <a:pt x="0" y="0"/>
                  </a:lnTo>
                  <a:close/>
                </a:path>
              </a:pathLst>
            </a:custGeom>
            <a:blipFill>
              <a:blip r:embed="rId3"/>
              <a:stretch>
                <a:fillRect r="-1" b="-1"/>
              </a:stretch>
            </a:blipFill>
          </p:spPr>
        </p:sp>
      </p:grpSp>
      <p:sp>
        <p:nvSpPr>
          <p:cNvPr id="11" name="TextBox 11"/>
          <p:cNvSpPr txBox="1"/>
          <p:nvPr/>
        </p:nvSpPr>
        <p:spPr>
          <a:xfrm>
            <a:off x="2613717" y="2389289"/>
            <a:ext cx="2436609" cy="314030"/>
          </a:xfrm>
          <a:prstGeom prst="rect">
            <a:avLst/>
          </a:prstGeom>
        </p:spPr>
        <p:txBody>
          <a:bodyPr lIns="0" tIns="0" rIns="0" bIns="0" rtlCol="0" anchor="t">
            <a:spAutoFit/>
          </a:bodyPr>
          <a:lstStyle/>
          <a:p>
            <a:pPr algn="l">
              <a:lnSpc>
                <a:spcPts val="2375"/>
              </a:lnSpc>
            </a:pPr>
            <a:r>
              <a:rPr lang="en-US" sz="1874">
                <a:solidFill>
                  <a:srgbClr val="D6E5EF"/>
                </a:solidFill>
                <a:latin typeface="Roboto Slab"/>
                <a:ea typeface="Roboto Slab"/>
                <a:cs typeface="Roboto Slab"/>
                <a:sym typeface="Roboto Slab"/>
              </a:rPr>
              <a:t>Authentication</a:t>
            </a:r>
          </a:p>
        </p:txBody>
      </p:sp>
      <p:sp>
        <p:nvSpPr>
          <p:cNvPr id="12" name="TextBox 12"/>
          <p:cNvSpPr txBox="1"/>
          <p:nvPr/>
        </p:nvSpPr>
        <p:spPr>
          <a:xfrm>
            <a:off x="2613717" y="2745581"/>
            <a:ext cx="6268345" cy="1109662"/>
          </a:xfrm>
          <a:prstGeom prst="rect">
            <a:avLst/>
          </a:prstGeom>
        </p:spPr>
        <p:txBody>
          <a:bodyPr lIns="0" tIns="0" rIns="0" bIns="0" rtlCol="0" anchor="t">
            <a:spAutoFit/>
          </a:bodyPr>
          <a:lstStyle/>
          <a:p>
            <a:pPr algn="l">
              <a:lnSpc>
                <a:spcPts val="2062"/>
              </a:lnSpc>
            </a:pPr>
            <a:r>
              <a:rPr lang="en-US" sz="1500">
                <a:solidFill>
                  <a:srgbClr val="D6E5EF"/>
                </a:solidFill>
                <a:latin typeface="Roboto"/>
                <a:ea typeface="Roboto"/>
                <a:cs typeface="Roboto"/>
                <a:sym typeface="Roboto"/>
              </a:rPr>
              <a:t>Verifies user identity through credentials. AuthenticationManager validates email and password using UserDetailsService to load user data from the database and BCrypt for secure password hashing comparison.</a:t>
            </a:r>
          </a:p>
        </p:txBody>
      </p:sp>
      <p:grpSp>
        <p:nvGrpSpPr>
          <p:cNvPr id="13" name="Group 13"/>
          <p:cNvGrpSpPr/>
          <p:nvPr/>
        </p:nvGrpSpPr>
        <p:grpSpPr>
          <a:xfrm>
            <a:off x="9210827" y="1485309"/>
            <a:ext cx="6658127" cy="2564759"/>
            <a:chOff x="0" y="0"/>
            <a:chExt cx="8877503" cy="3419678"/>
          </a:xfrm>
        </p:grpSpPr>
        <p:sp>
          <p:nvSpPr>
            <p:cNvPr id="14" name="Freeform 14"/>
            <p:cNvSpPr/>
            <p:nvPr/>
          </p:nvSpPr>
          <p:spPr>
            <a:xfrm>
              <a:off x="0" y="0"/>
              <a:ext cx="8877554" cy="3419729"/>
            </a:xfrm>
            <a:custGeom>
              <a:avLst/>
              <a:gdLst/>
              <a:ahLst/>
              <a:cxnLst/>
              <a:rect l="l" t="t" r="r" b="b"/>
              <a:pathLst>
                <a:path w="8877554" h="3419729">
                  <a:moveTo>
                    <a:pt x="0" y="38989"/>
                  </a:moveTo>
                  <a:cubicBezTo>
                    <a:pt x="0" y="17399"/>
                    <a:pt x="17399" y="0"/>
                    <a:pt x="38989" y="0"/>
                  </a:cubicBezTo>
                  <a:lnTo>
                    <a:pt x="8838565" y="0"/>
                  </a:lnTo>
                  <a:cubicBezTo>
                    <a:pt x="8860155" y="0"/>
                    <a:pt x="8877554" y="17399"/>
                    <a:pt x="8877554" y="38989"/>
                  </a:cubicBezTo>
                  <a:lnTo>
                    <a:pt x="8877554" y="3380740"/>
                  </a:lnTo>
                  <a:cubicBezTo>
                    <a:pt x="8877554" y="3402330"/>
                    <a:pt x="8860155" y="3419729"/>
                    <a:pt x="8838565" y="3419729"/>
                  </a:cubicBezTo>
                  <a:lnTo>
                    <a:pt x="38989" y="3419729"/>
                  </a:lnTo>
                  <a:cubicBezTo>
                    <a:pt x="17399" y="3419729"/>
                    <a:pt x="0" y="3402330"/>
                    <a:pt x="0" y="3380740"/>
                  </a:cubicBezTo>
                  <a:close/>
                </a:path>
              </a:pathLst>
            </a:custGeom>
            <a:solidFill>
              <a:srgbClr val="3F4652"/>
            </a:solidFill>
          </p:spPr>
        </p:sp>
      </p:grpSp>
      <p:grpSp>
        <p:nvGrpSpPr>
          <p:cNvPr id="15" name="Group 15"/>
          <p:cNvGrpSpPr/>
          <p:nvPr/>
        </p:nvGrpSpPr>
        <p:grpSpPr>
          <a:xfrm>
            <a:off x="9405642" y="1680124"/>
            <a:ext cx="584749" cy="584749"/>
            <a:chOff x="0" y="0"/>
            <a:chExt cx="779666" cy="779666"/>
          </a:xfrm>
        </p:grpSpPr>
        <p:sp>
          <p:nvSpPr>
            <p:cNvPr id="16" name="Freeform 16" descr="preencoded.png"/>
            <p:cNvSpPr/>
            <p:nvPr/>
          </p:nvSpPr>
          <p:spPr>
            <a:xfrm>
              <a:off x="0" y="0"/>
              <a:ext cx="779653" cy="779653"/>
            </a:xfrm>
            <a:custGeom>
              <a:avLst/>
              <a:gdLst/>
              <a:ahLst/>
              <a:cxnLst/>
              <a:rect l="l" t="t" r="r" b="b"/>
              <a:pathLst>
                <a:path w="779653" h="779653">
                  <a:moveTo>
                    <a:pt x="0" y="0"/>
                  </a:moveTo>
                  <a:lnTo>
                    <a:pt x="779653" y="0"/>
                  </a:lnTo>
                  <a:lnTo>
                    <a:pt x="779653" y="779653"/>
                  </a:lnTo>
                  <a:lnTo>
                    <a:pt x="0" y="779653"/>
                  </a:lnTo>
                  <a:lnTo>
                    <a:pt x="0" y="0"/>
                  </a:lnTo>
                  <a:close/>
                </a:path>
              </a:pathLst>
            </a:custGeom>
            <a:blipFill>
              <a:blip r:embed="rId4"/>
              <a:stretch>
                <a:fillRect r="-1" b="-1"/>
              </a:stretch>
            </a:blipFill>
          </p:spPr>
        </p:sp>
      </p:grpSp>
      <p:sp>
        <p:nvSpPr>
          <p:cNvPr id="17" name="TextBox 17"/>
          <p:cNvSpPr txBox="1"/>
          <p:nvPr/>
        </p:nvSpPr>
        <p:spPr>
          <a:xfrm>
            <a:off x="9405642" y="2389289"/>
            <a:ext cx="2436609" cy="314030"/>
          </a:xfrm>
          <a:prstGeom prst="rect">
            <a:avLst/>
          </a:prstGeom>
        </p:spPr>
        <p:txBody>
          <a:bodyPr lIns="0" tIns="0" rIns="0" bIns="0" rtlCol="0" anchor="t">
            <a:spAutoFit/>
          </a:bodyPr>
          <a:lstStyle/>
          <a:p>
            <a:pPr algn="l">
              <a:lnSpc>
                <a:spcPts val="2375"/>
              </a:lnSpc>
            </a:pPr>
            <a:r>
              <a:rPr lang="en-US" sz="1874">
                <a:solidFill>
                  <a:srgbClr val="D6E5EF"/>
                </a:solidFill>
                <a:latin typeface="Roboto Slab"/>
                <a:ea typeface="Roboto Slab"/>
                <a:cs typeface="Roboto Slab"/>
                <a:sym typeface="Roboto Slab"/>
              </a:rPr>
              <a:t>JWT Generation</a:t>
            </a:r>
          </a:p>
        </p:txBody>
      </p:sp>
      <p:sp>
        <p:nvSpPr>
          <p:cNvPr id="18" name="TextBox 18"/>
          <p:cNvSpPr txBox="1"/>
          <p:nvPr/>
        </p:nvSpPr>
        <p:spPr>
          <a:xfrm>
            <a:off x="9405642" y="2745581"/>
            <a:ext cx="6268488" cy="1100138"/>
          </a:xfrm>
          <a:prstGeom prst="rect">
            <a:avLst/>
          </a:prstGeom>
        </p:spPr>
        <p:txBody>
          <a:bodyPr lIns="0" tIns="0" rIns="0" bIns="0" rtlCol="0" anchor="t">
            <a:spAutoFit/>
          </a:bodyPr>
          <a:lstStyle/>
          <a:p>
            <a:pPr algn="l">
              <a:lnSpc>
                <a:spcPts val="2062"/>
              </a:lnSpc>
            </a:pPr>
            <a:r>
              <a:rPr lang="en-US" sz="1500">
                <a:solidFill>
                  <a:srgbClr val="D6E5EF"/>
                </a:solidFill>
                <a:latin typeface="Roboto"/>
                <a:ea typeface="Roboto"/>
                <a:cs typeface="Roboto"/>
                <a:sym typeface="Roboto"/>
              </a:rPr>
              <a:t>Creates cryptographically signed tokens containing user claims after successful authentication. JwtUtil generates tokens with expiration time and user details, returned to frontend for storage in localStorage or cookies.</a:t>
            </a:r>
          </a:p>
        </p:txBody>
      </p:sp>
      <p:grpSp>
        <p:nvGrpSpPr>
          <p:cNvPr id="19" name="Group 19"/>
          <p:cNvGrpSpPr/>
          <p:nvPr/>
        </p:nvGrpSpPr>
        <p:grpSpPr>
          <a:xfrm>
            <a:off x="2418902" y="4184009"/>
            <a:ext cx="6657975" cy="2574284"/>
            <a:chOff x="0" y="0"/>
            <a:chExt cx="8877300" cy="3432378"/>
          </a:xfrm>
        </p:grpSpPr>
        <p:sp>
          <p:nvSpPr>
            <p:cNvPr id="20" name="Freeform 20"/>
            <p:cNvSpPr/>
            <p:nvPr/>
          </p:nvSpPr>
          <p:spPr>
            <a:xfrm>
              <a:off x="0" y="0"/>
              <a:ext cx="8877300" cy="3432429"/>
            </a:xfrm>
            <a:custGeom>
              <a:avLst/>
              <a:gdLst/>
              <a:ahLst/>
              <a:cxnLst/>
              <a:rect l="l" t="t" r="r" b="b"/>
              <a:pathLst>
                <a:path w="8877300" h="3432429">
                  <a:moveTo>
                    <a:pt x="0" y="38989"/>
                  </a:moveTo>
                  <a:cubicBezTo>
                    <a:pt x="0" y="17399"/>
                    <a:pt x="17399" y="0"/>
                    <a:pt x="38989" y="0"/>
                  </a:cubicBezTo>
                  <a:lnTo>
                    <a:pt x="8838311" y="0"/>
                  </a:lnTo>
                  <a:cubicBezTo>
                    <a:pt x="8859901" y="0"/>
                    <a:pt x="8877300" y="17399"/>
                    <a:pt x="8877300" y="38989"/>
                  </a:cubicBezTo>
                  <a:lnTo>
                    <a:pt x="8877300" y="3393440"/>
                  </a:lnTo>
                  <a:cubicBezTo>
                    <a:pt x="8877300" y="3415030"/>
                    <a:pt x="8859901" y="3432429"/>
                    <a:pt x="8838311" y="3432429"/>
                  </a:cubicBezTo>
                  <a:lnTo>
                    <a:pt x="38989" y="3432429"/>
                  </a:lnTo>
                  <a:cubicBezTo>
                    <a:pt x="17399" y="3432429"/>
                    <a:pt x="0" y="3415030"/>
                    <a:pt x="0" y="3393440"/>
                  </a:cubicBezTo>
                  <a:close/>
                </a:path>
              </a:pathLst>
            </a:custGeom>
            <a:solidFill>
              <a:srgbClr val="3F4652"/>
            </a:solidFill>
          </p:spPr>
        </p:sp>
      </p:grpSp>
      <p:grpSp>
        <p:nvGrpSpPr>
          <p:cNvPr id="21" name="Group 21"/>
          <p:cNvGrpSpPr/>
          <p:nvPr/>
        </p:nvGrpSpPr>
        <p:grpSpPr>
          <a:xfrm>
            <a:off x="2613717" y="4378823"/>
            <a:ext cx="584749" cy="584749"/>
            <a:chOff x="0" y="0"/>
            <a:chExt cx="779666" cy="779666"/>
          </a:xfrm>
        </p:grpSpPr>
        <p:sp>
          <p:nvSpPr>
            <p:cNvPr id="22" name="Freeform 22" descr="preencoded.png"/>
            <p:cNvSpPr/>
            <p:nvPr/>
          </p:nvSpPr>
          <p:spPr>
            <a:xfrm>
              <a:off x="0" y="0"/>
              <a:ext cx="779653" cy="779653"/>
            </a:xfrm>
            <a:custGeom>
              <a:avLst/>
              <a:gdLst/>
              <a:ahLst/>
              <a:cxnLst/>
              <a:rect l="l" t="t" r="r" b="b"/>
              <a:pathLst>
                <a:path w="779653" h="779653">
                  <a:moveTo>
                    <a:pt x="0" y="0"/>
                  </a:moveTo>
                  <a:lnTo>
                    <a:pt x="779653" y="0"/>
                  </a:lnTo>
                  <a:lnTo>
                    <a:pt x="779653" y="779653"/>
                  </a:lnTo>
                  <a:lnTo>
                    <a:pt x="0" y="779653"/>
                  </a:lnTo>
                  <a:lnTo>
                    <a:pt x="0" y="0"/>
                  </a:lnTo>
                  <a:close/>
                </a:path>
              </a:pathLst>
            </a:custGeom>
            <a:blipFill>
              <a:blip r:embed="rId5"/>
              <a:stretch>
                <a:fillRect r="-1" b="-1"/>
              </a:stretch>
            </a:blipFill>
          </p:spPr>
        </p:sp>
      </p:grpSp>
      <p:sp>
        <p:nvSpPr>
          <p:cNvPr id="23" name="TextBox 23"/>
          <p:cNvSpPr txBox="1"/>
          <p:nvPr/>
        </p:nvSpPr>
        <p:spPr>
          <a:xfrm>
            <a:off x="2613717" y="5087988"/>
            <a:ext cx="2436609" cy="314030"/>
          </a:xfrm>
          <a:prstGeom prst="rect">
            <a:avLst/>
          </a:prstGeom>
        </p:spPr>
        <p:txBody>
          <a:bodyPr lIns="0" tIns="0" rIns="0" bIns="0" rtlCol="0" anchor="t">
            <a:spAutoFit/>
          </a:bodyPr>
          <a:lstStyle/>
          <a:p>
            <a:pPr algn="l">
              <a:lnSpc>
                <a:spcPts val="2375"/>
              </a:lnSpc>
            </a:pPr>
            <a:r>
              <a:rPr lang="en-US" sz="1874">
                <a:solidFill>
                  <a:srgbClr val="D6E5EF"/>
                </a:solidFill>
                <a:latin typeface="Roboto Slab"/>
                <a:ea typeface="Roboto Slab"/>
                <a:cs typeface="Roboto Slab"/>
                <a:sym typeface="Roboto Slab"/>
              </a:rPr>
              <a:t>Security Filter Chain</a:t>
            </a:r>
          </a:p>
        </p:txBody>
      </p:sp>
      <p:sp>
        <p:nvSpPr>
          <p:cNvPr id="24" name="TextBox 24"/>
          <p:cNvSpPr txBox="1"/>
          <p:nvPr/>
        </p:nvSpPr>
        <p:spPr>
          <a:xfrm>
            <a:off x="2613717" y="5444280"/>
            <a:ext cx="6268345" cy="1119188"/>
          </a:xfrm>
          <a:prstGeom prst="rect">
            <a:avLst/>
          </a:prstGeom>
        </p:spPr>
        <p:txBody>
          <a:bodyPr lIns="0" tIns="0" rIns="0" bIns="0" rtlCol="0" anchor="t">
            <a:spAutoFit/>
          </a:bodyPr>
          <a:lstStyle/>
          <a:p>
            <a:pPr algn="l">
              <a:lnSpc>
                <a:spcPts val="2062"/>
              </a:lnSpc>
            </a:pPr>
            <a:r>
              <a:rPr lang="en-US" sz="1500">
                <a:solidFill>
                  <a:srgbClr val="D6E5EF"/>
                </a:solidFill>
                <a:latin typeface="Roboto"/>
                <a:ea typeface="Roboto"/>
                <a:cs typeface="Roboto"/>
                <a:sym typeface="Roboto"/>
              </a:rPr>
              <a:t>Intercepts every HTTP request through configured filters. JwtRequestFilter extracts tokens from Authorization headers, validates signatures, verifies expiration, and sets Authentication objects in SecurityContext for downstream authorization.</a:t>
            </a:r>
          </a:p>
        </p:txBody>
      </p:sp>
      <p:grpSp>
        <p:nvGrpSpPr>
          <p:cNvPr id="25" name="Group 25"/>
          <p:cNvGrpSpPr/>
          <p:nvPr/>
        </p:nvGrpSpPr>
        <p:grpSpPr>
          <a:xfrm>
            <a:off x="9210827" y="4184009"/>
            <a:ext cx="6658127" cy="2574284"/>
            <a:chOff x="0" y="0"/>
            <a:chExt cx="8877503" cy="3432378"/>
          </a:xfrm>
        </p:grpSpPr>
        <p:sp>
          <p:nvSpPr>
            <p:cNvPr id="26" name="Freeform 26"/>
            <p:cNvSpPr/>
            <p:nvPr/>
          </p:nvSpPr>
          <p:spPr>
            <a:xfrm>
              <a:off x="0" y="0"/>
              <a:ext cx="8877554" cy="3432429"/>
            </a:xfrm>
            <a:custGeom>
              <a:avLst/>
              <a:gdLst/>
              <a:ahLst/>
              <a:cxnLst/>
              <a:rect l="l" t="t" r="r" b="b"/>
              <a:pathLst>
                <a:path w="8877554" h="3432429">
                  <a:moveTo>
                    <a:pt x="0" y="38989"/>
                  </a:moveTo>
                  <a:cubicBezTo>
                    <a:pt x="0" y="17399"/>
                    <a:pt x="17399" y="0"/>
                    <a:pt x="38989" y="0"/>
                  </a:cubicBezTo>
                  <a:lnTo>
                    <a:pt x="8838565" y="0"/>
                  </a:lnTo>
                  <a:cubicBezTo>
                    <a:pt x="8860155" y="0"/>
                    <a:pt x="8877554" y="17399"/>
                    <a:pt x="8877554" y="38989"/>
                  </a:cubicBezTo>
                  <a:lnTo>
                    <a:pt x="8877554" y="3393440"/>
                  </a:lnTo>
                  <a:cubicBezTo>
                    <a:pt x="8877554" y="3415030"/>
                    <a:pt x="8860155" y="3432429"/>
                    <a:pt x="8838565" y="3432429"/>
                  </a:cubicBezTo>
                  <a:lnTo>
                    <a:pt x="38989" y="3432429"/>
                  </a:lnTo>
                  <a:cubicBezTo>
                    <a:pt x="17399" y="3432429"/>
                    <a:pt x="0" y="3415030"/>
                    <a:pt x="0" y="3393440"/>
                  </a:cubicBezTo>
                  <a:close/>
                </a:path>
              </a:pathLst>
            </a:custGeom>
            <a:solidFill>
              <a:srgbClr val="3F4652"/>
            </a:solidFill>
          </p:spPr>
        </p:sp>
      </p:grpSp>
      <p:grpSp>
        <p:nvGrpSpPr>
          <p:cNvPr id="27" name="Group 27"/>
          <p:cNvGrpSpPr/>
          <p:nvPr/>
        </p:nvGrpSpPr>
        <p:grpSpPr>
          <a:xfrm>
            <a:off x="9405642" y="4378823"/>
            <a:ext cx="584749" cy="584749"/>
            <a:chOff x="0" y="0"/>
            <a:chExt cx="779666" cy="779666"/>
          </a:xfrm>
        </p:grpSpPr>
        <p:sp>
          <p:nvSpPr>
            <p:cNvPr id="28" name="Freeform 28" descr="preencoded.png"/>
            <p:cNvSpPr/>
            <p:nvPr/>
          </p:nvSpPr>
          <p:spPr>
            <a:xfrm>
              <a:off x="0" y="0"/>
              <a:ext cx="779653" cy="779653"/>
            </a:xfrm>
            <a:custGeom>
              <a:avLst/>
              <a:gdLst/>
              <a:ahLst/>
              <a:cxnLst/>
              <a:rect l="l" t="t" r="r" b="b"/>
              <a:pathLst>
                <a:path w="779653" h="779653">
                  <a:moveTo>
                    <a:pt x="0" y="0"/>
                  </a:moveTo>
                  <a:lnTo>
                    <a:pt x="779653" y="0"/>
                  </a:lnTo>
                  <a:lnTo>
                    <a:pt x="779653" y="779653"/>
                  </a:lnTo>
                  <a:lnTo>
                    <a:pt x="0" y="779653"/>
                  </a:lnTo>
                  <a:lnTo>
                    <a:pt x="0" y="0"/>
                  </a:lnTo>
                  <a:close/>
                </a:path>
              </a:pathLst>
            </a:custGeom>
            <a:blipFill>
              <a:blip r:embed="rId6"/>
              <a:stretch>
                <a:fillRect r="-1" b="-1"/>
              </a:stretch>
            </a:blipFill>
          </p:spPr>
        </p:sp>
      </p:grpSp>
      <p:sp>
        <p:nvSpPr>
          <p:cNvPr id="29" name="TextBox 29"/>
          <p:cNvSpPr txBox="1"/>
          <p:nvPr/>
        </p:nvSpPr>
        <p:spPr>
          <a:xfrm>
            <a:off x="9405642" y="5087988"/>
            <a:ext cx="2436609" cy="314030"/>
          </a:xfrm>
          <a:prstGeom prst="rect">
            <a:avLst/>
          </a:prstGeom>
        </p:spPr>
        <p:txBody>
          <a:bodyPr lIns="0" tIns="0" rIns="0" bIns="0" rtlCol="0" anchor="t">
            <a:spAutoFit/>
          </a:bodyPr>
          <a:lstStyle/>
          <a:p>
            <a:pPr algn="l">
              <a:lnSpc>
                <a:spcPts val="2375"/>
              </a:lnSpc>
            </a:pPr>
            <a:r>
              <a:rPr lang="en-US" sz="1874">
                <a:solidFill>
                  <a:srgbClr val="D6E5EF"/>
                </a:solidFill>
                <a:latin typeface="Roboto Slab"/>
                <a:ea typeface="Roboto Slab"/>
                <a:cs typeface="Roboto Slab"/>
                <a:sym typeface="Roboto Slab"/>
              </a:rPr>
              <a:t>Authorization</a:t>
            </a:r>
          </a:p>
        </p:txBody>
      </p:sp>
      <p:sp>
        <p:nvSpPr>
          <p:cNvPr id="30" name="TextBox 30"/>
          <p:cNvSpPr txBox="1"/>
          <p:nvPr/>
        </p:nvSpPr>
        <p:spPr>
          <a:xfrm>
            <a:off x="9405642" y="5444280"/>
            <a:ext cx="6268488" cy="1100138"/>
          </a:xfrm>
          <a:prstGeom prst="rect">
            <a:avLst/>
          </a:prstGeom>
        </p:spPr>
        <p:txBody>
          <a:bodyPr lIns="0" tIns="0" rIns="0" bIns="0" rtlCol="0" anchor="t">
            <a:spAutoFit/>
          </a:bodyPr>
          <a:lstStyle/>
          <a:p>
            <a:pPr algn="l">
              <a:lnSpc>
                <a:spcPts val="2062"/>
              </a:lnSpc>
            </a:pPr>
            <a:r>
              <a:rPr lang="en-US" sz="1500">
                <a:solidFill>
                  <a:srgbClr val="D6E5EF"/>
                </a:solidFill>
                <a:latin typeface="Roboto"/>
                <a:ea typeface="Roboto"/>
                <a:cs typeface="Roboto"/>
                <a:sym typeface="Roboto"/>
              </a:rPr>
              <a:t>Determines access rights after authentication. Uses role-based or permission-based checks to control endpoint access. Spring Security annotations like @PreAuthorize enforce business logic security rules before controller methods execute.</a:t>
            </a:r>
          </a:p>
        </p:txBody>
      </p:sp>
      <p:sp>
        <p:nvSpPr>
          <p:cNvPr id="31" name="TextBox 31"/>
          <p:cNvSpPr txBox="1"/>
          <p:nvPr/>
        </p:nvSpPr>
        <p:spPr>
          <a:xfrm>
            <a:off x="2418902" y="7033470"/>
            <a:ext cx="3579466" cy="375047"/>
          </a:xfrm>
          <a:prstGeom prst="rect">
            <a:avLst/>
          </a:prstGeom>
        </p:spPr>
        <p:txBody>
          <a:bodyPr lIns="0" tIns="0" rIns="0" bIns="0" rtlCol="0" anchor="t">
            <a:spAutoFit/>
          </a:bodyPr>
          <a:lstStyle/>
          <a:p>
            <a:pPr algn="l">
              <a:lnSpc>
                <a:spcPts val="2875"/>
              </a:lnSpc>
            </a:pPr>
            <a:r>
              <a:rPr lang="en-US" sz="2249">
                <a:solidFill>
                  <a:srgbClr val="76B9FF"/>
                </a:solidFill>
                <a:latin typeface="Roboto Slab"/>
                <a:ea typeface="Roboto Slab"/>
                <a:cs typeface="Roboto Slab"/>
                <a:sym typeface="Roboto Slab"/>
              </a:rPr>
              <a:t>BCrypt Password Encoder</a:t>
            </a:r>
          </a:p>
        </p:txBody>
      </p:sp>
      <p:grpSp>
        <p:nvGrpSpPr>
          <p:cNvPr id="32" name="Group 32"/>
          <p:cNvGrpSpPr/>
          <p:nvPr/>
        </p:nvGrpSpPr>
        <p:grpSpPr>
          <a:xfrm>
            <a:off x="2418902" y="7559278"/>
            <a:ext cx="6487268" cy="1442142"/>
            <a:chOff x="0" y="0"/>
            <a:chExt cx="8649691" cy="1922856"/>
          </a:xfrm>
        </p:grpSpPr>
        <p:sp>
          <p:nvSpPr>
            <p:cNvPr id="33" name="Freeform 33"/>
            <p:cNvSpPr/>
            <p:nvPr/>
          </p:nvSpPr>
          <p:spPr>
            <a:xfrm>
              <a:off x="0" y="0"/>
              <a:ext cx="8649716" cy="1922907"/>
            </a:xfrm>
            <a:custGeom>
              <a:avLst/>
              <a:gdLst/>
              <a:ahLst/>
              <a:cxnLst/>
              <a:rect l="l" t="t" r="r" b="b"/>
              <a:pathLst>
                <a:path w="8649716" h="1922907">
                  <a:moveTo>
                    <a:pt x="0" y="38989"/>
                  </a:moveTo>
                  <a:cubicBezTo>
                    <a:pt x="0" y="17399"/>
                    <a:pt x="17399" y="0"/>
                    <a:pt x="38989" y="0"/>
                  </a:cubicBezTo>
                  <a:lnTo>
                    <a:pt x="8610727" y="0"/>
                  </a:lnTo>
                  <a:cubicBezTo>
                    <a:pt x="8632317" y="0"/>
                    <a:pt x="8649716" y="17399"/>
                    <a:pt x="8649716" y="38989"/>
                  </a:cubicBezTo>
                  <a:lnTo>
                    <a:pt x="8649716" y="1883918"/>
                  </a:lnTo>
                  <a:cubicBezTo>
                    <a:pt x="8649716" y="1905508"/>
                    <a:pt x="8632317" y="1922907"/>
                    <a:pt x="8610727" y="1922907"/>
                  </a:cubicBezTo>
                  <a:lnTo>
                    <a:pt x="38989" y="1922907"/>
                  </a:lnTo>
                  <a:cubicBezTo>
                    <a:pt x="17399" y="1922907"/>
                    <a:pt x="0" y="1905508"/>
                    <a:pt x="0" y="1883918"/>
                  </a:cubicBezTo>
                  <a:close/>
                </a:path>
              </a:pathLst>
            </a:custGeom>
            <a:solidFill>
              <a:srgbClr val="2D3440"/>
            </a:solidFill>
          </p:spPr>
        </p:sp>
      </p:grpSp>
      <p:grpSp>
        <p:nvGrpSpPr>
          <p:cNvPr id="34" name="Group 34"/>
          <p:cNvGrpSpPr/>
          <p:nvPr/>
        </p:nvGrpSpPr>
        <p:grpSpPr>
          <a:xfrm>
            <a:off x="2409234" y="7559278"/>
            <a:ext cx="6506613" cy="1442142"/>
            <a:chOff x="0" y="0"/>
            <a:chExt cx="8675484" cy="1922856"/>
          </a:xfrm>
        </p:grpSpPr>
        <p:sp>
          <p:nvSpPr>
            <p:cNvPr id="35" name="Freeform 35"/>
            <p:cNvSpPr/>
            <p:nvPr/>
          </p:nvSpPr>
          <p:spPr>
            <a:xfrm>
              <a:off x="0" y="0"/>
              <a:ext cx="8675497" cy="1922907"/>
            </a:xfrm>
            <a:custGeom>
              <a:avLst/>
              <a:gdLst/>
              <a:ahLst/>
              <a:cxnLst/>
              <a:rect l="l" t="t" r="r" b="b"/>
              <a:pathLst>
                <a:path w="8675497" h="1922907">
                  <a:moveTo>
                    <a:pt x="0" y="38989"/>
                  </a:moveTo>
                  <a:cubicBezTo>
                    <a:pt x="0" y="17399"/>
                    <a:pt x="17399" y="0"/>
                    <a:pt x="38989" y="0"/>
                  </a:cubicBezTo>
                  <a:lnTo>
                    <a:pt x="8636508" y="0"/>
                  </a:lnTo>
                  <a:cubicBezTo>
                    <a:pt x="8658098" y="0"/>
                    <a:pt x="8675497" y="17399"/>
                    <a:pt x="8675497" y="38989"/>
                  </a:cubicBezTo>
                  <a:lnTo>
                    <a:pt x="8675497" y="1883918"/>
                  </a:lnTo>
                  <a:cubicBezTo>
                    <a:pt x="8675497" y="1905508"/>
                    <a:pt x="8658098" y="1922907"/>
                    <a:pt x="8636508" y="1922907"/>
                  </a:cubicBezTo>
                  <a:lnTo>
                    <a:pt x="38989" y="1922907"/>
                  </a:lnTo>
                  <a:cubicBezTo>
                    <a:pt x="17399" y="1922907"/>
                    <a:pt x="0" y="1905508"/>
                    <a:pt x="0" y="1883918"/>
                  </a:cubicBezTo>
                  <a:close/>
                </a:path>
              </a:pathLst>
            </a:custGeom>
            <a:solidFill>
              <a:srgbClr val="2D3440"/>
            </a:solidFill>
          </p:spPr>
        </p:sp>
      </p:grpSp>
      <p:sp>
        <p:nvSpPr>
          <p:cNvPr id="36" name="TextBox 36"/>
          <p:cNvSpPr txBox="1"/>
          <p:nvPr/>
        </p:nvSpPr>
        <p:spPr>
          <a:xfrm>
            <a:off x="2652865" y="7696943"/>
            <a:ext cx="6019352" cy="1109662"/>
          </a:xfrm>
          <a:prstGeom prst="rect">
            <a:avLst/>
          </a:prstGeom>
        </p:spPr>
        <p:txBody>
          <a:bodyPr lIns="0" tIns="0" rIns="0" bIns="0" rtlCol="0" anchor="t">
            <a:spAutoFit/>
          </a:bodyPr>
          <a:lstStyle/>
          <a:p>
            <a:pPr algn="l">
              <a:lnSpc>
                <a:spcPts val="2062"/>
              </a:lnSpc>
            </a:pPr>
            <a:r>
              <a:rPr lang="en-US" sz="1500">
                <a:solidFill>
                  <a:srgbClr val="79C0FF"/>
                </a:solidFill>
                <a:latin typeface="Consolas"/>
                <a:ea typeface="Consolas"/>
                <a:cs typeface="Consolas"/>
                <a:sym typeface="Consolas"/>
              </a:rPr>
              <a:t>@Bean</a:t>
            </a:r>
          </a:p>
          <a:p>
            <a:pPr algn="l">
              <a:lnSpc>
                <a:spcPts val="2062"/>
              </a:lnSpc>
            </a:pPr>
            <a:r>
              <a:rPr lang="en-US" sz="1500">
                <a:solidFill>
                  <a:srgbClr val="79C0FF"/>
                </a:solidFill>
                <a:latin typeface="Consolas"/>
                <a:ea typeface="Consolas"/>
                <a:cs typeface="Consolas"/>
                <a:sym typeface="Consolas"/>
              </a:rPr>
              <a:t>public PasswordEncoder passwordEncoder() {</a:t>
            </a:r>
          </a:p>
          <a:p>
            <a:pPr algn="l">
              <a:lnSpc>
                <a:spcPts val="2062"/>
              </a:lnSpc>
            </a:pPr>
            <a:r>
              <a:rPr lang="en-US" sz="1500">
                <a:solidFill>
                  <a:srgbClr val="79C0FF"/>
                </a:solidFill>
                <a:latin typeface="Consolas"/>
                <a:ea typeface="Consolas"/>
                <a:cs typeface="Consolas"/>
                <a:sym typeface="Consolas"/>
              </a:rPr>
              <a:t>    return new BCryptPasswordEncoder();</a:t>
            </a:r>
          </a:p>
          <a:p>
            <a:pPr algn="l">
              <a:lnSpc>
                <a:spcPts val="2062"/>
              </a:lnSpc>
            </a:pPr>
            <a:r>
              <a:rPr lang="en-US" sz="1500">
                <a:solidFill>
                  <a:srgbClr val="79C0FF"/>
                </a:solidFill>
                <a:latin typeface="Consolas"/>
                <a:ea typeface="Consolas"/>
                <a:cs typeface="Consolas"/>
                <a:sym typeface="Consolas"/>
              </a:rPr>
              <a:t>}</a:t>
            </a:r>
          </a:p>
        </p:txBody>
      </p:sp>
      <p:sp>
        <p:nvSpPr>
          <p:cNvPr id="37" name="TextBox 37"/>
          <p:cNvSpPr txBox="1"/>
          <p:nvPr/>
        </p:nvSpPr>
        <p:spPr>
          <a:xfrm>
            <a:off x="9391059" y="7033470"/>
            <a:ext cx="3384347" cy="375047"/>
          </a:xfrm>
          <a:prstGeom prst="rect">
            <a:avLst/>
          </a:prstGeom>
        </p:spPr>
        <p:txBody>
          <a:bodyPr lIns="0" tIns="0" rIns="0" bIns="0" rtlCol="0" anchor="t">
            <a:spAutoFit/>
          </a:bodyPr>
          <a:lstStyle/>
          <a:p>
            <a:pPr algn="l">
              <a:lnSpc>
                <a:spcPts val="2875"/>
              </a:lnSpc>
            </a:pPr>
            <a:r>
              <a:rPr lang="en-US" sz="2249">
                <a:solidFill>
                  <a:srgbClr val="76B9FF"/>
                </a:solidFill>
                <a:latin typeface="Roboto Slab"/>
                <a:ea typeface="Roboto Slab"/>
                <a:cs typeface="Roboto Slab"/>
                <a:sym typeface="Roboto Slab"/>
              </a:rPr>
              <a:t>Authentication Manager</a:t>
            </a:r>
          </a:p>
        </p:txBody>
      </p:sp>
      <p:grpSp>
        <p:nvGrpSpPr>
          <p:cNvPr id="38" name="Group 38"/>
          <p:cNvGrpSpPr/>
          <p:nvPr/>
        </p:nvGrpSpPr>
        <p:grpSpPr>
          <a:xfrm>
            <a:off x="9391059" y="7559278"/>
            <a:ext cx="6487268" cy="1968398"/>
            <a:chOff x="0" y="0"/>
            <a:chExt cx="8649691" cy="2624531"/>
          </a:xfrm>
        </p:grpSpPr>
        <p:sp>
          <p:nvSpPr>
            <p:cNvPr id="39" name="Freeform 39"/>
            <p:cNvSpPr/>
            <p:nvPr/>
          </p:nvSpPr>
          <p:spPr>
            <a:xfrm>
              <a:off x="0" y="0"/>
              <a:ext cx="8649716" cy="2624582"/>
            </a:xfrm>
            <a:custGeom>
              <a:avLst/>
              <a:gdLst/>
              <a:ahLst/>
              <a:cxnLst/>
              <a:rect l="l" t="t" r="r" b="b"/>
              <a:pathLst>
                <a:path w="8649716" h="2624582">
                  <a:moveTo>
                    <a:pt x="0" y="38989"/>
                  </a:moveTo>
                  <a:cubicBezTo>
                    <a:pt x="0" y="17399"/>
                    <a:pt x="17399" y="0"/>
                    <a:pt x="38989" y="0"/>
                  </a:cubicBezTo>
                  <a:lnTo>
                    <a:pt x="8610727" y="0"/>
                  </a:lnTo>
                  <a:cubicBezTo>
                    <a:pt x="8632190" y="0"/>
                    <a:pt x="8649716" y="17399"/>
                    <a:pt x="8649716" y="38989"/>
                  </a:cubicBezTo>
                  <a:lnTo>
                    <a:pt x="8649716" y="2585593"/>
                  </a:lnTo>
                  <a:cubicBezTo>
                    <a:pt x="8649716" y="2607056"/>
                    <a:pt x="8632317" y="2624582"/>
                    <a:pt x="8610727" y="2624582"/>
                  </a:cubicBezTo>
                  <a:lnTo>
                    <a:pt x="38989" y="2624582"/>
                  </a:lnTo>
                  <a:cubicBezTo>
                    <a:pt x="17526" y="2624582"/>
                    <a:pt x="0" y="2607183"/>
                    <a:pt x="0" y="2585593"/>
                  </a:cubicBezTo>
                  <a:close/>
                </a:path>
              </a:pathLst>
            </a:custGeom>
            <a:solidFill>
              <a:srgbClr val="2D3440"/>
            </a:solidFill>
          </p:spPr>
        </p:sp>
      </p:grpSp>
      <p:grpSp>
        <p:nvGrpSpPr>
          <p:cNvPr id="40" name="Group 40"/>
          <p:cNvGrpSpPr/>
          <p:nvPr/>
        </p:nvGrpSpPr>
        <p:grpSpPr>
          <a:xfrm>
            <a:off x="9381382" y="7559278"/>
            <a:ext cx="6506613" cy="1968398"/>
            <a:chOff x="0" y="0"/>
            <a:chExt cx="8675484" cy="2624531"/>
          </a:xfrm>
        </p:grpSpPr>
        <p:sp>
          <p:nvSpPr>
            <p:cNvPr id="41" name="Freeform 41"/>
            <p:cNvSpPr/>
            <p:nvPr/>
          </p:nvSpPr>
          <p:spPr>
            <a:xfrm>
              <a:off x="0" y="0"/>
              <a:ext cx="8675497" cy="2624582"/>
            </a:xfrm>
            <a:custGeom>
              <a:avLst/>
              <a:gdLst/>
              <a:ahLst/>
              <a:cxnLst/>
              <a:rect l="l" t="t" r="r" b="b"/>
              <a:pathLst>
                <a:path w="8675497" h="2624582">
                  <a:moveTo>
                    <a:pt x="0" y="38989"/>
                  </a:moveTo>
                  <a:cubicBezTo>
                    <a:pt x="0" y="17399"/>
                    <a:pt x="17399" y="0"/>
                    <a:pt x="38989" y="0"/>
                  </a:cubicBezTo>
                  <a:lnTo>
                    <a:pt x="8636508" y="0"/>
                  </a:lnTo>
                  <a:cubicBezTo>
                    <a:pt x="8657971" y="0"/>
                    <a:pt x="8675497" y="17399"/>
                    <a:pt x="8675497" y="38989"/>
                  </a:cubicBezTo>
                  <a:lnTo>
                    <a:pt x="8675497" y="2585593"/>
                  </a:lnTo>
                  <a:cubicBezTo>
                    <a:pt x="8675497" y="2607056"/>
                    <a:pt x="8658098" y="2624582"/>
                    <a:pt x="8636508" y="2624582"/>
                  </a:cubicBezTo>
                  <a:lnTo>
                    <a:pt x="38989" y="2624582"/>
                  </a:lnTo>
                  <a:cubicBezTo>
                    <a:pt x="17526" y="2624582"/>
                    <a:pt x="0" y="2607183"/>
                    <a:pt x="0" y="2585593"/>
                  </a:cubicBezTo>
                  <a:close/>
                </a:path>
              </a:pathLst>
            </a:custGeom>
            <a:solidFill>
              <a:srgbClr val="2D3440"/>
            </a:solidFill>
          </p:spPr>
        </p:sp>
      </p:grpSp>
      <p:sp>
        <p:nvSpPr>
          <p:cNvPr id="42" name="TextBox 42"/>
          <p:cNvSpPr txBox="1"/>
          <p:nvPr/>
        </p:nvSpPr>
        <p:spPr>
          <a:xfrm>
            <a:off x="9625012" y="7696943"/>
            <a:ext cx="6019352" cy="1635919"/>
          </a:xfrm>
          <a:prstGeom prst="rect">
            <a:avLst/>
          </a:prstGeom>
        </p:spPr>
        <p:txBody>
          <a:bodyPr lIns="0" tIns="0" rIns="0" bIns="0" rtlCol="0" anchor="t">
            <a:spAutoFit/>
          </a:bodyPr>
          <a:lstStyle/>
          <a:p>
            <a:pPr algn="l">
              <a:lnSpc>
                <a:spcPts val="2062"/>
              </a:lnSpc>
            </a:pPr>
            <a:r>
              <a:rPr lang="en-US" sz="1500">
                <a:solidFill>
                  <a:srgbClr val="D6E5EF"/>
                </a:solidFill>
                <a:latin typeface="Consolas"/>
                <a:ea typeface="Consolas"/>
                <a:cs typeface="Consolas"/>
                <a:sym typeface="Consolas"/>
              </a:rPr>
              <a:t>authenticationManager.authenticate(</a:t>
            </a:r>
          </a:p>
          <a:p>
            <a:pPr algn="l">
              <a:lnSpc>
                <a:spcPts val="2062"/>
              </a:lnSpc>
            </a:pPr>
            <a:r>
              <a:rPr lang="en-US" sz="1500">
                <a:solidFill>
                  <a:srgbClr val="D6E5EF"/>
                </a:solidFill>
                <a:latin typeface="Consolas"/>
                <a:ea typeface="Consolas"/>
                <a:cs typeface="Consolas"/>
                <a:sym typeface="Consolas"/>
              </a:rPr>
              <a:t> new UsernamePasswordAuthenticationToken(</a:t>
            </a:r>
          </a:p>
          <a:p>
            <a:pPr algn="l">
              <a:lnSpc>
                <a:spcPts val="2062"/>
              </a:lnSpc>
            </a:pPr>
            <a:r>
              <a:rPr lang="en-US" sz="1500">
                <a:solidFill>
                  <a:srgbClr val="D6E5EF"/>
                </a:solidFill>
                <a:latin typeface="Consolas"/>
                <a:ea typeface="Consolas"/>
                <a:cs typeface="Consolas"/>
                <a:sym typeface="Consolas"/>
              </a:rPr>
              <a:t> email, </a:t>
            </a:r>
          </a:p>
          <a:p>
            <a:pPr algn="l">
              <a:lnSpc>
                <a:spcPts val="2062"/>
              </a:lnSpc>
            </a:pPr>
            <a:r>
              <a:rPr lang="en-US" sz="1500">
                <a:solidFill>
                  <a:srgbClr val="D6E5EF"/>
                </a:solidFill>
                <a:latin typeface="Consolas"/>
                <a:ea typeface="Consolas"/>
                <a:cs typeface="Consolas"/>
                <a:sym typeface="Consolas"/>
              </a:rPr>
              <a:t> password</a:t>
            </a:r>
          </a:p>
          <a:p>
            <a:pPr algn="l">
              <a:lnSpc>
                <a:spcPts val="2062"/>
              </a:lnSpc>
            </a:pPr>
            <a:r>
              <a:rPr lang="en-US" sz="1500">
                <a:solidFill>
                  <a:srgbClr val="D6E5EF"/>
                </a:solidFill>
                <a:latin typeface="Consolas"/>
                <a:ea typeface="Consolas"/>
                <a:cs typeface="Consolas"/>
                <a:sym typeface="Consolas"/>
              </a:rPr>
              <a:t> )</a:t>
            </a:r>
          </a:p>
          <a:p>
            <a:pPr algn="l">
              <a:lnSpc>
                <a:spcPts val="2062"/>
              </a:lnSpc>
            </a:pPr>
            <a:r>
              <a:rPr lang="en-US" sz="1500">
                <a:solidFill>
                  <a:srgbClr val="D6E5EF"/>
                </a:solidFill>
                <a:latin typeface="Consolas"/>
                <a:ea typeface="Consolas"/>
                <a:cs typeface="Consolas"/>
                <a:sym typeface="Consola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4253065" y="370732"/>
            <a:ext cx="6391570" cy="461962"/>
          </a:xfrm>
          <a:prstGeom prst="rect">
            <a:avLst/>
          </a:prstGeom>
        </p:spPr>
        <p:txBody>
          <a:bodyPr lIns="0" tIns="0" rIns="0" bIns="0" rtlCol="0" anchor="t">
            <a:spAutoFit/>
          </a:bodyPr>
          <a:lstStyle/>
          <a:p>
            <a:pPr algn="l">
              <a:lnSpc>
                <a:spcPts val="3437"/>
              </a:lnSpc>
            </a:pPr>
            <a:r>
              <a:rPr lang="en-US" sz="2750">
                <a:solidFill>
                  <a:srgbClr val="76B9FF"/>
                </a:solidFill>
                <a:latin typeface="Roboto Slab"/>
                <a:ea typeface="Roboto Slab"/>
                <a:cs typeface="Roboto Slab"/>
                <a:sym typeface="Roboto Slab"/>
              </a:rPr>
              <a:t>Complete Flow: Add Expense Example</a:t>
            </a:r>
          </a:p>
        </p:txBody>
      </p:sp>
      <p:grpSp>
        <p:nvGrpSpPr>
          <p:cNvPr id="7" name="Group 7"/>
          <p:cNvGrpSpPr/>
          <p:nvPr/>
        </p:nvGrpSpPr>
        <p:grpSpPr>
          <a:xfrm>
            <a:off x="4253065" y="974379"/>
            <a:ext cx="425206" cy="1428750"/>
            <a:chOff x="0" y="0"/>
            <a:chExt cx="566941" cy="1905000"/>
          </a:xfrm>
        </p:grpSpPr>
        <p:sp>
          <p:nvSpPr>
            <p:cNvPr id="8" name="Freeform 8"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3"/>
              <a:stretch>
                <a:fillRect l="-403" r="-403"/>
              </a:stretch>
            </a:blipFill>
          </p:spPr>
        </p:sp>
      </p:grpSp>
      <p:sp>
        <p:nvSpPr>
          <p:cNvPr id="9" name="TextBox 9"/>
          <p:cNvSpPr txBox="1"/>
          <p:nvPr/>
        </p:nvSpPr>
        <p:spPr>
          <a:xfrm>
            <a:off x="4749108" y="1116063"/>
            <a:ext cx="1771945"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User Login Request</a:t>
            </a:r>
          </a:p>
        </p:txBody>
      </p:sp>
      <p:sp>
        <p:nvSpPr>
          <p:cNvPr id="10" name="TextBox 10"/>
          <p:cNvSpPr txBox="1"/>
          <p:nvPr/>
        </p:nvSpPr>
        <p:spPr>
          <a:xfrm>
            <a:off x="4749108" y="1360884"/>
            <a:ext cx="9285837" cy="368798"/>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POST /login with email and password credentials. AuthenticationManager delegates to UserDetailsService which queries database for user entity, then BCrypt matches hashed password stored in database.</a:t>
            </a:r>
          </a:p>
        </p:txBody>
      </p:sp>
      <p:grpSp>
        <p:nvGrpSpPr>
          <p:cNvPr id="11" name="Group 11"/>
          <p:cNvGrpSpPr/>
          <p:nvPr/>
        </p:nvGrpSpPr>
        <p:grpSpPr>
          <a:xfrm>
            <a:off x="4465587" y="1942205"/>
            <a:ext cx="425206" cy="1428750"/>
            <a:chOff x="0" y="0"/>
            <a:chExt cx="566941" cy="1905000"/>
          </a:xfrm>
        </p:grpSpPr>
        <p:sp>
          <p:nvSpPr>
            <p:cNvPr id="12" name="Freeform 12"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3"/>
              <a:stretch>
                <a:fillRect l="-403" r="-403"/>
              </a:stretch>
            </a:blipFill>
          </p:spPr>
        </p:sp>
      </p:grpSp>
      <p:sp>
        <p:nvSpPr>
          <p:cNvPr id="13" name="TextBox 13"/>
          <p:cNvSpPr txBox="1"/>
          <p:nvPr/>
        </p:nvSpPr>
        <p:spPr>
          <a:xfrm>
            <a:off x="4961630" y="2083889"/>
            <a:ext cx="2486920"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Token Generation &amp; Response</a:t>
            </a:r>
          </a:p>
        </p:txBody>
      </p:sp>
      <p:sp>
        <p:nvSpPr>
          <p:cNvPr id="14" name="TextBox 14"/>
          <p:cNvSpPr txBox="1"/>
          <p:nvPr/>
        </p:nvSpPr>
        <p:spPr>
          <a:xfrm>
            <a:off x="4961630" y="2328710"/>
            <a:ext cx="9073305" cy="368798"/>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Upon successful authentication, JwtUtil generates JWT containing user ID, roles, and expiration timestamp. Token is serialized in JSON response body for frontend to store securely.</a:t>
            </a:r>
          </a:p>
        </p:txBody>
      </p:sp>
      <p:grpSp>
        <p:nvGrpSpPr>
          <p:cNvPr id="15" name="Group 15"/>
          <p:cNvGrpSpPr/>
          <p:nvPr/>
        </p:nvGrpSpPr>
        <p:grpSpPr>
          <a:xfrm>
            <a:off x="4678261" y="2910040"/>
            <a:ext cx="425206" cy="1428750"/>
            <a:chOff x="0" y="0"/>
            <a:chExt cx="566941" cy="1905000"/>
          </a:xfrm>
        </p:grpSpPr>
        <p:sp>
          <p:nvSpPr>
            <p:cNvPr id="16" name="Freeform 16"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4"/>
              <a:stretch>
                <a:fillRect l="-403" r="-403"/>
              </a:stretch>
            </a:blipFill>
          </p:spPr>
        </p:sp>
      </p:grpSp>
      <p:sp>
        <p:nvSpPr>
          <p:cNvPr id="17" name="TextBox 17"/>
          <p:cNvSpPr txBox="1"/>
          <p:nvPr/>
        </p:nvSpPr>
        <p:spPr>
          <a:xfrm>
            <a:off x="5174304" y="3051724"/>
            <a:ext cx="1886845"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Frontend Stores Token</a:t>
            </a:r>
          </a:p>
        </p:txBody>
      </p:sp>
      <p:sp>
        <p:nvSpPr>
          <p:cNvPr id="18" name="TextBox 18"/>
          <p:cNvSpPr txBox="1"/>
          <p:nvPr/>
        </p:nvSpPr>
        <p:spPr>
          <a:xfrm>
            <a:off x="5174304" y="3296545"/>
            <a:ext cx="8860631" cy="359273"/>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Client application (React, Angular, or mobile app) saves JWT in memory or persistent storage. Subsequent requests automatically include Authorization header with "Bearer" prefix.</a:t>
            </a:r>
          </a:p>
        </p:txBody>
      </p:sp>
      <p:grpSp>
        <p:nvGrpSpPr>
          <p:cNvPr id="19" name="Group 19"/>
          <p:cNvGrpSpPr/>
          <p:nvPr/>
        </p:nvGrpSpPr>
        <p:grpSpPr>
          <a:xfrm>
            <a:off x="4890935" y="3868341"/>
            <a:ext cx="425206" cy="1428750"/>
            <a:chOff x="0" y="0"/>
            <a:chExt cx="566941" cy="1905000"/>
          </a:xfrm>
        </p:grpSpPr>
        <p:sp>
          <p:nvSpPr>
            <p:cNvPr id="20" name="Freeform 20"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5"/>
              <a:stretch>
                <a:fillRect l="-403" r="-403"/>
              </a:stretch>
            </a:blipFill>
          </p:spPr>
        </p:sp>
      </p:grpSp>
      <p:sp>
        <p:nvSpPr>
          <p:cNvPr id="21" name="TextBox 21"/>
          <p:cNvSpPr txBox="1"/>
          <p:nvPr/>
        </p:nvSpPr>
        <p:spPr>
          <a:xfrm>
            <a:off x="5386978" y="4010025"/>
            <a:ext cx="2420541"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Expense Request with Token</a:t>
            </a:r>
          </a:p>
        </p:txBody>
      </p:sp>
      <p:sp>
        <p:nvSpPr>
          <p:cNvPr id="22" name="TextBox 22"/>
          <p:cNvSpPr txBox="1"/>
          <p:nvPr/>
        </p:nvSpPr>
        <p:spPr>
          <a:xfrm>
            <a:off x="5386978" y="4254846"/>
            <a:ext cx="8647957" cy="378323"/>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POST /expense with JSON body containing amount and Authorization header. SecurityFilterChain routes request through JwtRequestFilter before reaching controller.</a:t>
            </a:r>
          </a:p>
        </p:txBody>
      </p:sp>
      <p:grpSp>
        <p:nvGrpSpPr>
          <p:cNvPr id="23" name="Group 23"/>
          <p:cNvGrpSpPr/>
          <p:nvPr/>
        </p:nvGrpSpPr>
        <p:grpSpPr>
          <a:xfrm>
            <a:off x="4678261" y="4845691"/>
            <a:ext cx="425206" cy="1428750"/>
            <a:chOff x="0" y="0"/>
            <a:chExt cx="566941" cy="1905000"/>
          </a:xfrm>
        </p:grpSpPr>
        <p:sp>
          <p:nvSpPr>
            <p:cNvPr id="24" name="Freeform 24"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5"/>
              <a:stretch>
                <a:fillRect l="-403" r="-403"/>
              </a:stretch>
            </a:blipFill>
          </p:spPr>
        </p:sp>
      </p:grpSp>
      <p:sp>
        <p:nvSpPr>
          <p:cNvPr id="25" name="TextBox 25"/>
          <p:cNvSpPr txBox="1"/>
          <p:nvPr/>
        </p:nvSpPr>
        <p:spPr>
          <a:xfrm>
            <a:off x="5174304" y="4987376"/>
            <a:ext cx="1771945"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Token Validation</a:t>
            </a:r>
          </a:p>
        </p:txBody>
      </p:sp>
      <p:sp>
        <p:nvSpPr>
          <p:cNvPr id="26" name="TextBox 26"/>
          <p:cNvSpPr txBox="1"/>
          <p:nvPr/>
        </p:nvSpPr>
        <p:spPr>
          <a:xfrm>
            <a:off x="5174304" y="5232197"/>
            <a:ext cx="8860631" cy="378323"/>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JwtRequestFilter extracts token from header, verifies digital signature using secret key, checks expiration time, and calls UserDetailsService to load UserDetails object for the authenticated user.</a:t>
            </a:r>
          </a:p>
        </p:txBody>
      </p:sp>
      <p:grpSp>
        <p:nvGrpSpPr>
          <p:cNvPr id="27" name="Group 27"/>
          <p:cNvGrpSpPr/>
          <p:nvPr/>
        </p:nvGrpSpPr>
        <p:grpSpPr>
          <a:xfrm>
            <a:off x="4465587" y="5823052"/>
            <a:ext cx="425206" cy="1428750"/>
            <a:chOff x="0" y="0"/>
            <a:chExt cx="566941" cy="1905000"/>
          </a:xfrm>
        </p:grpSpPr>
        <p:sp>
          <p:nvSpPr>
            <p:cNvPr id="28" name="Freeform 28"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3"/>
              <a:stretch>
                <a:fillRect l="-403" r="-403"/>
              </a:stretch>
            </a:blipFill>
          </p:spPr>
        </p:sp>
      </p:grpSp>
      <p:sp>
        <p:nvSpPr>
          <p:cNvPr id="29" name="TextBox 29"/>
          <p:cNvSpPr txBox="1"/>
          <p:nvPr/>
        </p:nvSpPr>
        <p:spPr>
          <a:xfrm>
            <a:off x="4961630" y="5964736"/>
            <a:ext cx="1895627"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Security Context Setup</a:t>
            </a:r>
          </a:p>
        </p:txBody>
      </p:sp>
      <p:sp>
        <p:nvSpPr>
          <p:cNvPr id="30" name="TextBox 30"/>
          <p:cNvSpPr txBox="1"/>
          <p:nvPr/>
        </p:nvSpPr>
        <p:spPr>
          <a:xfrm>
            <a:off x="4961630" y="6209557"/>
            <a:ext cx="9073305" cy="368798"/>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Valid Authentication object is set in SecurityContextHolder, making user identity available throughout request processing thread for authorization decisions.</a:t>
            </a:r>
          </a:p>
        </p:txBody>
      </p:sp>
      <p:grpSp>
        <p:nvGrpSpPr>
          <p:cNvPr id="31" name="Group 31"/>
          <p:cNvGrpSpPr/>
          <p:nvPr/>
        </p:nvGrpSpPr>
        <p:grpSpPr>
          <a:xfrm>
            <a:off x="4253065" y="6790877"/>
            <a:ext cx="425206" cy="1428750"/>
            <a:chOff x="0" y="0"/>
            <a:chExt cx="566941" cy="1905000"/>
          </a:xfrm>
        </p:grpSpPr>
        <p:sp>
          <p:nvSpPr>
            <p:cNvPr id="32" name="Freeform 32"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3"/>
              <a:stretch>
                <a:fillRect l="-403" r="-403"/>
              </a:stretch>
            </a:blipFill>
          </p:spPr>
        </p:sp>
      </p:grpSp>
      <p:sp>
        <p:nvSpPr>
          <p:cNvPr id="33" name="TextBox 33"/>
          <p:cNvSpPr txBox="1"/>
          <p:nvPr/>
        </p:nvSpPr>
        <p:spPr>
          <a:xfrm>
            <a:off x="4749108" y="6932562"/>
            <a:ext cx="1792338"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Controller Processing</a:t>
            </a:r>
          </a:p>
        </p:txBody>
      </p:sp>
      <p:sp>
        <p:nvSpPr>
          <p:cNvPr id="34" name="TextBox 34"/>
          <p:cNvSpPr txBox="1"/>
          <p:nvPr/>
        </p:nvSpPr>
        <p:spPr>
          <a:xfrm>
            <a:off x="4749108" y="7177383"/>
            <a:ext cx="9285837" cy="368798"/>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ExpenseController receives request with authenticated user context. @PreAuthorize annotations verify user has required roles before proceeding to service layer.</a:t>
            </a:r>
          </a:p>
        </p:txBody>
      </p:sp>
      <p:grpSp>
        <p:nvGrpSpPr>
          <p:cNvPr id="35" name="Group 35"/>
          <p:cNvGrpSpPr/>
          <p:nvPr/>
        </p:nvGrpSpPr>
        <p:grpSpPr>
          <a:xfrm>
            <a:off x="4465587" y="7758703"/>
            <a:ext cx="425206" cy="1428750"/>
            <a:chOff x="0" y="0"/>
            <a:chExt cx="566941" cy="1905000"/>
          </a:xfrm>
        </p:grpSpPr>
        <p:sp>
          <p:nvSpPr>
            <p:cNvPr id="36" name="Freeform 36" descr="preencoded.png"/>
            <p:cNvSpPr/>
            <p:nvPr/>
          </p:nvSpPr>
          <p:spPr>
            <a:xfrm>
              <a:off x="0" y="0"/>
              <a:ext cx="566928" cy="1905000"/>
            </a:xfrm>
            <a:custGeom>
              <a:avLst/>
              <a:gdLst/>
              <a:ahLst/>
              <a:cxnLst/>
              <a:rect l="l" t="t" r="r" b="b"/>
              <a:pathLst>
                <a:path w="566928" h="1905000">
                  <a:moveTo>
                    <a:pt x="0" y="0"/>
                  </a:moveTo>
                  <a:lnTo>
                    <a:pt x="566928" y="0"/>
                  </a:lnTo>
                  <a:lnTo>
                    <a:pt x="566928" y="1905000"/>
                  </a:lnTo>
                  <a:lnTo>
                    <a:pt x="0" y="1905000"/>
                  </a:lnTo>
                  <a:lnTo>
                    <a:pt x="0" y="0"/>
                  </a:lnTo>
                  <a:close/>
                </a:path>
              </a:pathLst>
            </a:custGeom>
            <a:blipFill>
              <a:blip r:embed="rId3"/>
              <a:stretch>
                <a:fillRect l="-403" r="-403"/>
              </a:stretch>
            </a:blipFill>
          </p:spPr>
        </p:sp>
      </p:grpSp>
      <p:sp>
        <p:nvSpPr>
          <p:cNvPr id="37" name="TextBox 37"/>
          <p:cNvSpPr txBox="1"/>
          <p:nvPr/>
        </p:nvSpPr>
        <p:spPr>
          <a:xfrm>
            <a:off x="4961630" y="7900397"/>
            <a:ext cx="1771945" cy="221456"/>
          </a:xfrm>
          <a:prstGeom prst="rect">
            <a:avLst/>
          </a:prstGeom>
        </p:spPr>
        <p:txBody>
          <a:bodyPr lIns="0" tIns="0" rIns="0" bIns="0" rtlCol="0" anchor="t">
            <a:spAutoFit/>
          </a:bodyPr>
          <a:lstStyle/>
          <a:p>
            <a:pPr algn="l">
              <a:lnSpc>
                <a:spcPts val="1687"/>
              </a:lnSpc>
            </a:pPr>
            <a:r>
              <a:rPr lang="en-US" sz="1375">
                <a:solidFill>
                  <a:srgbClr val="D6E5EF"/>
                </a:solidFill>
                <a:latin typeface="Roboto Slab"/>
                <a:ea typeface="Roboto Slab"/>
                <a:cs typeface="Roboto Slab"/>
                <a:sym typeface="Roboto Slab"/>
              </a:rPr>
              <a:t>Data Persistence</a:t>
            </a:r>
          </a:p>
        </p:txBody>
      </p:sp>
      <p:sp>
        <p:nvSpPr>
          <p:cNvPr id="38" name="TextBox 38"/>
          <p:cNvSpPr txBox="1"/>
          <p:nvPr/>
        </p:nvSpPr>
        <p:spPr>
          <a:xfrm>
            <a:off x="4961630" y="8145218"/>
            <a:ext cx="9073305" cy="368798"/>
          </a:xfrm>
          <a:prstGeom prst="rect">
            <a:avLst/>
          </a:prstGeom>
        </p:spPr>
        <p:txBody>
          <a:bodyPr lIns="0" tIns="0" rIns="0" bIns="0" rtlCol="0" anchor="t">
            <a:spAutoFit/>
          </a:bodyPr>
          <a:lstStyle/>
          <a:p>
            <a:pPr algn="l">
              <a:lnSpc>
                <a:spcPts val="1312"/>
              </a:lnSpc>
            </a:pPr>
            <a:r>
              <a:rPr lang="en-US" sz="1062">
                <a:solidFill>
                  <a:srgbClr val="D6E5EF"/>
                </a:solidFill>
                <a:latin typeface="Roboto"/>
                <a:ea typeface="Roboto"/>
                <a:cs typeface="Roboto"/>
                <a:sym typeface="Roboto"/>
              </a:rPr>
              <a:t>ExpenseService processes business logic and calls ExpenseRepository to persist expense record to database with authenticated user ID as owner reference.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043283" y="737892"/>
            <a:ext cx="14992798" cy="762295"/>
          </a:xfrm>
          <a:prstGeom prst="rect">
            <a:avLst/>
          </a:prstGeom>
        </p:spPr>
        <p:txBody>
          <a:bodyPr lIns="0" tIns="0" rIns="0" bIns="0" rtlCol="0" anchor="t">
            <a:spAutoFit/>
          </a:bodyPr>
          <a:lstStyle/>
          <a:p>
            <a:pPr algn="l">
              <a:lnSpc>
                <a:spcPts val="5750"/>
              </a:lnSpc>
            </a:pPr>
            <a:r>
              <a:rPr lang="en-US" sz="4562">
                <a:solidFill>
                  <a:srgbClr val="76B9FF"/>
                </a:solidFill>
                <a:latin typeface="Roboto Slab"/>
                <a:ea typeface="Roboto Slab"/>
                <a:cs typeface="Roboto Slab"/>
                <a:sym typeface="Roboto Slab"/>
              </a:rPr>
              <a:t>Let's Understand the Final Few Features of Our Project</a:t>
            </a:r>
          </a:p>
        </p:txBody>
      </p:sp>
      <p:sp>
        <p:nvSpPr>
          <p:cNvPr id="7" name="TextBox 7"/>
          <p:cNvSpPr txBox="1"/>
          <p:nvPr/>
        </p:nvSpPr>
        <p:spPr>
          <a:xfrm>
            <a:off x="1043283" y="1831924"/>
            <a:ext cx="16201282" cy="1356525"/>
          </a:xfrm>
          <a:prstGeom prst="rect">
            <a:avLst/>
          </a:prstGeom>
        </p:spPr>
        <p:txBody>
          <a:bodyPr lIns="0" tIns="0" rIns="0" bIns="0" rtlCol="0" anchor="t">
            <a:spAutoFit/>
          </a:bodyPr>
          <a:lstStyle/>
          <a:p>
            <a:pPr algn="l">
              <a:lnSpc>
                <a:spcPts val="2687"/>
              </a:lnSpc>
            </a:pPr>
            <a:endParaRPr lang="en-US" sz="1812" dirty="0">
              <a:solidFill>
                <a:srgbClr val="D6E5EF"/>
              </a:solidFill>
              <a:latin typeface="Roboto"/>
              <a:ea typeface="Roboto"/>
              <a:cs typeface="Roboto"/>
              <a:sym typeface="Roboto"/>
            </a:endParaRPr>
          </a:p>
          <a:p>
            <a:pPr algn="l">
              <a:lnSpc>
                <a:spcPts val="2687"/>
              </a:lnSpc>
            </a:pPr>
            <a:r>
              <a:rPr lang="en-US" sz="1812" dirty="0">
                <a:solidFill>
                  <a:srgbClr val="D6E5EF"/>
                </a:solidFill>
                <a:latin typeface="Roboto"/>
                <a:ea typeface="Roboto"/>
                <a:cs typeface="Roboto"/>
                <a:sym typeface="Roboto"/>
              </a:rPr>
              <a:t>My project is a Spring Boot-based backend system called </a:t>
            </a:r>
            <a:r>
              <a:rPr lang="en-US" sz="1812" dirty="0" err="1">
                <a:solidFill>
                  <a:srgbClr val="D6E5EF"/>
                </a:solidFill>
                <a:latin typeface="Roboto"/>
                <a:ea typeface="Roboto"/>
                <a:cs typeface="Roboto"/>
                <a:sym typeface="Roboto"/>
              </a:rPr>
              <a:t>Finsight</a:t>
            </a:r>
            <a:r>
              <a:rPr lang="en-US" sz="1812" dirty="0">
                <a:solidFill>
                  <a:srgbClr val="D6E5EF"/>
                </a:solidFill>
                <a:latin typeface="Roboto"/>
                <a:ea typeface="Roboto"/>
                <a:cs typeface="Roboto"/>
                <a:sym typeface="Roboto"/>
              </a:rPr>
              <a:t>, which combines secure user authentication, email verification, external API integration, and AI-based financial insights. The key idea is that the system not only stores user data but also intelligently processes user queries by combining internal data with real-time external APIs.</a:t>
            </a:r>
          </a:p>
        </p:txBody>
      </p:sp>
      <p:sp>
        <p:nvSpPr>
          <p:cNvPr id="8" name="TextBox 8"/>
          <p:cNvSpPr txBox="1"/>
          <p:nvPr/>
        </p:nvSpPr>
        <p:spPr>
          <a:xfrm>
            <a:off x="1043283" y="3080595"/>
            <a:ext cx="16201282" cy="664028"/>
          </a:xfrm>
          <a:prstGeom prst="rect">
            <a:avLst/>
          </a:prstGeom>
        </p:spPr>
        <p:txBody>
          <a:bodyPr lIns="0" tIns="0" rIns="0" bIns="0" rtlCol="0" anchor="t">
            <a:spAutoFit/>
          </a:bodyPr>
          <a:lstStyle/>
          <a:p>
            <a:pPr algn="l">
              <a:lnSpc>
                <a:spcPts val="2687"/>
              </a:lnSpc>
            </a:pPr>
            <a:endParaRPr lang="en-US" sz="1812" dirty="0">
              <a:solidFill>
                <a:srgbClr val="D6E5EF"/>
              </a:solidFill>
              <a:latin typeface="Roboto"/>
              <a:ea typeface="Roboto"/>
              <a:cs typeface="Roboto"/>
              <a:sym typeface="Roboto"/>
            </a:endParaRPr>
          </a:p>
          <a:p>
            <a:pPr algn="l">
              <a:lnSpc>
                <a:spcPts val="2687"/>
              </a:lnSpc>
            </a:pPr>
            <a:r>
              <a:rPr lang="en-US" sz="1812" dirty="0">
                <a:solidFill>
                  <a:srgbClr val="D6E5EF"/>
                </a:solidFill>
                <a:latin typeface="Roboto"/>
                <a:ea typeface="Roboto"/>
                <a:cs typeface="Roboto"/>
                <a:sym typeface="Roboto"/>
              </a:rPr>
              <a:t>Let me first explain the user registration and activation flow, which ensures security.</a:t>
            </a:r>
          </a:p>
        </p:txBody>
      </p:sp>
      <p:grpSp>
        <p:nvGrpSpPr>
          <p:cNvPr id="9" name="Group 9"/>
          <p:cNvGrpSpPr/>
          <p:nvPr/>
        </p:nvGrpSpPr>
        <p:grpSpPr>
          <a:xfrm>
            <a:off x="1028995" y="3685432"/>
            <a:ext cx="5299319" cy="2755259"/>
            <a:chOff x="0" y="0"/>
            <a:chExt cx="7065759" cy="3673678"/>
          </a:xfrm>
        </p:grpSpPr>
        <p:sp>
          <p:nvSpPr>
            <p:cNvPr id="10" name="Freeform 10"/>
            <p:cNvSpPr/>
            <p:nvPr/>
          </p:nvSpPr>
          <p:spPr>
            <a:xfrm>
              <a:off x="19050" y="19050"/>
              <a:ext cx="7027672" cy="3635629"/>
            </a:xfrm>
            <a:custGeom>
              <a:avLst/>
              <a:gdLst/>
              <a:ahLst/>
              <a:cxnLst/>
              <a:rect l="l" t="t" r="r" b="b"/>
              <a:pathLst>
                <a:path w="7027672" h="3635629">
                  <a:moveTo>
                    <a:pt x="0" y="182880"/>
                  </a:moveTo>
                  <a:cubicBezTo>
                    <a:pt x="0" y="81915"/>
                    <a:pt x="82296" y="0"/>
                    <a:pt x="183769" y="0"/>
                  </a:cubicBezTo>
                  <a:lnTo>
                    <a:pt x="6843903" y="0"/>
                  </a:lnTo>
                  <a:cubicBezTo>
                    <a:pt x="6945376" y="0"/>
                    <a:pt x="7027672" y="81915"/>
                    <a:pt x="7027672" y="182880"/>
                  </a:cubicBezTo>
                  <a:lnTo>
                    <a:pt x="7027672" y="3452749"/>
                  </a:lnTo>
                  <a:cubicBezTo>
                    <a:pt x="7027672" y="3553714"/>
                    <a:pt x="6945376" y="3635629"/>
                    <a:pt x="6843903" y="3635629"/>
                  </a:cubicBezTo>
                  <a:lnTo>
                    <a:pt x="183769" y="3635629"/>
                  </a:lnTo>
                  <a:cubicBezTo>
                    <a:pt x="82296" y="3635629"/>
                    <a:pt x="0" y="3553714"/>
                    <a:pt x="0" y="3452749"/>
                  </a:cubicBezTo>
                  <a:close/>
                </a:path>
              </a:pathLst>
            </a:custGeom>
            <a:solidFill>
              <a:srgbClr val="202733"/>
            </a:solidFill>
          </p:spPr>
        </p:sp>
        <p:sp>
          <p:nvSpPr>
            <p:cNvPr id="11" name="Freeform 11"/>
            <p:cNvSpPr/>
            <p:nvPr/>
          </p:nvSpPr>
          <p:spPr>
            <a:xfrm>
              <a:off x="0" y="0"/>
              <a:ext cx="7065772" cy="3673729"/>
            </a:xfrm>
            <a:custGeom>
              <a:avLst/>
              <a:gdLst/>
              <a:ahLst/>
              <a:cxnLst/>
              <a:rect l="l" t="t" r="r" b="b"/>
              <a:pathLst>
                <a:path w="7065772" h="3673729">
                  <a:moveTo>
                    <a:pt x="0" y="201930"/>
                  </a:moveTo>
                  <a:cubicBezTo>
                    <a:pt x="0" y="90297"/>
                    <a:pt x="90932" y="0"/>
                    <a:pt x="202819" y="0"/>
                  </a:cubicBezTo>
                  <a:lnTo>
                    <a:pt x="6862953" y="0"/>
                  </a:lnTo>
                  <a:lnTo>
                    <a:pt x="6862953" y="19050"/>
                  </a:lnTo>
                  <a:lnTo>
                    <a:pt x="6862953" y="0"/>
                  </a:lnTo>
                  <a:cubicBezTo>
                    <a:pt x="6974840" y="0"/>
                    <a:pt x="7065772" y="90297"/>
                    <a:pt x="7065772" y="201930"/>
                  </a:cubicBezTo>
                  <a:lnTo>
                    <a:pt x="7046722" y="201930"/>
                  </a:lnTo>
                  <a:lnTo>
                    <a:pt x="7065772" y="201930"/>
                  </a:lnTo>
                  <a:lnTo>
                    <a:pt x="7065772" y="3471799"/>
                  </a:lnTo>
                  <a:lnTo>
                    <a:pt x="7046722" y="3471799"/>
                  </a:lnTo>
                  <a:lnTo>
                    <a:pt x="7065772" y="3471799"/>
                  </a:lnTo>
                  <a:cubicBezTo>
                    <a:pt x="7065772" y="3583432"/>
                    <a:pt x="6974840" y="3673729"/>
                    <a:pt x="6862953" y="3673729"/>
                  </a:cubicBezTo>
                  <a:lnTo>
                    <a:pt x="6862953" y="3654679"/>
                  </a:lnTo>
                  <a:lnTo>
                    <a:pt x="6862953" y="3673729"/>
                  </a:lnTo>
                  <a:lnTo>
                    <a:pt x="202819" y="3673729"/>
                  </a:lnTo>
                  <a:lnTo>
                    <a:pt x="202819" y="3654679"/>
                  </a:lnTo>
                  <a:lnTo>
                    <a:pt x="202819" y="3673729"/>
                  </a:lnTo>
                  <a:cubicBezTo>
                    <a:pt x="90932" y="3673729"/>
                    <a:pt x="0" y="3583305"/>
                    <a:pt x="0" y="3471799"/>
                  </a:cubicBezTo>
                  <a:lnTo>
                    <a:pt x="0" y="201930"/>
                  </a:lnTo>
                  <a:lnTo>
                    <a:pt x="19050" y="201930"/>
                  </a:lnTo>
                  <a:lnTo>
                    <a:pt x="0" y="201930"/>
                  </a:lnTo>
                  <a:moveTo>
                    <a:pt x="38100" y="201930"/>
                  </a:moveTo>
                  <a:lnTo>
                    <a:pt x="38100" y="3471799"/>
                  </a:lnTo>
                  <a:lnTo>
                    <a:pt x="19050" y="3471799"/>
                  </a:lnTo>
                  <a:lnTo>
                    <a:pt x="38100" y="3471799"/>
                  </a:lnTo>
                  <a:cubicBezTo>
                    <a:pt x="38100" y="3562223"/>
                    <a:pt x="111760" y="3635629"/>
                    <a:pt x="202819" y="3635629"/>
                  </a:cubicBezTo>
                  <a:lnTo>
                    <a:pt x="6862953" y="3635629"/>
                  </a:lnTo>
                  <a:cubicBezTo>
                    <a:pt x="6954012" y="3635629"/>
                    <a:pt x="7027672" y="3562223"/>
                    <a:pt x="7027672" y="3471799"/>
                  </a:cubicBezTo>
                  <a:lnTo>
                    <a:pt x="7027672" y="201930"/>
                  </a:lnTo>
                  <a:cubicBezTo>
                    <a:pt x="7027672" y="111506"/>
                    <a:pt x="6954012" y="38100"/>
                    <a:pt x="6862953" y="38100"/>
                  </a:cubicBezTo>
                  <a:lnTo>
                    <a:pt x="202819" y="38100"/>
                  </a:lnTo>
                  <a:lnTo>
                    <a:pt x="202819" y="19050"/>
                  </a:lnTo>
                  <a:lnTo>
                    <a:pt x="202819" y="38100"/>
                  </a:lnTo>
                  <a:cubicBezTo>
                    <a:pt x="111760" y="38100"/>
                    <a:pt x="38100" y="111506"/>
                    <a:pt x="38100" y="201930"/>
                  </a:cubicBezTo>
                  <a:close/>
                </a:path>
              </a:pathLst>
            </a:custGeom>
            <a:solidFill>
              <a:srgbClr val="585F6B"/>
            </a:solidFill>
          </p:spPr>
        </p:sp>
      </p:grpSp>
      <p:grpSp>
        <p:nvGrpSpPr>
          <p:cNvPr id="12" name="Group 12"/>
          <p:cNvGrpSpPr/>
          <p:nvPr/>
        </p:nvGrpSpPr>
        <p:grpSpPr>
          <a:xfrm>
            <a:off x="1014708" y="3699720"/>
            <a:ext cx="114300" cy="2726684"/>
            <a:chOff x="0" y="0"/>
            <a:chExt cx="152400" cy="3635578"/>
          </a:xfrm>
        </p:grpSpPr>
        <p:sp>
          <p:nvSpPr>
            <p:cNvPr id="13" name="Freeform 13" descr="preencoded.png"/>
            <p:cNvSpPr/>
            <p:nvPr/>
          </p:nvSpPr>
          <p:spPr>
            <a:xfrm>
              <a:off x="0" y="0"/>
              <a:ext cx="152400" cy="3635629"/>
            </a:xfrm>
            <a:custGeom>
              <a:avLst/>
              <a:gdLst/>
              <a:ahLst/>
              <a:cxnLst/>
              <a:rect l="l" t="t" r="r" b="b"/>
              <a:pathLst>
                <a:path w="152400" h="3635629">
                  <a:moveTo>
                    <a:pt x="0" y="0"/>
                  </a:moveTo>
                  <a:lnTo>
                    <a:pt x="152400" y="0"/>
                  </a:lnTo>
                  <a:lnTo>
                    <a:pt x="152400" y="3635629"/>
                  </a:lnTo>
                  <a:lnTo>
                    <a:pt x="0" y="3635629"/>
                  </a:lnTo>
                  <a:lnTo>
                    <a:pt x="0" y="0"/>
                  </a:lnTo>
                  <a:close/>
                </a:path>
              </a:pathLst>
            </a:custGeom>
            <a:blipFill>
              <a:blip r:embed="rId3"/>
              <a:stretch>
                <a:fillRect l="-50" r="-41" b="1"/>
              </a:stretch>
            </a:blipFill>
          </p:spPr>
        </p:sp>
      </p:grpSp>
      <p:sp>
        <p:nvSpPr>
          <p:cNvPr id="14" name="TextBox 14"/>
          <p:cNvSpPr txBox="1"/>
          <p:nvPr/>
        </p:nvSpPr>
        <p:spPr>
          <a:xfrm>
            <a:off x="1392288" y="3953466"/>
            <a:ext cx="2934891" cy="376390"/>
          </a:xfrm>
          <a:prstGeom prst="rect">
            <a:avLst/>
          </a:prstGeom>
        </p:spPr>
        <p:txBody>
          <a:bodyPr lIns="0" tIns="0" rIns="0" bIns="0" rtlCol="0" anchor="t">
            <a:spAutoFit/>
          </a:bodyPr>
          <a:lstStyle/>
          <a:p>
            <a:pPr algn="l">
              <a:lnSpc>
                <a:spcPts val="2875"/>
              </a:lnSpc>
            </a:pPr>
            <a:r>
              <a:rPr lang="en-US" sz="2249">
                <a:solidFill>
                  <a:srgbClr val="D6E5EF"/>
                </a:solidFill>
                <a:latin typeface="Roboto Slab"/>
                <a:ea typeface="Roboto Slab"/>
                <a:cs typeface="Roboto Slab"/>
                <a:sym typeface="Roboto Slab"/>
              </a:rPr>
              <a:t>Token Generation</a:t>
            </a:r>
          </a:p>
        </p:txBody>
      </p:sp>
      <p:sp>
        <p:nvSpPr>
          <p:cNvPr id="15" name="TextBox 15"/>
          <p:cNvSpPr txBox="1"/>
          <p:nvPr/>
        </p:nvSpPr>
        <p:spPr>
          <a:xfrm>
            <a:off x="1392288" y="4389234"/>
            <a:ext cx="4658468" cy="1087193"/>
          </a:xfrm>
          <a:prstGeom prst="rect">
            <a:avLst/>
          </a:prstGeom>
        </p:spPr>
        <p:txBody>
          <a:bodyPr lIns="0" tIns="0" rIns="0" bIns="0" rtlCol="0" anchor="t">
            <a:spAutoFit/>
          </a:bodyPr>
          <a:lstStyle/>
          <a:p>
            <a:pPr algn="l">
              <a:lnSpc>
                <a:spcPts val="2687"/>
              </a:lnSpc>
            </a:pPr>
            <a:r>
              <a:rPr lang="en-US" sz="1812">
                <a:solidFill>
                  <a:srgbClr val="D6E5EF"/>
                </a:solidFill>
                <a:latin typeface="Roboto"/>
                <a:ea typeface="Roboto"/>
                <a:cs typeface="Roboto"/>
                <a:sym typeface="Roboto"/>
              </a:rPr>
              <a:t>Here, I generate a unique activation token using UUID. This ensures that each user gets a secure and unguessable token.</a:t>
            </a:r>
          </a:p>
        </p:txBody>
      </p:sp>
      <p:grpSp>
        <p:nvGrpSpPr>
          <p:cNvPr id="16" name="Group 16"/>
          <p:cNvGrpSpPr/>
          <p:nvPr/>
        </p:nvGrpSpPr>
        <p:grpSpPr>
          <a:xfrm>
            <a:off x="6494116" y="3685432"/>
            <a:ext cx="5299472" cy="2755259"/>
            <a:chOff x="0" y="0"/>
            <a:chExt cx="7065962" cy="3673678"/>
          </a:xfrm>
        </p:grpSpPr>
        <p:sp>
          <p:nvSpPr>
            <p:cNvPr id="17" name="Freeform 17"/>
            <p:cNvSpPr/>
            <p:nvPr/>
          </p:nvSpPr>
          <p:spPr>
            <a:xfrm>
              <a:off x="19050" y="19050"/>
              <a:ext cx="7027799" cy="3635629"/>
            </a:xfrm>
            <a:custGeom>
              <a:avLst/>
              <a:gdLst/>
              <a:ahLst/>
              <a:cxnLst/>
              <a:rect l="l" t="t" r="r" b="b"/>
              <a:pathLst>
                <a:path w="7027799" h="3635629">
                  <a:moveTo>
                    <a:pt x="0" y="182880"/>
                  </a:moveTo>
                  <a:cubicBezTo>
                    <a:pt x="0" y="81915"/>
                    <a:pt x="82296" y="0"/>
                    <a:pt x="183769" y="0"/>
                  </a:cubicBezTo>
                  <a:lnTo>
                    <a:pt x="6844030" y="0"/>
                  </a:lnTo>
                  <a:cubicBezTo>
                    <a:pt x="6945503" y="0"/>
                    <a:pt x="7027799" y="81915"/>
                    <a:pt x="7027799" y="182880"/>
                  </a:cubicBezTo>
                  <a:lnTo>
                    <a:pt x="7027799" y="3452749"/>
                  </a:lnTo>
                  <a:cubicBezTo>
                    <a:pt x="7027799" y="3553714"/>
                    <a:pt x="6945503" y="3635629"/>
                    <a:pt x="6844030" y="3635629"/>
                  </a:cubicBezTo>
                  <a:lnTo>
                    <a:pt x="183769" y="3635629"/>
                  </a:lnTo>
                  <a:cubicBezTo>
                    <a:pt x="82296" y="3635629"/>
                    <a:pt x="0" y="3553714"/>
                    <a:pt x="0" y="3452749"/>
                  </a:cubicBezTo>
                  <a:close/>
                </a:path>
              </a:pathLst>
            </a:custGeom>
            <a:solidFill>
              <a:srgbClr val="202733"/>
            </a:solidFill>
          </p:spPr>
        </p:sp>
        <p:sp>
          <p:nvSpPr>
            <p:cNvPr id="18" name="Freeform 18"/>
            <p:cNvSpPr/>
            <p:nvPr/>
          </p:nvSpPr>
          <p:spPr>
            <a:xfrm>
              <a:off x="0" y="0"/>
              <a:ext cx="7065899" cy="3673729"/>
            </a:xfrm>
            <a:custGeom>
              <a:avLst/>
              <a:gdLst/>
              <a:ahLst/>
              <a:cxnLst/>
              <a:rect l="l" t="t" r="r" b="b"/>
              <a:pathLst>
                <a:path w="7065899" h="3673729">
                  <a:moveTo>
                    <a:pt x="0" y="201930"/>
                  </a:moveTo>
                  <a:cubicBezTo>
                    <a:pt x="0" y="90297"/>
                    <a:pt x="90932" y="0"/>
                    <a:pt x="202819" y="0"/>
                  </a:cubicBezTo>
                  <a:lnTo>
                    <a:pt x="6863080" y="0"/>
                  </a:lnTo>
                  <a:lnTo>
                    <a:pt x="6863080" y="19050"/>
                  </a:lnTo>
                  <a:lnTo>
                    <a:pt x="6863080" y="0"/>
                  </a:lnTo>
                  <a:cubicBezTo>
                    <a:pt x="6974967" y="0"/>
                    <a:pt x="7065899" y="90297"/>
                    <a:pt x="7065899" y="201930"/>
                  </a:cubicBezTo>
                  <a:lnTo>
                    <a:pt x="7046849" y="201930"/>
                  </a:lnTo>
                  <a:lnTo>
                    <a:pt x="7065899" y="201930"/>
                  </a:lnTo>
                  <a:lnTo>
                    <a:pt x="7065899" y="3471799"/>
                  </a:lnTo>
                  <a:lnTo>
                    <a:pt x="7046849" y="3471799"/>
                  </a:lnTo>
                  <a:lnTo>
                    <a:pt x="7065899" y="3471799"/>
                  </a:lnTo>
                  <a:cubicBezTo>
                    <a:pt x="7065899" y="3583432"/>
                    <a:pt x="6974967" y="3673729"/>
                    <a:pt x="6863080" y="3673729"/>
                  </a:cubicBezTo>
                  <a:lnTo>
                    <a:pt x="6863080" y="3654679"/>
                  </a:lnTo>
                  <a:lnTo>
                    <a:pt x="6863080" y="3673729"/>
                  </a:lnTo>
                  <a:lnTo>
                    <a:pt x="202819" y="3673729"/>
                  </a:lnTo>
                  <a:lnTo>
                    <a:pt x="202819" y="3654679"/>
                  </a:lnTo>
                  <a:lnTo>
                    <a:pt x="202819" y="3673729"/>
                  </a:lnTo>
                  <a:cubicBezTo>
                    <a:pt x="90932" y="3673729"/>
                    <a:pt x="0" y="3583305"/>
                    <a:pt x="0" y="3471799"/>
                  </a:cubicBezTo>
                  <a:lnTo>
                    <a:pt x="0" y="201930"/>
                  </a:lnTo>
                  <a:lnTo>
                    <a:pt x="19050" y="201930"/>
                  </a:lnTo>
                  <a:lnTo>
                    <a:pt x="0" y="201930"/>
                  </a:lnTo>
                  <a:moveTo>
                    <a:pt x="38100" y="201930"/>
                  </a:moveTo>
                  <a:lnTo>
                    <a:pt x="38100" y="3471799"/>
                  </a:lnTo>
                  <a:lnTo>
                    <a:pt x="19050" y="3471799"/>
                  </a:lnTo>
                  <a:lnTo>
                    <a:pt x="38100" y="3471799"/>
                  </a:lnTo>
                  <a:cubicBezTo>
                    <a:pt x="38100" y="3562223"/>
                    <a:pt x="111760" y="3635629"/>
                    <a:pt x="202819" y="3635629"/>
                  </a:cubicBezTo>
                  <a:lnTo>
                    <a:pt x="6863080" y="3635629"/>
                  </a:lnTo>
                  <a:cubicBezTo>
                    <a:pt x="6954139" y="3635629"/>
                    <a:pt x="7027799" y="3562223"/>
                    <a:pt x="7027799" y="3471799"/>
                  </a:cubicBezTo>
                  <a:lnTo>
                    <a:pt x="7027799" y="201930"/>
                  </a:lnTo>
                  <a:cubicBezTo>
                    <a:pt x="7027799" y="111506"/>
                    <a:pt x="6954139" y="38100"/>
                    <a:pt x="6863080" y="38100"/>
                  </a:cubicBezTo>
                  <a:lnTo>
                    <a:pt x="202819" y="38100"/>
                  </a:lnTo>
                  <a:lnTo>
                    <a:pt x="202819" y="19050"/>
                  </a:lnTo>
                  <a:lnTo>
                    <a:pt x="202819" y="38100"/>
                  </a:lnTo>
                  <a:cubicBezTo>
                    <a:pt x="111760" y="38100"/>
                    <a:pt x="38100" y="111506"/>
                    <a:pt x="38100" y="201930"/>
                  </a:cubicBezTo>
                  <a:close/>
                </a:path>
              </a:pathLst>
            </a:custGeom>
            <a:solidFill>
              <a:srgbClr val="585F6B"/>
            </a:solidFill>
          </p:spPr>
        </p:sp>
      </p:grpSp>
      <p:grpSp>
        <p:nvGrpSpPr>
          <p:cNvPr id="19" name="Group 19"/>
          <p:cNvGrpSpPr/>
          <p:nvPr/>
        </p:nvGrpSpPr>
        <p:grpSpPr>
          <a:xfrm>
            <a:off x="6479829" y="3699720"/>
            <a:ext cx="114300" cy="2726684"/>
            <a:chOff x="0" y="0"/>
            <a:chExt cx="152400" cy="3635578"/>
          </a:xfrm>
        </p:grpSpPr>
        <p:sp>
          <p:nvSpPr>
            <p:cNvPr id="20" name="Freeform 20" descr="preencoded.png"/>
            <p:cNvSpPr/>
            <p:nvPr/>
          </p:nvSpPr>
          <p:spPr>
            <a:xfrm>
              <a:off x="0" y="0"/>
              <a:ext cx="152400" cy="3635629"/>
            </a:xfrm>
            <a:custGeom>
              <a:avLst/>
              <a:gdLst/>
              <a:ahLst/>
              <a:cxnLst/>
              <a:rect l="l" t="t" r="r" b="b"/>
              <a:pathLst>
                <a:path w="152400" h="3635629">
                  <a:moveTo>
                    <a:pt x="0" y="0"/>
                  </a:moveTo>
                  <a:lnTo>
                    <a:pt x="152400" y="0"/>
                  </a:lnTo>
                  <a:lnTo>
                    <a:pt x="152400" y="3635629"/>
                  </a:lnTo>
                  <a:lnTo>
                    <a:pt x="0" y="3635629"/>
                  </a:lnTo>
                  <a:lnTo>
                    <a:pt x="0" y="0"/>
                  </a:lnTo>
                  <a:close/>
                </a:path>
              </a:pathLst>
            </a:custGeom>
            <a:blipFill>
              <a:blip r:embed="rId3"/>
              <a:stretch>
                <a:fillRect l="-50" r="-41" b="1"/>
              </a:stretch>
            </a:blipFill>
          </p:spPr>
        </p:sp>
      </p:grpSp>
      <p:sp>
        <p:nvSpPr>
          <p:cNvPr id="21" name="TextBox 21"/>
          <p:cNvSpPr txBox="1"/>
          <p:nvPr/>
        </p:nvSpPr>
        <p:spPr>
          <a:xfrm>
            <a:off x="6857409" y="3953466"/>
            <a:ext cx="2934891" cy="376390"/>
          </a:xfrm>
          <a:prstGeom prst="rect">
            <a:avLst/>
          </a:prstGeom>
        </p:spPr>
        <p:txBody>
          <a:bodyPr lIns="0" tIns="0" rIns="0" bIns="0" rtlCol="0" anchor="t">
            <a:spAutoFit/>
          </a:bodyPr>
          <a:lstStyle/>
          <a:p>
            <a:pPr algn="l">
              <a:lnSpc>
                <a:spcPts val="2875"/>
              </a:lnSpc>
            </a:pPr>
            <a:r>
              <a:rPr lang="en-US" sz="2249">
                <a:solidFill>
                  <a:srgbClr val="D6E5EF"/>
                </a:solidFill>
                <a:latin typeface="Roboto Slab"/>
                <a:ea typeface="Roboto Slab"/>
                <a:cs typeface="Roboto Slab"/>
                <a:sym typeface="Roboto Slab"/>
              </a:rPr>
              <a:t>Activation URL</a:t>
            </a:r>
          </a:p>
        </p:txBody>
      </p:sp>
      <p:sp>
        <p:nvSpPr>
          <p:cNvPr id="22" name="TextBox 22"/>
          <p:cNvSpPr txBox="1"/>
          <p:nvPr/>
        </p:nvSpPr>
        <p:spPr>
          <a:xfrm>
            <a:off x="6857409" y="4389234"/>
            <a:ext cx="4658620" cy="1087193"/>
          </a:xfrm>
          <a:prstGeom prst="rect">
            <a:avLst/>
          </a:prstGeom>
        </p:spPr>
        <p:txBody>
          <a:bodyPr lIns="0" tIns="0" rIns="0" bIns="0" rtlCol="0" anchor="t">
            <a:spAutoFit/>
          </a:bodyPr>
          <a:lstStyle/>
          <a:p>
            <a:pPr algn="l">
              <a:lnSpc>
                <a:spcPts val="2687"/>
              </a:lnSpc>
            </a:pPr>
            <a:r>
              <a:rPr lang="en-US" sz="1812">
                <a:solidFill>
                  <a:srgbClr val="D6E5EF"/>
                </a:solidFill>
                <a:latin typeface="Roboto"/>
                <a:ea typeface="Roboto"/>
                <a:cs typeface="Roboto"/>
                <a:sym typeface="Roboto"/>
              </a:rPr>
              <a:t>This token is embedded into an activation URL. This link is sent to the user so that they can verify their email.</a:t>
            </a:r>
          </a:p>
        </p:txBody>
      </p:sp>
      <p:grpSp>
        <p:nvGrpSpPr>
          <p:cNvPr id="23" name="Group 23"/>
          <p:cNvGrpSpPr/>
          <p:nvPr/>
        </p:nvGrpSpPr>
        <p:grpSpPr>
          <a:xfrm>
            <a:off x="11959380" y="3685432"/>
            <a:ext cx="5299472" cy="2755259"/>
            <a:chOff x="0" y="0"/>
            <a:chExt cx="7065962" cy="3673678"/>
          </a:xfrm>
        </p:grpSpPr>
        <p:sp>
          <p:nvSpPr>
            <p:cNvPr id="24" name="Freeform 24"/>
            <p:cNvSpPr/>
            <p:nvPr/>
          </p:nvSpPr>
          <p:spPr>
            <a:xfrm>
              <a:off x="19050" y="19050"/>
              <a:ext cx="7027799" cy="3635629"/>
            </a:xfrm>
            <a:custGeom>
              <a:avLst/>
              <a:gdLst/>
              <a:ahLst/>
              <a:cxnLst/>
              <a:rect l="l" t="t" r="r" b="b"/>
              <a:pathLst>
                <a:path w="7027799" h="3635629">
                  <a:moveTo>
                    <a:pt x="0" y="182880"/>
                  </a:moveTo>
                  <a:cubicBezTo>
                    <a:pt x="0" y="81915"/>
                    <a:pt x="82296" y="0"/>
                    <a:pt x="183769" y="0"/>
                  </a:cubicBezTo>
                  <a:lnTo>
                    <a:pt x="6844030" y="0"/>
                  </a:lnTo>
                  <a:cubicBezTo>
                    <a:pt x="6945503" y="0"/>
                    <a:pt x="7027799" y="81915"/>
                    <a:pt x="7027799" y="182880"/>
                  </a:cubicBezTo>
                  <a:lnTo>
                    <a:pt x="7027799" y="3452749"/>
                  </a:lnTo>
                  <a:cubicBezTo>
                    <a:pt x="7027799" y="3553714"/>
                    <a:pt x="6945503" y="3635629"/>
                    <a:pt x="6844030" y="3635629"/>
                  </a:cubicBezTo>
                  <a:lnTo>
                    <a:pt x="183769" y="3635629"/>
                  </a:lnTo>
                  <a:cubicBezTo>
                    <a:pt x="82296" y="3635629"/>
                    <a:pt x="0" y="3553714"/>
                    <a:pt x="0" y="3452749"/>
                  </a:cubicBezTo>
                  <a:close/>
                </a:path>
              </a:pathLst>
            </a:custGeom>
            <a:solidFill>
              <a:srgbClr val="202733"/>
            </a:solidFill>
          </p:spPr>
        </p:sp>
        <p:sp>
          <p:nvSpPr>
            <p:cNvPr id="25" name="Freeform 25"/>
            <p:cNvSpPr/>
            <p:nvPr/>
          </p:nvSpPr>
          <p:spPr>
            <a:xfrm>
              <a:off x="0" y="0"/>
              <a:ext cx="7065899" cy="3673729"/>
            </a:xfrm>
            <a:custGeom>
              <a:avLst/>
              <a:gdLst/>
              <a:ahLst/>
              <a:cxnLst/>
              <a:rect l="l" t="t" r="r" b="b"/>
              <a:pathLst>
                <a:path w="7065899" h="3673729">
                  <a:moveTo>
                    <a:pt x="0" y="201930"/>
                  </a:moveTo>
                  <a:cubicBezTo>
                    <a:pt x="0" y="90297"/>
                    <a:pt x="90932" y="0"/>
                    <a:pt x="202819" y="0"/>
                  </a:cubicBezTo>
                  <a:lnTo>
                    <a:pt x="6863080" y="0"/>
                  </a:lnTo>
                  <a:lnTo>
                    <a:pt x="6863080" y="19050"/>
                  </a:lnTo>
                  <a:lnTo>
                    <a:pt x="6863080" y="0"/>
                  </a:lnTo>
                  <a:cubicBezTo>
                    <a:pt x="6974967" y="0"/>
                    <a:pt x="7065899" y="90297"/>
                    <a:pt x="7065899" y="201930"/>
                  </a:cubicBezTo>
                  <a:lnTo>
                    <a:pt x="7046849" y="201930"/>
                  </a:lnTo>
                  <a:lnTo>
                    <a:pt x="7065899" y="201930"/>
                  </a:lnTo>
                  <a:lnTo>
                    <a:pt x="7065899" y="3471799"/>
                  </a:lnTo>
                  <a:lnTo>
                    <a:pt x="7046849" y="3471799"/>
                  </a:lnTo>
                  <a:lnTo>
                    <a:pt x="7065899" y="3471799"/>
                  </a:lnTo>
                  <a:cubicBezTo>
                    <a:pt x="7065899" y="3583432"/>
                    <a:pt x="6974967" y="3673729"/>
                    <a:pt x="6863080" y="3673729"/>
                  </a:cubicBezTo>
                  <a:lnTo>
                    <a:pt x="6863080" y="3654679"/>
                  </a:lnTo>
                  <a:lnTo>
                    <a:pt x="6863080" y="3673729"/>
                  </a:lnTo>
                  <a:lnTo>
                    <a:pt x="202819" y="3673729"/>
                  </a:lnTo>
                  <a:lnTo>
                    <a:pt x="202819" y="3654679"/>
                  </a:lnTo>
                  <a:lnTo>
                    <a:pt x="202819" y="3673729"/>
                  </a:lnTo>
                  <a:cubicBezTo>
                    <a:pt x="90932" y="3673729"/>
                    <a:pt x="0" y="3583305"/>
                    <a:pt x="0" y="3471799"/>
                  </a:cubicBezTo>
                  <a:lnTo>
                    <a:pt x="0" y="201930"/>
                  </a:lnTo>
                  <a:lnTo>
                    <a:pt x="19050" y="201930"/>
                  </a:lnTo>
                  <a:lnTo>
                    <a:pt x="0" y="201930"/>
                  </a:lnTo>
                  <a:moveTo>
                    <a:pt x="38100" y="201930"/>
                  </a:moveTo>
                  <a:lnTo>
                    <a:pt x="38100" y="3471799"/>
                  </a:lnTo>
                  <a:lnTo>
                    <a:pt x="19050" y="3471799"/>
                  </a:lnTo>
                  <a:lnTo>
                    <a:pt x="38100" y="3471799"/>
                  </a:lnTo>
                  <a:cubicBezTo>
                    <a:pt x="38100" y="3562223"/>
                    <a:pt x="111760" y="3635629"/>
                    <a:pt x="202819" y="3635629"/>
                  </a:cubicBezTo>
                  <a:lnTo>
                    <a:pt x="6863080" y="3635629"/>
                  </a:lnTo>
                  <a:cubicBezTo>
                    <a:pt x="6954139" y="3635629"/>
                    <a:pt x="7027799" y="3562223"/>
                    <a:pt x="7027799" y="3471799"/>
                  </a:cubicBezTo>
                  <a:lnTo>
                    <a:pt x="7027799" y="201930"/>
                  </a:lnTo>
                  <a:cubicBezTo>
                    <a:pt x="7027799" y="111506"/>
                    <a:pt x="6954139" y="38100"/>
                    <a:pt x="6863080" y="38100"/>
                  </a:cubicBezTo>
                  <a:lnTo>
                    <a:pt x="202819" y="38100"/>
                  </a:lnTo>
                  <a:lnTo>
                    <a:pt x="202819" y="19050"/>
                  </a:lnTo>
                  <a:lnTo>
                    <a:pt x="202819" y="38100"/>
                  </a:lnTo>
                  <a:cubicBezTo>
                    <a:pt x="111760" y="38100"/>
                    <a:pt x="38100" y="111506"/>
                    <a:pt x="38100" y="201930"/>
                  </a:cubicBezTo>
                  <a:close/>
                </a:path>
              </a:pathLst>
            </a:custGeom>
            <a:solidFill>
              <a:srgbClr val="585F6B"/>
            </a:solidFill>
          </p:spPr>
        </p:sp>
      </p:grpSp>
      <p:grpSp>
        <p:nvGrpSpPr>
          <p:cNvPr id="26" name="Group 26"/>
          <p:cNvGrpSpPr/>
          <p:nvPr/>
        </p:nvGrpSpPr>
        <p:grpSpPr>
          <a:xfrm>
            <a:off x="11945093" y="3699720"/>
            <a:ext cx="114300" cy="2726684"/>
            <a:chOff x="0" y="0"/>
            <a:chExt cx="152400" cy="3635578"/>
          </a:xfrm>
        </p:grpSpPr>
        <p:sp>
          <p:nvSpPr>
            <p:cNvPr id="27" name="Freeform 27" descr="preencoded.png"/>
            <p:cNvSpPr/>
            <p:nvPr/>
          </p:nvSpPr>
          <p:spPr>
            <a:xfrm>
              <a:off x="0" y="0"/>
              <a:ext cx="152400" cy="3635629"/>
            </a:xfrm>
            <a:custGeom>
              <a:avLst/>
              <a:gdLst/>
              <a:ahLst/>
              <a:cxnLst/>
              <a:rect l="l" t="t" r="r" b="b"/>
              <a:pathLst>
                <a:path w="152400" h="3635629">
                  <a:moveTo>
                    <a:pt x="0" y="0"/>
                  </a:moveTo>
                  <a:lnTo>
                    <a:pt x="152400" y="0"/>
                  </a:lnTo>
                  <a:lnTo>
                    <a:pt x="152400" y="3635629"/>
                  </a:lnTo>
                  <a:lnTo>
                    <a:pt x="0" y="3635629"/>
                  </a:lnTo>
                  <a:lnTo>
                    <a:pt x="0" y="0"/>
                  </a:lnTo>
                  <a:close/>
                </a:path>
              </a:pathLst>
            </a:custGeom>
            <a:blipFill>
              <a:blip r:embed="rId3"/>
              <a:stretch>
                <a:fillRect l="-50" r="-41" b="1"/>
              </a:stretch>
            </a:blipFill>
          </p:spPr>
        </p:sp>
      </p:grpSp>
      <p:sp>
        <p:nvSpPr>
          <p:cNvPr id="28" name="TextBox 28"/>
          <p:cNvSpPr txBox="1"/>
          <p:nvPr/>
        </p:nvSpPr>
        <p:spPr>
          <a:xfrm>
            <a:off x="12322673" y="3953466"/>
            <a:ext cx="2934891" cy="376390"/>
          </a:xfrm>
          <a:prstGeom prst="rect">
            <a:avLst/>
          </a:prstGeom>
        </p:spPr>
        <p:txBody>
          <a:bodyPr lIns="0" tIns="0" rIns="0" bIns="0" rtlCol="0" anchor="t">
            <a:spAutoFit/>
          </a:bodyPr>
          <a:lstStyle/>
          <a:p>
            <a:pPr algn="l">
              <a:lnSpc>
                <a:spcPts val="2875"/>
              </a:lnSpc>
            </a:pPr>
            <a:r>
              <a:rPr lang="en-US" sz="2249">
                <a:solidFill>
                  <a:srgbClr val="D6E5EF"/>
                </a:solidFill>
                <a:latin typeface="Roboto Slab"/>
                <a:ea typeface="Roboto Slab"/>
                <a:cs typeface="Roboto Slab"/>
                <a:sym typeface="Roboto Slab"/>
              </a:rPr>
              <a:t>Email API</a:t>
            </a:r>
          </a:p>
        </p:txBody>
      </p:sp>
      <p:sp>
        <p:nvSpPr>
          <p:cNvPr id="29" name="TextBox 29"/>
          <p:cNvSpPr txBox="1"/>
          <p:nvPr/>
        </p:nvSpPr>
        <p:spPr>
          <a:xfrm>
            <a:off x="12322673" y="4389234"/>
            <a:ext cx="4658620" cy="1773879"/>
          </a:xfrm>
          <a:prstGeom prst="rect">
            <a:avLst/>
          </a:prstGeom>
        </p:spPr>
        <p:txBody>
          <a:bodyPr lIns="0" tIns="0" rIns="0" bIns="0" rtlCol="0" anchor="t">
            <a:spAutoFit/>
          </a:bodyPr>
          <a:lstStyle/>
          <a:p>
            <a:pPr algn="l">
              <a:lnSpc>
                <a:spcPts val="2687"/>
              </a:lnSpc>
            </a:pPr>
            <a:r>
              <a:rPr lang="en-US" sz="1812">
                <a:solidFill>
                  <a:srgbClr val="D6E5EF"/>
                </a:solidFill>
                <a:latin typeface="Roboto"/>
                <a:ea typeface="Roboto"/>
                <a:cs typeface="Roboto"/>
                <a:sym typeface="Roboto"/>
              </a:rPr>
              <a:t>Instead of using SMTP, I used the Brevo email API. Here, the backend sends an HTTP POST request to Brevo, which then delivers the email to the user. So this is an example of REST API consumption in my project.</a:t>
            </a:r>
          </a:p>
        </p:txBody>
      </p:sp>
      <p:grpSp>
        <p:nvGrpSpPr>
          <p:cNvPr id="30" name="Group 30"/>
          <p:cNvGrpSpPr/>
          <p:nvPr/>
        </p:nvGrpSpPr>
        <p:grpSpPr>
          <a:xfrm>
            <a:off x="1043283" y="6645031"/>
            <a:ext cx="16201282" cy="812749"/>
            <a:chOff x="0" y="0"/>
            <a:chExt cx="21601709" cy="1083666"/>
          </a:xfrm>
        </p:grpSpPr>
        <p:sp>
          <p:nvSpPr>
            <p:cNvPr id="31" name="Freeform 31"/>
            <p:cNvSpPr/>
            <p:nvPr/>
          </p:nvSpPr>
          <p:spPr>
            <a:xfrm>
              <a:off x="0" y="0"/>
              <a:ext cx="21601683" cy="1083691"/>
            </a:xfrm>
            <a:custGeom>
              <a:avLst/>
              <a:gdLst/>
              <a:ahLst/>
              <a:cxnLst/>
              <a:rect l="l" t="t" r="r" b="b"/>
              <a:pathLst>
                <a:path w="21601683" h="1083691">
                  <a:moveTo>
                    <a:pt x="0" y="46990"/>
                  </a:moveTo>
                  <a:cubicBezTo>
                    <a:pt x="0" y="21082"/>
                    <a:pt x="21082" y="0"/>
                    <a:pt x="46990" y="0"/>
                  </a:cubicBezTo>
                  <a:lnTo>
                    <a:pt x="21554694" y="0"/>
                  </a:lnTo>
                  <a:cubicBezTo>
                    <a:pt x="21580602" y="0"/>
                    <a:pt x="21601683" y="21082"/>
                    <a:pt x="21601683" y="46990"/>
                  </a:cubicBezTo>
                  <a:lnTo>
                    <a:pt x="21601683" y="1036701"/>
                  </a:lnTo>
                  <a:cubicBezTo>
                    <a:pt x="21601683" y="1062609"/>
                    <a:pt x="21580602" y="1083691"/>
                    <a:pt x="21554694" y="1083691"/>
                  </a:cubicBezTo>
                  <a:lnTo>
                    <a:pt x="46990" y="1083691"/>
                  </a:lnTo>
                  <a:cubicBezTo>
                    <a:pt x="21082" y="1083691"/>
                    <a:pt x="0" y="1062609"/>
                    <a:pt x="0" y="1036701"/>
                  </a:cubicBezTo>
                  <a:close/>
                </a:path>
              </a:pathLst>
            </a:custGeom>
            <a:solidFill>
              <a:srgbClr val="2D3440"/>
            </a:solidFill>
          </p:spPr>
        </p:sp>
      </p:grpSp>
      <p:grpSp>
        <p:nvGrpSpPr>
          <p:cNvPr id="32" name="Group 32"/>
          <p:cNvGrpSpPr/>
          <p:nvPr/>
        </p:nvGrpSpPr>
        <p:grpSpPr>
          <a:xfrm>
            <a:off x="1031672" y="6645031"/>
            <a:ext cx="16224494" cy="812749"/>
            <a:chOff x="0" y="0"/>
            <a:chExt cx="21632659" cy="1083666"/>
          </a:xfrm>
        </p:grpSpPr>
        <p:sp>
          <p:nvSpPr>
            <p:cNvPr id="33" name="Freeform 33"/>
            <p:cNvSpPr/>
            <p:nvPr/>
          </p:nvSpPr>
          <p:spPr>
            <a:xfrm>
              <a:off x="0" y="0"/>
              <a:ext cx="21632672" cy="1083691"/>
            </a:xfrm>
            <a:custGeom>
              <a:avLst/>
              <a:gdLst/>
              <a:ahLst/>
              <a:cxnLst/>
              <a:rect l="l" t="t" r="r" b="b"/>
              <a:pathLst>
                <a:path w="21632672" h="1083691">
                  <a:moveTo>
                    <a:pt x="0" y="46990"/>
                  </a:moveTo>
                  <a:cubicBezTo>
                    <a:pt x="0" y="21082"/>
                    <a:pt x="21082" y="0"/>
                    <a:pt x="46990" y="0"/>
                  </a:cubicBezTo>
                  <a:lnTo>
                    <a:pt x="21585682" y="0"/>
                  </a:lnTo>
                  <a:cubicBezTo>
                    <a:pt x="21611591" y="0"/>
                    <a:pt x="21632672" y="21082"/>
                    <a:pt x="21632672" y="46990"/>
                  </a:cubicBezTo>
                  <a:lnTo>
                    <a:pt x="21632672" y="1036701"/>
                  </a:lnTo>
                  <a:cubicBezTo>
                    <a:pt x="21632672" y="1062609"/>
                    <a:pt x="21611591" y="1083691"/>
                    <a:pt x="21585682" y="1083691"/>
                  </a:cubicBezTo>
                  <a:lnTo>
                    <a:pt x="46990" y="1083691"/>
                  </a:lnTo>
                  <a:cubicBezTo>
                    <a:pt x="21082" y="1083691"/>
                    <a:pt x="0" y="1062609"/>
                    <a:pt x="0" y="1036701"/>
                  </a:cubicBezTo>
                  <a:close/>
                </a:path>
              </a:pathLst>
            </a:custGeom>
            <a:solidFill>
              <a:srgbClr val="2D3440"/>
            </a:solidFill>
          </p:spPr>
        </p:sp>
      </p:grpSp>
      <p:sp>
        <p:nvSpPr>
          <p:cNvPr id="34" name="TextBox 34"/>
          <p:cNvSpPr txBox="1"/>
          <p:nvPr/>
        </p:nvSpPr>
        <p:spPr>
          <a:xfrm>
            <a:off x="1325166" y="6794002"/>
            <a:ext cx="15637516" cy="429073"/>
          </a:xfrm>
          <a:prstGeom prst="rect">
            <a:avLst/>
          </a:prstGeom>
        </p:spPr>
        <p:txBody>
          <a:bodyPr lIns="0" tIns="0" rIns="0" bIns="0" rtlCol="0" anchor="t">
            <a:spAutoFit/>
          </a:bodyPr>
          <a:lstStyle/>
          <a:p>
            <a:pPr algn="l">
              <a:lnSpc>
                <a:spcPts val="2687"/>
              </a:lnSpc>
            </a:pPr>
            <a:r>
              <a:rPr lang="en-US" sz="1812">
                <a:solidFill>
                  <a:srgbClr val="7EE787"/>
                </a:solidFill>
                <a:latin typeface="Consolas"/>
                <a:ea typeface="Consolas"/>
                <a:cs typeface="Consolas"/>
                <a:sym typeface="Consolas"/>
              </a:rPr>
              <a:t>newProfile.setActivationToken(UUID.randomUUID().toString());</a:t>
            </a:r>
          </a:p>
        </p:txBody>
      </p:sp>
      <p:grpSp>
        <p:nvGrpSpPr>
          <p:cNvPr id="35" name="Group 35"/>
          <p:cNvGrpSpPr/>
          <p:nvPr/>
        </p:nvGrpSpPr>
        <p:grpSpPr>
          <a:xfrm>
            <a:off x="1043283" y="7676407"/>
            <a:ext cx="16201282" cy="812749"/>
            <a:chOff x="0" y="0"/>
            <a:chExt cx="21601709" cy="1083666"/>
          </a:xfrm>
        </p:grpSpPr>
        <p:sp>
          <p:nvSpPr>
            <p:cNvPr id="36" name="Freeform 36"/>
            <p:cNvSpPr/>
            <p:nvPr/>
          </p:nvSpPr>
          <p:spPr>
            <a:xfrm>
              <a:off x="0" y="0"/>
              <a:ext cx="21601683" cy="1083691"/>
            </a:xfrm>
            <a:custGeom>
              <a:avLst/>
              <a:gdLst/>
              <a:ahLst/>
              <a:cxnLst/>
              <a:rect l="l" t="t" r="r" b="b"/>
              <a:pathLst>
                <a:path w="21601683" h="1083691">
                  <a:moveTo>
                    <a:pt x="0" y="46990"/>
                  </a:moveTo>
                  <a:cubicBezTo>
                    <a:pt x="0" y="21082"/>
                    <a:pt x="21082" y="0"/>
                    <a:pt x="46990" y="0"/>
                  </a:cubicBezTo>
                  <a:lnTo>
                    <a:pt x="21554694" y="0"/>
                  </a:lnTo>
                  <a:cubicBezTo>
                    <a:pt x="21580602" y="0"/>
                    <a:pt x="21601683" y="21082"/>
                    <a:pt x="21601683" y="46990"/>
                  </a:cubicBezTo>
                  <a:lnTo>
                    <a:pt x="21601683" y="1036701"/>
                  </a:lnTo>
                  <a:cubicBezTo>
                    <a:pt x="21601683" y="1062609"/>
                    <a:pt x="21580602" y="1083691"/>
                    <a:pt x="21554694" y="1083691"/>
                  </a:cubicBezTo>
                  <a:lnTo>
                    <a:pt x="46990" y="1083691"/>
                  </a:lnTo>
                  <a:cubicBezTo>
                    <a:pt x="21082" y="1083691"/>
                    <a:pt x="0" y="1062609"/>
                    <a:pt x="0" y="1036701"/>
                  </a:cubicBezTo>
                  <a:close/>
                </a:path>
              </a:pathLst>
            </a:custGeom>
            <a:solidFill>
              <a:srgbClr val="2D3440"/>
            </a:solidFill>
          </p:spPr>
        </p:sp>
      </p:grpSp>
      <p:grpSp>
        <p:nvGrpSpPr>
          <p:cNvPr id="37" name="Group 37"/>
          <p:cNvGrpSpPr/>
          <p:nvPr/>
        </p:nvGrpSpPr>
        <p:grpSpPr>
          <a:xfrm>
            <a:off x="1031672" y="7676407"/>
            <a:ext cx="16224494" cy="812749"/>
            <a:chOff x="0" y="0"/>
            <a:chExt cx="21632659" cy="1083666"/>
          </a:xfrm>
        </p:grpSpPr>
        <p:sp>
          <p:nvSpPr>
            <p:cNvPr id="38" name="Freeform 38"/>
            <p:cNvSpPr/>
            <p:nvPr/>
          </p:nvSpPr>
          <p:spPr>
            <a:xfrm>
              <a:off x="0" y="0"/>
              <a:ext cx="21632672" cy="1083691"/>
            </a:xfrm>
            <a:custGeom>
              <a:avLst/>
              <a:gdLst/>
              <a:ahLst/>
              <a:cxnLst/>
              <a:rect l="l" t="t" r="r" b="b"/>
              <a:pathLst>
                <a:path w="21632672" h="1083691">
                  <a:moveTo>
                    <a:pt x="0" y="46990"/>
                  </a:moveTo>
                  <a:cubicBezTo>
                    <a:pt x="0" y="21082"/>
                    <a:pt x="21082" y="0"/>
                    <a:pt x="46990" y="0"/>
                  </a:cubicBezTo>
                  <a:lnTo>
                    <a:pt x="21585682" y="0"/>
                  </a:lnTo>
                  <a:cubicBezTo>
                    <a:pt x="21611591" y="0"/>
                    <a:pt x="21632672" y="21082"/>
                    <a:pt x="21632672" y="46990"/>
                  </a:cubicBezTo>
                  <a:lnTo>
                    <a:pt x="21632672" y="1036701"/>
                  </a:lnTo>
                  <a:cubicBezTo>
                    <a:pt x="21632672" y="1062609"/>
                    <a:pt x="21611591" y="1083691"/>
                    <a:pt x="21585682" y="1083691"/>
                  </a:cubicBezTo>
                  <a:lnTo>
                    <a:pt x="46990" y="1083691"/>
                  </a:lnTo>
                  <a:cubicBezTo>
                    <a:pt x="21082" y="1083691"/>
                    <a:pt x="0" y="1062609"/>
                    <a:pt x="0" y="1036701"/>
                  </a:cubicBezTo>
                  <a:close/>
                </a:path>
              </a:pathLst>
            </a:custGeom>
            <a:solidFill>
              <a:srgbClr val="2D3440"/>
            </a:solidFill>
          </p:spPr>
        </p:sp>
      </p:grpSp>
      <p:sp>
        <p:nvSpPr>
          <p:cNvPr id="39" name="TextBox 39"/>
          <p:cNvSpPr txBox="1"/>
          <p:nvPr/>
        </p:nvSpPr>
        <p:spPr>
          <a:xfrm>
            <a:off x="1325166" y="7825378"/>
            <a:ext cx="15637516" cy="429073"/>
          </a:xfrm>
          <a:prstGeom prst="rect">
            <a:avLst/>
          </a:prstGeom>
        </p:spPr>
        <p:txBody>
          <a:bodyPr lIns="0" tIns="0" rIns="0" bIns="0" rtlCol="0" anchor="t">
            <a:spAutoFit/>
          </a:bodyPr>
          <a:lstStyle/>
          <a:p>
            <a:pPr algn="l">
              <a:lnSpc>
                <a:spcPts val="2687"/>
              </a:lnSpc>
            </a:pPr>
            <a:r>
              <a:rPr lang="en-US" sz="1812">
                <a:solidFill>
                  <a:srgbClr val="FF7B72"/>
                </a:solidFill>
                <a:latin typeface="Consolas"/>
                <a:ea typeface="Consolas"/>
                <a:cs typeface="Consolas"/>
                <a:sym typeface="Consolas"/>
              </a:rPr>
              <a:t>String activationLink = activationURL + "/api/v1.0/activate?token=" + newProfile.getActivationToken();</a:t>
            </a:r>
          </a:p>
        </p:txBody>
      </p:sp>
      <p:grpSp>
        <p:nvGrpSpPr>
          <p:cNvPr id="40" name="Group 40"/>
          <p:cNvGrpSpPr/>
          <p:nvPr/>
        </p:nvGrpSpPr>
        <p:grpSpPr>
          <a:xfrm>
            <a:off x="1043283" y="8707784"/>
            <a:ext cx="16201282" cy="812749"/>
            <a:chOff x="0" y="0"/>
            <a:chExt cx="21601709" cy="1083666"/>
          </a:xfrm>
        </p:grpSpPr>
        <p:sp>
          <p:nvSpPr>
            <p:cNvPr id="41" name="Freeform 41"/>
            <p:cNvSpPr/>
            <p:nvPr/>
          </p:nvSpPr>
          <p:spPr>
            <a:xfrm>
              <a:off x="0" y="0"/>
              <a:ext cx="21601683" cy="1083691"/>
            </a:xfrm>
            <a:custGeom>
              <a:avLst/>
              <a:gdLst/>
              <a:ahLst/>
              <a:cxnLst/>
              <a:rect l="l" t="t" r="r" b="b"/>
              <a:pathLst>
                <a:path w="21601683" h="1083691">
                  <a:moveTo>
                    <a:pt x="0" y="46990"/>
                  </a:moveTo>
                  <a:cubicBezTo>
                    <a:pt x="0" y="21082"/>
                    <a:pt x="21082" y="0"/>
                    <a:pt x="46990" y="0"/>
                  </a:cubicBezTo>
                  <a:lnTo>
                    <a:pt x="21554694" y="0"/>
                  </a:lnTo>
                  <a:cubicBezTo>
                    <a:pt x="21580602" y="0"/>
                    <a:pt x="21601683" y="21082"/>
                    <a:pt x="21601683" y="46990"/>
                  </a:cubicBezTo>
                  <a:lnTo>
                    <a:pt x="21601683" y="1036701"/>
                  </a:lnTo>
                  <a:cubicBezTo>
                    <a:pt x="21601683" y="1062609"/>
                    <a:pt x="21580602" y="1083691"/>
                    <a:pt x="21554694" y="1083691"/>
                  </a:cubicBezTo>
                  <a:lnTo>
                    <a:pt x="46990" y="1083691"/>
                  </a:lnTo>
                  <a:cubicBezTo>
                    <a:pt x="21082" y="1083691"/>
                    <a:pt x="0" y="1062609"/>
                    <a:pt x="0" y="1036701"/>
                  </a:cubicBezTo>
                  <a:close/>
                </a:path>
              </a:pathLst>
            </a:custGeom>
            <a:solidFill>
              <a:srgbClr val="2D3440"/>
            </a:solidFill>
          </p:spPr>
        </p:sp>
      </p:grpSp>
      <p:grpSp>
        <p:nvGrpSpPr>
          <p:cNvPr id="42" name="Group 42"/>
          <p:cNvGrpSpPr/>
          <p:nvPr/>
        </p:nvGrpSpPr>
        <p:grpSpPr>
          <a:xfrm>
            <a:off x="1031672" y="8707784"/>
            <a:ext cx="16224494" cy="812749"/>
            <a:chOff x="0" y="0"/>
            <a:chExt cx="21632659" cy="1083666"/>
          </a:xfrm>
        </p:grpSpPr>
        <p:sp>
          <p:nvSpPr>
            <p:cNvPr id="43" name="Freeform 43"/>
            <p:cNvSpPr/>
            <p:nvPr/>
          </p:nvSpPr>
          <p:spPr>
            <a:xfrm>
              <a:off x="0" y="0"/>
              <a:ext cx="21632672" cy="1083691"/>
            </a:xfrm>
            <a:custGeom>
              <a:avLst/>
              <a:gdLst/>
              <a:ahLst/>
              <a:cxnLst/>
              <a:rect l="l" t="t" r="r" b="b"/>
              <a:pathLst>
                <a:path w="21632672" h="1083691">
                  <a:moveTo>
                    <a:pt x="0" y="46990"/>
                  </a:moveTo>
                  <a:cubicBezTo>
                    <a:pt x="0" y="21082"/>
                    <a:pt x="21082" y="0"/>
                    <a:pt x="46990" y="0"/>
                  </a:cubicBezTo>
                  <a:lnTo>
                    <a:pt x="21585682" y="0"/>
                  </a:lnTo>
                  <a:cubicBezTo>
                    <a:pt x="21611591" y="0"/>
                    <a:pt x="21632672" y="21082"/>
                    <a:pt x="21632672" y="46990"/>
                  </a:cubicBezTo>
                  <a:lnTo>
                    <a:pt x="21632672" y="1036701"/>
                  </a:lnTo>
                  <a:cubicBezTo>
                    <a:pt x="21632672" y="1062609"/>
                    <a:pt x="21611591" y="1083691"/>
                    <a:pt x="21585682" y="1083691"/>
                  </a:cubicBezTo>
                  <a:lnTo>
                    <a:pt x="46990" y="1083691"/>
                  </a:lnTo>
                  <a:cubicBezTo>
                    <a:pt x="21082" y="1083691"/>
                    <a:pt x="0" y="1062609"/>
                    <a:pt x="0" y="1036701"/>
                  </a:cubicBezTo>
                  <a:close/>
                </a:path>
              </a:pathLst>
            </a:custGeom>
            <a:solidFill>
              <a:srgbClr val="2D3440"/>
            </a:solidFill>
          </p:spPr>
        </p:sp>
      </p:grpSp>
      <p:sp>
        <p:nvSpPr>
          <p:cNvPr id="44" name="TextBox 44"/>
          <p:cNvSpPr txBox="1"/>
          <p:nvPr/>
        </p:nvSpPr>
        <p:spPr>
          <a:xfrm>
            <a:off x="1325166" y="8856764"/>
            <a:ext cx="15637516" cy="429073"/>
          </a:xfrm>
          <a:prstGeom prst="rect">
            <a:avLst/>
          </a:prstGeom>
        </p:spPr>
        <p:txBody>
          <a:bodyPr lIns="0" tIns="0" rIns="0" bIns="0" rtlCol="0" anchor="t">
            <a:spAutoFit/>
          </a:bodyPr>
          <a:lstStyle/>
          <a:p>
            <a:pPr algn="l">
              <a:lnSpc>
                <a:spcPts val="2687"/>
              </a:lnSpc>
            </a:pPr>
            <a:r>
              <a:rPr lang="en-US" sz="1812">
                <a:solidFill>
                  <a:srgbClr val="D6E5EF"/>
                </a:solidFill>
                <a:latin typeface="Consolas"/>
                <a:ea typeface="Consolas"/>
                <a:cs typeface="Consolas"/>
                <a:sym typeface="Consolas"/>
              </a:rPr>
              <a:t>restTemplate.postForEntity(url, request, String.class);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899217" y="682381"/>
            <a:ext cx="12967097" cy="831504"/>
          </a:xfrm>
          <a:prstGeom prst="rect">
            <a:avLst/>
          </a:prstGeom>
        </p:spPr>
        <p:txBody>
          <a:bodyPr lIns="0" tIns="0" rIns="0" bIns="0" rtlCol="0" anchor="t">
            <a:spAutoFit/>
          </a:bodyPr>
          <a:lstStyle/>
          <a:p>
            <a:pPr algn="l">
              <a:lnSpc>
                <a:spcPts val="6312"/>
              </a:lnSpc>
            </a:pPr>
            <a:r>
              <a:rPr lang="en-US" sz="4999">
                <a:solidFill>
                  <a:srgbClr val="76B9FF"/>
                </a:solidFill>
                <a:latin typeface="Roboto Slab"/>
                <a:ea typeface="Roboto Slab"/>
                <a:cs typeface="Roboto Slab"/>
                <a:sym typeface="Roboto Slab"/>
              </a:rPr>
              <a:t>User Activation and AI Request Processing</a:t>
            </a:r>
          </a:p>
        </p:txBody>
      </p:sp>
      <p:sp>
        <p:nvSpPr>
          <p:cNvPr id="7" name="TextBox 7"/>
          <p:cNvSpPr txBox="1"/>
          <p:nvPr/>
        </p:nvSpPr>
        <p:spPr>
          <a:xfrm>
            <a:off x="899217" y="1903362"/>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When the user clicks the activation link, the backend receives the token and verifies it.</a:t>
            </a:r>
          </a:p>
        </p:txBody>
      </p:sp>
      <p:sp>
        <p:nvSpPr>
          <p:cNvPr id="8" name="TextBox 8"/>
          <p:cNvSpPr txBox="1"/>
          <p:nvPr/>
        </p:nvSpPr>
        <p:spPr>
          <a:xfrm>
            <a:off x="899217" y="2557167"/>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If the token matches the one stored in the database, the account is activated. This ensures that only verified users can access the system.</a:t>
            </a:r>
          </a:p>
        </p:txBody>
      </p:sp>
      <p:sp>
        <p:nvSpPr>
          <p:cNvPr id="9" name="TextBox 9"/>
          <p:cNvSpPr txBox="1"/>
          <p:nvPr/>
        </p:nvSpPr>
        <p:spPr>
          <a:xfrm>
            <a:off x="899217" y="3210963"/>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Once the user is activated, the system provides AI-based financial insights using intelligent request processing.</a:t>
            </a:r>
          </a:p>
        </p:txBody>
      </p:sp>
      <p:grpSp>
        <p:nvGrpSpPr>
          <p:cNvPr id="10" name="Group 10"/>
          <p:cNvGrpSpPr/>
          <p:nvPr/>
        </p:nvGrpSpPr>
        <p:grpSpPr>
          <a:xfrm>
            <a:off x="899217" y="3940969"/>
            <a:ext cx="16489566" cy="905618"/>
            <a:chOff x="0" y="0"/>
            <a:chExt cx="21986088" cy="1207491"/>
          </a:xfrm>
        </p:grpSpPr>
        <p:sp>
          <p:nvSpPr>
            <p:cNvPr id="11" name="Freeform 11"/>
            <p:cNvSpPr/>
            <p:nvPr/>
          </p:nvSpPr>
          <p:spPr>
            <a:xfrm>
              <a:off x="0" y="0"/>
              <a:ext cx="21986114" cy="1207516"/>
            </a:xfrm>
            <a:custGeom>
              <a:avLst/>
              <a:gdLst/>
              <a:ahLst/>
              <a:cxnLst/>
              <a:rect l="l" t="t" r="r" b="b"/>
              <a:pathLst>
                <a:path w="21986114" h="1207516">
                  <a:moveTo>
                    <a:pt x="0" y="51435"/>
                  </a:moveTo>
                  <a:cubicBezTo>
                    <a:pt x="0" y="22987"/>
                    <a:pt x="22987" y="0"/>
                    <a:pt x="51435" y="0"/>
                  </a:cubicBezTo>
                  <a:lnTo>
                    <a:pt x="21934678" y="0"/>
                  </a:lnTo>
                  <a:cubicBezTo>
                    <a:pt x="21962999" y="0"/>
                    <a:pt x="21986114" y="22987"/>
                    <a:pt x="21986114" y="51435"/>
                  </a:cubicBezTo>
                  <a:lnTo>
                    <a:pt x="21986114" y="1156081"/>
                  </a:lnTo>
                  <a:cubicBezTo>
                    <a:pt x="21986114" y="1184402"/>
                    <a:pt x="21963126" y="1207516"/>
                    <a:pt x="21934678" y="1207516"/>
                  </a:cubicBezTo>
                  <a:lnTo>
                    <a:pt x="51435" y="1207516"/>
                  </a:lnTo>
                  <a:cubicBezTo>
                    <a:pt x="22987" y="1207516"/>
                    <a:pt x="0" y="1184529"/>
                    <a:pt x="0" y="1156081"/>
                  </a:cubicBezTo>
                  <a:close/>
                </a:path>
              </a:pathLst>
            </a:custGeom>
            <a:solidFill>
              <a:srgbClr val="2D3440"/>
            </a:solidFill>
          </p:spPr>
        </p:sp>
      </p:grpSp>
      <p:grpSp>
        <p:nvGrpSpPr>
          <p:cNvPr id="12" name="Group 12"/>
          <p:cNvGrpSpPr/>
          <p:nvPr/>
        </p:nvGrpSpPr>
        <p:grpSpPr>
          <a:xfrm>
            <a:off x="886416" y="3940969"/>
            <a:ext cx="16515159" cy="905618"/>
            <a:chOff x="0" y="0"/>
            <a:chExt cx="22020212" cy="1207491"/>
          </a:xfrm>
        </p:grpSpPr>
        <p:sp>
          <p:nvSpPr>
            <p:cNvPr id="13" name="Freeform 13"/>
            <p:cNvSpPr/>
            <p:nvPr/>
          </p:nvSpPr>
          <p:spPr>
            <a:xfrm>
              <a:off x="0" y="0"/>
              <a:ext cx="22020276" cy="1207516"/>
            </a:xfrm>
            <a:custGeom>
              <a:avLst/>
              <a:gdLst/>
              <a:ahLst/>
              <a:cxnLst/>
              <a:rect l="l" t="t" r="r" b="b"/>
              <a:pathLst>
                <a:path w="22020276" h="1207516">
                  <a:moveTo>
                    <a:pt x="0" y="51435"/>
                  </a:moveTo>
                  <a:cubicBezTo>
                    <a:pt x="0" y="22987"/>
                    <a:pt x="22987" y="0"/>
                    <a:pt x="51435" y="0"/>
                  </a:cubicBezTo>
                  <a:lnTo>
                    <a:pt x="21968840" y="0"/>
                  </a:lnTo>
                  <a:cubicBezTo>
                    <a:pt x="21997161" y="0"/>
                    <a:pt x="22020276" y="22987"/>
                    <a:pt x="22020276" y="51435"/>
                  </a:cubicBezTo>
                  <a:lnTo>
                    <a:pt x="22020276" y="1156081"/>
                  </a:lnTo>
                  <a:cubicBezTo>
                    <a:pt x="22020276" y="1184402"/>
                    <a:pt x="21997288" y="1207516"/>
                    <a:pt x="21968840" y="1207516"/>
                  </a:cubicBezTo>
                  <a:lnTo>
                    <a:pt x="51435" y="1207516"/>
                  </a:lnTo>
                  <a:cubicBezTo>
                    <a:pt x="22987" y="1207516"/>
                    <a:pt x="0" y="1184529"/>
                    <a:pt x="0" y="1156081"/>
                  </a:cubicBezTo>
                  <a:close/>
                </a:path>
              </a:pathLst>
            </a:custGeom>
            <a:solidFill>
              <a:srgbClr val="2D3440"/>
            </a:solidFill>
          </p:spPr>
        </p:sp>
      </p:grpSp>
      <p:sp>
        <p:nvSpPr>
          <p:cNvPr id="14" name="TextBox 14"/>
          <p:cNvSpPr txBox="1"/>
          <p:nvPr/>
        </p:nvSpPr>
        <p:spPr>
          <a:xfrm>
            <a:off x="1207589" y="4093073"/>
            <a:ext cx="15872822" cy="496643"/>
          </a:xfrm>
          <a:prstGeom prst="rect">
            <a:avLst/>
          </a:prstGeom>
        </p:spPr>
        <p:txBody>
          <a:bodyPr lIns="0" tIns="0" rIns="0" bIns="0" rtlCol="0" anchor="t">
            <a:spAutoFit/>
          </a:bodyPr>
          <a:lstStyle/>
          <a:p>
            <a:pPr algn="l">
              <a:lnSpc>
                <a:spcPts val="3062"/>
              </a:lnSpc>
            </a:pPr>
            <a:r>
              <a:rPr lang="en-US" sz="2000">
                <a:solidFill>
                  <a:srgbClr val="79C0FF"/>
                </a:solidFill>
                <a:latin typeface="Consolas"/>
                <a:ea typeface="Consolas"/>
                <a:cs typeface="Consolas"/>
                <a:sym typeface="Consolas"/>
              </a:rPr>
              <a:t>@PostMapping("/ai/insights")</a:t>
            </a:r>
          </a:p>
        </p:txBody>
      </p:sp>
      <p:sp>
        <p:nvSpPr>
          <p:cNvPr id="15" name="TextBox 15"/>
          <p:cNvSpPr txBox="1"/>
          <p:nvPr/>
        </p:nvSpPr>
        <p:spPr>
          <a:xfrm>
            <a:off x="899217" y="5032324"/>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The user sends a request to this endpoint, which is handled by the AI controller and passed to the AI service.</a:t>
            </a:r>
          </a:p>
        </p:txBody>
      </p:sp>
      <p:grpSp>
        <p:nvGrpSpPr>
          <p:cNvPr id="16" name="Group 16"/>
          <p:cNvGrpSpPr/>
          <p:nvPr/>
        </p:nvGrpSpPr>
        <p:grpSpPr>
          <a:xfrm>
            <a:off x="899217" y="5762330"/>
            <a:ext cx="16489566" cy="905618"/>
            <a:chOff x="0" y="0"/>
            <a:chExt cx="21986088" cy="1207491"/>
          </a:xfrm>
        </p:grpSpPr>
        <p:sp>
          <p:nvSpPr>
            <p:cNvPr id="17" name="Freeform 17"/>
            <p:cNvSpPr/>
            <p:nvPr/>
          </p:nvSpPr>
          <p:spPr>
            <a:xfrm>
              <a:off x="0" y="0"/>
              <a:ext cx="21986114" cy="1207516"/>
            </a:xfrm>
            <a:custGeom>
              <a:avLst/>
              <a:gdLst/>
              <a:ahLst/>
              <a:cxnLst/>
              <a:rect l="l" t="t" r="r" b="b"/>
              <a:pathLst>
                <a:path w="21986114" h="1207516">
                  <a:moveTo>
                    <a:pt x="0" y="51435"/>
                  </a:moveTo>
                  <a:cubicBezTo>
                    <a:pt x="0" y="22987"/>
                    <a:pt x="22987" y="0"/>
                    <a:pt x="51435" y="0"/>
                  </a:cubicBezTo>
                  <a:lnTo>
                    <a:pt x="21934678" y="0"/>
                  </a:lnTo>
                  <a:cubicBezTo>
                    <a:pt x="21962999" y="0"/>
                    <a:pt x="21986114" y="22987"/>
                    <a:pt x="21986114" y="51435"/>
                  </a:cubicBezTo>
                  <a:lnTo>
                    <a:pt x="21986114" y="1156081"/>
                  </a:lnTo>
                  <a:cubicBezTo>
                    <a:pt x="21986114" y="1184402"/>
                    <a:pt x="21963126" y="1207516"/>
                    <a:pt x="21934678" y="1207516"/>
                  </a:cubicBezTo>
                  <a:lnTo>
                    <a:pt x="51435" y="1207516"/>
                  </a:lnTo>
                  <a:cubicBezTo>
                    <a:pt x="22987" y="1207516"/>
                    <a:pt x="0" y="1184529"/>
                    <a:pt x="0" y="1156081"/>
                  </a:cubicBezTo>
                  <a:close/>
                </a:path>
              </a:pathLst>
            </a:custGeom>
            <a:solidFill>
              <a:srgbClr val="2D3440"/>
            </a:solidFill>
          </p:spPr>
        </p:sp>
      </p:grpSp>
      <p:grpSp>
        <p:nvGrpSpPr>
          <p:cNvPr id="18" name="Group 18"/>
          <p:cNvGrpSpPr/>
          <p:nvPr/>
        </p:nvGrpSpPr>
        <p:grpSpPr>
          <a:xfrm>
            <a:off x="886416" y="5762330"/>
            <a:ext cx="16515159" cy="905618"/>
            <a:chOff x="0" y="0"/>
            <a:chExt cx="22020212" cy="1207491"/>
          </a:xfrm>
        </p:grpSpPr>
        <p:sp>
          <p:nvSpPr>
            <p:cNvPr id="19" name="Freeform 19"/>
            <p:cNvSpPr/>
            <p:nvPr/>
          </p:nvSpPr>
          <p:spPr>
            <a:xfrm>
              <a:off x="0" y="0"/>
              <a:ext cx="22020276" cy="1207516"/>
            </a:xfrm>
            <a:custGeom>
              <a:avLst/>
              <a:gdLst/>
              <a:ahLst/>
              <a:cxnLst/>
              <a:rect l="l" t="t" r="r" b="b"/>
              <a:pathLst>
                <a:path w="22020276" h="1207516">
                  <a:moveTo>
                    <a:pt x="0" y="51435"/>
                  </a:moveTo>
                  <a:cubicBezTo>
                    <a:pt x="0" y="22987"/>
                    <a:pt x="22987" y="0"/>
                    <a:pt x="51435" y="0"/>
                  </a:cubicBezTo>
                  <a:lnTo>
                    <a:pt x="21968840" y="0"/>
                  </a:lnTo>
                  <a:cubicBezTo>
                    <a:pt x="21997161" y="0"/>
                    <a:pt x="22020276" y="22987"/>
                    <a:pt x="22020276" y="51435"/>
                  </a:cubicBezTo>
                  <a:lnTo>
                    <a:pt x="22020276" y="1156081"/>
                  </a:lnTo>
                  <a:cubicBezTo>
                    <a:pt x="22020276" y="1184402"/>
                    <a:pt x="21997288" y="1207516"/>
                    <a:pt x="21968840" y="1207516"/>
                  </a:cubicBezTo>
                  <a:lnTo>
                    <a:pt x="51435" y="1207516"/>
                  </a:lnTo>
                  <a:cubicBezTo>
                    <a:pt x="22987" y="1207516"/>
                    <a:pt x="0" y="1184529"/>
                    <a:pt x="0" y="1156081"/>
                  </a:cubicBezTo>
                  <a:close/>
                </a:path>
              </a:pathLst>
            </a:custGeom>
            <a:solidFill>
              <a:srgbClr val="2D3440"/>
            </a:solidFill>
          </p:spPr>
        </p:sp>
      </p:grpSp>
      <p:sp>
        <p:nvSpPr>
          <p:cNvPr id="20" name="TextBox 20"/>
          <p:cNvSpPr txBox="1"/>
          <p:nvPr/>
        </p:nvSpPr>
        <p:spPr>
          <a:xfrm>
            <a:off x="1207589" y="5914434"/>
            <a:ext cx="15872822" cy="496643"/>
          </a:xfrm>
          <a:prstGeom prst="rect">
            <a:avLst/>
          </a:prstGeom>
        </p:spPr>
        <p:txBody>
          <a:bodyPr lIns="0" tIns="0" rIns="0" bIns="0" rtlCol="0" anchor="t">
            <a:spAutoFit/>
          </a:bodyPr>
          <a:lstStyle/>
          <a:p>
            <a:pPr algn="l">
              <a:lnSpc>
                <a:spcPts val="3062"/>
              </a:lnSpc>
            </a:pPr>
            <a:r>
              <a:rPr lang="en-US" sz="2000">
                <a:solidFill>
                  <a:srgbClr val="D6E5EF"/>
                </a:solidFill>
                <a:latin typeface="Consolas"/>
                <a:ea typeface="Consolas"/>
                <a:cs typeface="Consolas"/>
                <a:sym typeface="Consolas"/>
              </a:rPr>
              <a:t>AIIntent intent = detectIntent(question);</a:t>
            </a:r>
          </a:p>
        </p:txBody>
      </p:sp>
      <p:sp>
        <p:nvSpPr>
          <p:cNvPr id="21" name="TextBox 21"/>
          <p:cNvSpPr txBox="1"/>
          <p:nvPr/>
        </p:nvSpPr>
        <p:spPr>
          <a:xfrm>
            <a:off x="899217" y="6853685"/>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Here, I perform intent detection. The system analyzes the user's question and determines what kind of data is required.</a:t>
            </a:r>
          </a:p>
        </p:txBody>
      </p:sp>
      <p:sp>
        <p:nvSpPr>
          <p:cNvPr id="22" name="TextBox 22"/>
          <p:cNvSpPr txBox="1"/>
          <p:nvPr/>
        </p:nvSpPr>
        <p:spPr>
          <a:xfrm>
            <a:off x="899217" y="7507491"/>
            <a:ext cx="16489566" cy="468068"/>
          </a:xfrm>
          <a:prstGeom prst="rect">
            <a:avLst/>
          </a:prstGeom>
        </p:spPr>
        <p:txBody>
          <a:bodyPr lIns="0" tIns="0" rIns="0" bIns="0" rtlCol="0" anchor="t">
            <a:spAutoFit/>
          </a:bodyPr>
          <a:lstStyle/>
          <a:p>
            <a:pPr algn="l">
              <a:lnSpc>
                <a:spcPts val="3062"/>
              </a:lnSpc>
            </a:pPr>
            <a:r>
              <a:rPr lang="en-US" sz="2000">
                <a:solidFill>
                  <a:srgbClr val="D6E5EF"/>
                </a:solidFill>
                <a:latin typeface="Roboto"/>
                <a:ea typeface="Roboto"/>
                <a:cs typeface="Roboto"/>
                <a:sym typeface="Roboto"/>
              </a:rPr>
              <a:t>For example, it checks whether the user needs:</a:t>
            </a:r>
          </a:p>
        </p:txBody>
      </p:sp>
      <p:sp>
        <p:nvSpPr>
          <p:cNvPr id="23" name="TextBox 23"/>
          <p:cNvSpPr txBox="1"/>
          <p:nvPr/>
        </p:nvSpPr>
        <p:spPr>
          <a:xfrm>
            <a:off x="899217" y="8161287"/>
            <a:ext cx="16489566" cy="1414615"/>
          </a:xfrm>
          <a:prstGeom prst="rect">
            <a:avLst/>
          </a:prstGeom>
        </p:spPr>
        <p:txBody>
          <a:bodyPr lIns="0" tIns="0" rIns="0" bIns="0" rtlCol="0" anchor="t">
            <a:spAutoFit/>
          </a:bodyPr>
          <a:lstStyle/>
          <a:p>
            <a:pPr marL="301625" lvl="1" indent="-150812" algn="l">
              <a:lnSpc>
                <a:spcPts val="3062"/>
              </a:lnSpc>
              <a:buFont typeface="Arial"/>
              <a:buChar char="•"/>
            </a:pPr>
            <a:r>
              <a:rPr lang="en-US" sz="2000">
                <a:solidFill>
                  <a:srgbClr val="D6E5EF"/>
                </a:solidFill>
                <a:latin typeface="Roboto"/>
                <a:ea typeface="Roboto"/>
                <a:cs typeface="Roboto"/>
                <a:sym typeface="Roboto"/>
              </a:rPr>
              <a:t>personal financial data</a:t>
            </a:r>
          </a:p>
          <a:p>
            <a:pPr marL="301625" lvl="1" indent="-150812" algn="l">
              <a:lnSpc>
                <a:spcPts val="3062"/>
              </a:lnSpc>
              <a:buFont typeface="Arial"/>
              <a:buChar char="•"/>
            </a:pPr>
            <a:r>
              <a:rPr lang="en-US" sz="2000">
                <a:solidFill>
                  <a:srgbClr val="D6E5EF"/>
                </a:solidFill>
                <a:latin typeface="Roboto"/>
                <a:ea typeface="Roboto"/>
                <a:cs typeface="Roboto"/>
                <a:sym typeface="Roboto"/>
              </a:rPr>
              <a:t>market data</a:t>
            </a:r>
          </a:p>
          <a:p>
            <a:pPr marL="301625" lvl="1" indent="-150812" algn="l">
              <a:lnSpc>
                <a:spcPts val="3062"/>
              </a:lnSpc>
              <a:buFont typeface="Arial"/>
              <a:buChar char="•"/>
            </a:pPr>
            <a:r>
              <a:rPr lang="en-US" sz="2000">
                <a:solidFill>
                  <a:srgbClr val="D6E5EF"/>
                </a:solidFill>
                <a:latin typeface="Roboto"/>
                <a:ea typeface="Roboto"/>
                <a:cs typeface="Roboto"/>
                <a:sym typeface="Roboto"/>
              </a:rPr>
              <a:t>or both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807521" y="652310"/>
            <a:ext cx="9758210" cy="674046"/>
          </a:xfrm>
          <a:prstGeom prst="rect">
            <a:avLst/>
          </a:prstGeom>
        </p:spPr>
        <p:txBody>
          <a:bodyPr lIns="0" tIns="0" rIns="0" bIns="0" rtlCol="0" anchor="t">
            <a:spAutoFit/>
          </a:bodyPr>
          <a:lstStyle/>
          <a:p>
            <a:pPr algn="l">
              <a:lnSpc>
                <a:spcPts val="5187"/>
              </a:lnSpc>
            </a:pPr>
            <a:r>
              <a:rPr lang="en-US" sz="4124">
                <a:solidFill>
                  <a:srgbClr val="76B9FF"/>
                </a:solidFill>
                <a:latin typeface="Roboto Slab"/>
                <a:ea typeface="Roboto Slab"/>
                <a:cs typeface="Roboto Slab"/>
                <a:sym typeface="Roboto Slab"/>
              </a:rPr>
              <a:t>Conditional Routing and AI Integration</a:t>
            </a:r>
          </a:p>
        </p:txBody>
      </p:sp>
      <p:grpSp>
        <p:nvGrpSpPr>
          <p:cNvPr id="7" name="Group 7"/>
          <p:cNvGrpSpPr/>
          <p:nvPr/>
        </p:nvGrpSpPr>
        <p:grpSpPr>
          <a:xfrm>
            <a:off x="1807521" y="1645291"/>
            <a:ext cx="14672815" cy="722709"/>
            <a:chOff x="0" y="0"/>
            <a:chExt cx="19563753" cy="963612"/>
          </a:xfrm>
        </p:grpSpPr>
        <p:sp>
          <p:nvSpPr>
            <p:cNvPr id="8" name="Freeform 8"/>
            <p:cNvSpPr/>
            <p:nvPr/>
          </p:nvSpPr>
          <p:spPr>
            <a:xfrm>
              <a:off x="0" y="0"/>
              <a:ext cx="19563714" cy="963676"/>
            </a:xfrm>
            <a:custGeom>
              <a:avLst/>
              <a:gdLst/>
              <a:ahLst/>
              <a:cxnLst/>
              <a:rect l="l" t="t" r="r" b="b"/>
              <a:pathLst>
                <a:path w="19563714" h="963676">
                  <a:moveTo>
                    <a:pt x="0" y="42545"/>
                  </a:moveTo>
                  <a:cubicBezTo>
                    <a:pt x="0" y="19050"/>
                    <a:pt x="19050" y="0"/>
                    <a:pt x="42545" y="0"/>
                  </a:cubicBezTo>
                  <a:lnTo>
                    <a:pt x="19521170" y="0"/>
                  </a:lnTo>
                  <a:cubicBezTo>
                    <a:pt x="19544664" y="0"/>
                    <a:pt x="19563714" y="19050"/>
                    <a:pt x="19563714" y="42545"/>
                  </a:cubicBezTo>
                  <a:lnTo>
                    <a:pt x="19563714" y="921131"/>
                  </a:lnTo>
                  <a:cubicBezTo>
                    <a:pt x="19563714" y="944626"/>
                    <a:pt x="19544664" y="963676"/>
                    <a:pt x="19521170" y="963676"/>
                  </a:cubicBezTo>
                  <a:lnTo>
                    <a:pt x="42545" y="963676"/>
                  </a:lnTo>
                  <a:cubicBezTo>
                    <a:pt x="19050" y="963676"/>
                    <a:pt x="0" y="944626"/>
                    <a:pt x="0" y="921131"/>
                  </a:cubicBezTo>
                  <a:close/>
                </a:path>
              </a:pathLst>
            </a:custGeom>
            <a:solidFill>
              <a:srgbClr val="2D3440"/>
            </a:solidFill>
          </p:spPr>
        </p:sp>
      </p:grpSp>
      <p:grpSp>
        <p:nvGrpSpPr>
          <p:cNvPr id="9" name="Group 9"/>
          <p:cNvGrpSpPr/>
          <p:nvPr/>
        </p:nvGrpSpPr>
        <p:grpSpPr>
          <a:xfrm>
            <a:off x="1796948" y="1645291"/>
            <a:ext cx="14693951" cy="722709"/>
            <a:chOff x="0" y="0"/>
            <a:chExt cx="19591934" cy="963612"/>
          </a:xfrm>
        </p:grpSpPr>
        <p:sp>
          <p:nvSpPr>
            <p:cNvPr id="10" name="Freeform 10"/>
            <p:cNvSpPr/>
            <p:nvPr/>
          </p:nvSpPr>
          <p:spPr>
            <a:xfrm>
              <a:off x="0" y="0"/>
              <a:ext cx="19591908" cy="963676"/>
            </a:xfrm>
            <a:custGeom>
              <a:avLst/>
              <a:gdLst/>
              <a:ahLst/>
              <a:cxnLst/>
              <a:rect l="l" t="t" r="r" b="b"/>
              <a:pathLst>
                <a:path w="19591908" h="963676">
                  <a:moveTo>
                    <a:pt x="0" y="42545"/>
                  </a:moveTo>
                  <a:cubicBezTo>
                    <a:pt x="0" y="19050"/>
                    <a:pt x="19050" y="0"/>
                    <a:pt x="42545" y="0"/>
                  </a:cubicBezTo>
                  <a:lnTo>
                    <a:pt x="19549363" y="0"/>
                  </a:lnTo>
                  <a:cubicBezTo>
                    <a:pt x="19572858" y="0"/>
                    <a:pt x="19591908" y="19050"/>
                    <a:pt x="19591908" y="42545"/>
                  </a:cubicBezTo>
                  <a:lnTo>
                    <a:pt x="19591908" y="921131"/>
                  </a:lnTo>
                  <a:cubicBezTo>
                    <a:pt x="19591908" y="944626"/>
                    <a:pt x="19572858" y="963676"/>
                    <a:pt x="19549363" y="963676"/>
                  </a:cubicBezTo>
                  <a:lnTo>
                    <a:pt x="42545" y="963676"/>
                  </a:lnTo>
                  <a:cubicBezTo>
                    <a:pt x="19050" y="963676"/>
                    <a:pt x="0" y="944626"/>
                    <a:pt x="0" y="921131"/>
                  </a:cubicBezTo>
                  <a:close/>
                </a:path>
              </a:pathLst>
            </a:custGeom>
            <a:solidFill>
              <a:srgbClr val="2D3440"/>
            </a:solidFill>
          </p:spPr>
        </p:sp>
      </p:grpSp>
      <p:sp>
        <p:nvSpPr>
          <p:cNvPr id="11" name="TextBox 11"/>
          <p:cNvSpPr txBox="1"/>
          <p:nvPr/>
        </p:nvSpPr>
        <p:spPr>
          <a:xfrm>
            <a:off x="2062753" y="1791148"/>
            <a:ext cx="14162332" cy="364331"/>
          </a:xfrm>
          <a:prstGeom prst="rect">
            <a:avLst/>
          </a:prstGeom>
        </p:spPr>
        <p:txBody>
          <a:bodyPr lIns="0" tIns="0" rIns="0" bIns="0" rtlCol="0" anchor="t">
            <a:spAutoFit/>
          </a:bodyPr>
          <a:lstStyle/>
          <a:p>
            <a:pPr algn="l">
              <a:lnSpc>
                <a:spcPts val="2312"/>
              </a:lnSpc>
            </a:pPr>
            <a:r>
              <a:rPr lang="en-US" sz="1625">
                <a:solidFill>
                  <a:srgbClr val="D6E5EF"/>
                </a:solidFill>
                <a:latin typeface="Consolas"/>
                <a:ea typeface="Consolas"/>
                <a:cs typeface="Consolas"/>
                <a:sym typeface="Consolas"/>
              </a:rPr>
              <a:t>if (intent.isNeedsMarketData()) { marketService.getMarketNews(); }</a:t>
            </a:r>
          </a:p>
        </p:txBody>
      </p:sp>
      <p:sp>
        <p:nvSpPr>
          <p:cNvPr id="12" name="TextBox 12"/>
          <p:cNvSpPr txBox="1"/>
          <p:nvPr/>
        </p:nvSpPr>
        <p:spPr>
          <a:xfrm>
            <a:off x="1807521" y="2499722"/>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Based on the detected intent, the system dynamically decides which APIs to call. For example, if market data is required, it calls the Finnhub API.</a:t>
            </a:r>
          </a:p>
        </p:txBody>
      </p:sp>
      <p:sp>
        <p:nvSpPr>
          <p:cNvPr id="13" name="TextBox 13"/>
          <p:cNvSpPr txBox="1"/>
          <p:nvPr/>
        </p:nvSpPr>
        <p:spPr>
          <a:xfrm>
            <a:off x="1807521" y="2976715"/>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This is called conditional API routing, where the backend intelligently chooses the data source instead of making unnecessary API calls.</a:t>
            </a:r>
          </a:p>
        </p:txBody>
      </p:sp>
      <p:grpSp>
        <p:nvGrpSpPr>
          <p:cNvPr id="14" name="Group 14"/>
          <p:cNvGrpSpPr/>
          <p:nvPr/>
        </p:nvGrpSpPr>
        <p:grpSpPr>
          <a:xfrm>
            <a:off x="1807521" y="3501333"/>
            <a:ext cx="14672815" cy="722709"/>
            <a:chOff x="0" y="0"/>
            <a:chExt cx="19563753" cy="963612"/>
          </a:xfrm>
        </p:grpSpPr>
        <p:sp>
          <p:nvSpPr>
            <p:cNvPr id="15" name="Freeform 15"/>
            <p:cNvSpPr/>
            <p:nvPr/>
          </p:nvSpPr>
          <p:spPr>
            <a:xfrm>
              <a:off x="0" y="0"/>
              <a:ext cx="19563714" cy="963676"/>
            </a:xfrm>
            <a:custGeom>
              <a:avLst/>
              <a:gdLst/>
              <a:ahLst/>
              <a:cxnLst/>
              <a:rect l="l" t="t" r="r" b="b"/>
              <a:pathLst>
                <a:path w="19563714" h="963676">
                  <a:moveTo>
                    <a:pt x="0" y="42545"/>
                  </a:moveTo>
                  <a:cubicBezTo>
                    <a:pt x="0" y="19050"/>
                    <a:pt x="19050" y="0"/>
                    <a:pt x="42545" y="0"/>
                  </a:cubicBezTo>
                  <a:lnTo>
                    <a:pt x="19521170" y="0"/>
                  </a:lnTo>
                  <a:cubicBezTo>
                    <a:pt x="19544664" y="0"/>
                    <a:pt x="19563714" y="19050"/>
                    <a:pt x="19563714" y="42545"/>
                  </a:cubicBezTo>
                  <a:lnTo>
                    <a:pt x="19563714" y="921131"/>
                  </a:lnTo>
                  <a:cubicBezTo>
                    <a:pt x="19563714" y="944626"/>
                    <a:pt x="19544664" y="963676"/>
                    <a:pt x="19521170" y="963676"/>
                  </a:cubicBezTo>
                  <a:lnTo>
                    <a:pt x="42545" y="963676"/>
                  </a:lnTo>
                  <a:cubicBezTo>
                    <a:pt x="19050" y="963676"/>
                    <a:pt x="0" y="944626"/>
                    <a:pt x="0" y="921131"/>
                  </a:cubicBezTo>
                  <a:close/>
                </a:path>
              </a:pathLst>
            </a:custGeom>
            <a:solidFill>
              <a:srgbClr val="2D3440"/>
            </a:solidFill>
          </p:spPr>
        </p:sp>
      </p:grpSp>
      <p:grpSp>
        <p:nvGrpSpPr>
          <p:cNvPr id="16" name="Group 16"/>
          <p:cNvGrpSpPr/>
          <p:nvPr/>
        </p:nvGrpSpPr>
        <p:grpSpPr>
          <a:xfrm>
            <a:off x="1796948" y="3501333"/>
            <a:ext cx="14693951" cy="722709"/>
            <a:chOff x="0" y="0"/>
            <a:chExt cx="19591934" cy="963612"/>
          </a:xfrm>
        </p:grpSpPr>
        <p:sp>
          <p:nvSpPr>
            <p:cNvPr id="17" name="Freeform 17"/>
            <p:cNvSpPr/>
            <p:nvPr/>
          </p:nvSpPr>
          <p:spPr>
            <a:xfrm>
              <a:off x="0" y="0"/>
              <a:ext cx="19591908" cy="963676"/>
            </a:xfrm>
            <a:custGeom>
              <a:avLst/>
              <a:gdLst/>
              <a:ahLst/>
              <a:cxnLst/>
              <a:rect l="l" t="t" r="r" b="b"/>
              <a:pathLst>
                <a:path w="19591908" h="963676">
                  <a:moveTo>
                    <a:pt x="0" y="42545"/>
                  </a:moveTo>
                  <a:cubicBezTo>
                    <a:pt x="0" y="19050"/>
                    <a:pt x="19050" y="0"/>
                    <a:pt x="42545" y="0"/>
                  </a:cubicBezTo>
                  <a:lnTo>
                    <a:pt x="19549363" y="0"/>
                  </a:lnTo>
                  <a:cubicBezTo>
                    <a:pt x="19572858" y="0"/>
                    <a:pt x="19591908" y="19050"/>
                    <a:pt x="19591908" y="42545"/>
                  </a:cubicBezTo>
                  <a:lnTo>
                    <a:pt x="19591908" y="921131"/>
                  </a:lnTo>
                  <a:cubicBezTo>
                    <a:pt x="19591908" y="944626"/>
                    <a:pt x="19572858" y="963676"/>
                    <a:pt x="19549363" y="963676"/>
                  </a:cubicBezTo>
                  <a:lnTo>
                    <a:pt x="42545" y="963676"/>
                  </a:lnTo>
                  <a:cubicBezTo>
                    <a:pt x="19050" y="963676"/>
                    <a:pt x="0" y="944626"/>
                    <a:pt x="0" y="921131"/>
                  </a:cubicBezTo>
                  <a:close/>
                </a:path>
              </a:pathLst>
            </a:custGeom>
            <a:solidFill>
              <a:srgbClr val="2D3440"/>
            </a:solidFill>
          </p:spPr>
        </p:sp>
      </p:grpSp>
      <p:sp>
        <p:nvSpPr>
          <p:cNvPr id="18" name="TextBox 18"/>
          <p:cNvSpPr txBox="1"/>
          <p:nvPr/>
        </p:nvSpPr>
        <p:spPr>
          <a:xfrm>
            <a:off x="2062753" y="3647180"/>
            <a:ext cx="14162332" cy="364331"/>
          </a:xfrm>
          <a:prstGeom prst="rect">
            <a:avLst/>
          </a:prstGeom>
        </p:spPr>
        <p:txBody>
          <a:bodyPr lIns="0" tIns="0" rIns="0" bIns="0" rtlCol="0" anchor="t">
            <a:spAutoFit/>
          </a:bodyPr>
          <a:lstStyle/>
          <a:p>
            <a:pPr algn="l">
              <a:lnSpc>
                <a:spcPts val="2312"/>
              </a:lnSpc>
            </a:pPr>
            <a:r>
              <a:rPr lang="en-US" sz="1625">
                <a:solidFill>
                  <a:srgbClr val="FF7B72"/>
                </a:solidFill>
                <a:latin typeface="Consolas"/>
                <a:ea typeface="Consolas"/>
                <a:cs typeface="Consolas"/>
                <a:sym typeface="Consolas"/>
              </a:rPr>
              <a:t>URL url = new URL("https://finnhub.io/api/v1/news?category=general&amp;token=" + apiKey);</a:t>
            </a:r>
          </a:p>
        </p:txBody>
      </p:sp>
      <p:sp>
        <p:nvSpPr>
          <p:cNvPr id="19" name="TextBox 19"/>
          <p:cNvSpPr txBox="1"/>
          <p:nvPr/>
        </p:nvSpPr>
        <p:spPr>
          <a:xfrm>
            <a:off x="1807521" y="4355754"/>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This is how I call the Finnhub API using an HTTP GET request to fetch real-time market news.</a:t>
            </a:r>
          </a:p>
        </p:txBody>
      </p:sp>
      <p:sp>
        <p:nvSpPr>
          <p:cNvPr id="20" name="TextBox 20"/>
          <p:cNvSpPr txBox="1"/>
          <p:nvPr/>
        </p:nvSpPr>
        <p:spPr>
          <a:xfrm>
            <a:off x="1807521" y="4832747"/>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After collecting all required data, the system sends it to the OpenRouter API for AI processing.</a:t>
            </a:r>
          </a:p>
        </p:txBody>
      </p:sp>
      <p:sp>
        <p:nvSpPr>
          <p:cNvPr id="21" name="TextBox 21"/>
          <p:cNvSpPr txBox="1"/>
          <p:nvPr/>
        </p:nvSpPr>
        <p:spPr>
          <a:xfrm>
            <a:off x="1807521" y="5309740"/>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The request includes:</a:t>
            </a:r>
          </a:p>
        </p:txBody>
      </p:sp>
      <p:sp>
        <p:nvSpPr>
          <p:cNvPr id="22" name="TextBox 22"/>
          <p:cNvSpPr txBox="1"/>
          <p:nvPr/>
        </p:nvSpPr>
        <p:spPr>
          <a:xfrm>
            <a:off x="1807521" y="5786733"/>
            <a:ext cx="14672815" cy="1052217"/>
          </a:xfrm>
          <a:prstGeom prst="rect">
            <a:avLst/>
          </a:prstGeom>
        </p:spPr>
        <p:txBody>
          <a:bodyPr lIns="0" tIns="0" rIns="0" bIns="0" rtlCol="0" anchor="t">
            <a:spAutoFit/>
          </a:bodyPr>
          <a:lstStyle/>
          <a:p>
            <a:pPr marL="245070" lvl="1" indent="-122535" algn="l">
              <a:lnSpc>
                <a:spcPts val="2312"/>
              </a:lnSpc>
              <a:buFont typeface="Arial"/>
              <a:buChar char="•"/>
            </a:pPr>
            <a:r>
              <a:rPr lang="en-US" sz="1625">
                <a:solidFill>
                  <a:srgbClr val="D6E5EF"/>
                </a:solidFill>
                <a:latin typeface="Roboto"/>
                <a:ea typeface="Roboto"/>
                <a:cs typeface="Roboto"/>
                <a:sym typeface="Roboto"/>
              </a:rPr>
              <a:t>user question</a:t>
            </a:r>
          </a:p>
          <a:p>
            <a:pPr marL="245070" lvl="1" indent="-122535" algn="l">
              <a:lnSpc>
                <a:spcPts val="2312"/>
              </a:lnSpc>
              <a:buFont typeface="Arial"/>
              <a:buChar char="•"/>
            </a:pPr>
            <a:r>
              <a:rPr lang="en-US" sz="1625">
                <a:solidFill>
                  <a:srgbClr val="D6E5EF"/>
                </a:solidFill>
                <a:latin typeface="Roboto"/>
                <a:ea typeface="Roboto"/>
                <a:cs typeface="Roboto"/>
                <a:sym typeface="Roboto"/>
              </a:rPr>
              <a:t>financial data</a:t>
            </a:r>
          </a:p>
          <a:p>
            <a:pPr marL="245070" lvl="1" indent="-122535" algn="l">
              <a:lnSpc>
                <a:spcPts val="2312"/>
              </a:lnSpc>
              <a:buFont typeface="Arial"/>
              <a:buChar char="•"/>
            </a:pPr>
            <a:r>
              <a:rPr lang="en-US" sz="1625">
                <a:solidFill>
                  <a:srgbClr val="D6E5EF"/>
                </a:solidFill>
                <a:latin typeface="Roboto"/>
                <a:ea typeface="Roboto"/>
                <a:cs typeface="Roboto"/>
                <a:sym typeface="Roboto"/>
              </a:rPr>
              <a:t>market data</a:t>
            </a:r>
          </a:p>
        </p:txBody>
      </p:sp>
      <p:sp>
        <p:nvSpPr>
          <p:cNvPr id="23" name="TextBox 23"/>
          <p:cNvSpPr txBox="1"/>
          <p:nvPr/>
        </p:nvSpPr>
        <p:spPr>
          <a:xfrm>
            <a:off x="1807521" y="6970662"/>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The AI then generates a meaningful financial response.</a:t>
            </a:r>
          </a:p>
        </p:txBody>
      </p:sp>
      <p:sp>
        <p:nvSpPr>
          <p:cNvPr id="24" name="TextBox 24"/>
          <p:cNvSpPr txBox="1"/>
          <p:nvPr/>
        </p:nvSpPr>
        <p:spPr>
          <a:xfrm>
            <a:off x="1807521" y="7447655"/>
            <a:ext cx="14672815" cy="345281"/>
          </a:xfrm>
          <a:prstGeom prst="rect">
            <a:avLst/>
          </a:prstGeom>
        </p:spPr>
        <p:txBody>
          <a:bodyPr lIns="0" tIns="0" rIns="0" bIns="0" rtlCol="0" anchor="t">
            <a:spAutoFit/>
          </a:bodyPr>
          <a:lstStyle/>
          <a:p>
            <a:pPr algn="l">
              <a:lnSpc>
                <a:spcPts val="2312"/>
              </a:lnSpc>
            </a:pPr>
            <a:r>
              <a:rPr lang="en-US" sz="1625">
                <a:solidFill>
                  <a:srgbClr val="D6E5EF"/>
                </a:solidFill>
                <a:latin typeface="Roboto"/>
                <a:ea typeface="Roboto"/>
                <a:cs typeface="Roboto"/>
                <a:sym typeface="Roboto"/>
              </a:rPr>
              <a:t>Finally, the AI-generated response is returned to the frontend, where it is displayed to the user.</a:t>
            </a:r>
          </a:p>
        </p:txBody>
      </p:sp>
      <p:grpSp>
        <p:nvGrpSpPr>
          <p:cNvPr id="25" name="Group 25"/>
          <p:cNvGrpSpPr/>
          <p:nvPr/>
        </p:nvGrpSpPr>
        <p:grpSpPr>
          <a:xfrm>
            <a:off x="1807521" y="7972273"/>
            <a:ext cx="14672815" cy="1652883"/>
            <a:chOff x="0" y="0"/>
            <a:chExt cx="19563753" cy="2203844"/>
          </a:xfrm>
        </p:grpSpPr>
        <p:sp>
          <p:nvSpPr>
            <p:cNvPr id="26" name="Freeform 26"/>
            <p:cNvSpPr/>
            <p:nvPr/>
          </p:nvSpPr>
          <p:spPr>
            <a:xfrm>
              <a:off x="0" y="0"/>
              <a:ext cx="19563714" cy="2203831"/>
            </a:xfrm>
            <a:custGeom>
              <a:avLst/>
              <a:gdLst/>
              <a:ahLst/>
              <a:cxnLst/>
              <a:rect l="l" t="t" r="r" b="b"/>
              <a:pathLst>
                <a:path w="19563714" h="2203831">
                  <a:moveTo>
                    <a:pt x="0" y="42545"/>
                  </a:moveTo>
                  <a:cubicBezTo>
                    <a:pt x="0" y="19050"/>
                    <a:pt x="19050" y="0"/>
                    <a:pt x="42545" y="0"/>
                  </a:cubicBezTo>
                  <a:lnTo>
                    <a:pt x="19521170" y="0"/>
                  </a:lnTo>
                  <a:cubicBezTo>
                    <a:pt x="19544664" y="0"/>
                    <a:pt x="19563714" y="19050"/>
                    <a:pt x="19563714" y="42545"/>
                  </a:cubicBezTo>
                  <a:lnTo>
                    <a:pt x="19563714" y="2161286"/>
                  </a:lnTo>
                  <a:cubicBezTo>
                    <a:pt x="19563714" y="2184781"/>
                    <a:pt x="19544664" y="2203831"/>
                    <a:pt x="19521170" y="2203831"/>
                  </a:cubicBezTo>
                  <a:lnTo>
                    <a:pt x="42545" y="2203831"/>
                  </a:lnTo>
                  <a:cubicBezTo>
                    <a:pt x="19050" y="2203831"/>
                    <a:pt x="0" y="2184781"/>
                    <a:pt x="0" y="2161286"/>
                  </a:cubicBezTo>
                  <a:close/>
                </a:path>
              </a:pathLst>
            </a:custGeom>
            <a:solidFill>
              <a:srgbClr val="022349"/>
            </a:solidFill>
          </p:spPr>
        </p:sp>
      </p:grpSp>
      <p:grpSp>
        <p:nvGrpSpPr>
          <p:cNvPr id="27" name="Group 27"/>
          <p:cNvGrpSpPr/>
          <p:nvPr/>
        </p:nvGrpSpPr>
        <p:grpSpPr>
          <a:xfrm>
            <a:off x="2020043" y="8270977"/>
            <a:ext cx="265805" cy="212522"/>
            <a:chOff x="0" y="0"/>
            <a:chExt cx="354406" cy="283362"/>
          </a:xfrm>
        </p:grpSpPr>
        <p:sp>
          <p:nvSpPr>
            <p:cNvPr id="28" name="Freeform 28" descr="preencoded.png"/>
            <p:cNvSpPr/>
            <p:nvPr/>
          </p:nvSpPr>
          <p:spPr>
            <a:xfrm>
              <a:off x="0" y="0"/>
              <a:ext cx="354457" cy="283337"/>
            </a:xfrm>
            <a:custGeom>
              <a:avLst/>
              <a:gdLst/>
              <a:ahLst/>
              <a:cxnLst/>
              <a:rect l="l" t="t" r="r" b="b"/>
              <a:pathLst>
                <a:path w="354457" h="283337">
                  <a:moveTo>
                    <a:pt x="0" y="0"/>
                  </a:moveTo>
                  <a:lnTo>
                    <a:pt x="354457" y="0"/>
                  </a:lnTo>
                  <a:lnTo>
                    <a:pt x="354457" y="283337"/>
                  </a:lnTo>
                  <a:lnTo>
                    <a:pt x="0" y="283337"/>
                  </a:lnTo>
                  <a:lnTo>
                    <a:pt x="0" y="0"/>
                  </a:lnTo>
                  <a:close/>
                </a:path>
              </a:pathLst>
            </a:custGeom>
            <a:blipFill>
              <a:blip r:embed="rId3"/>
              <a:stretch>
                <a:fillRect l="-881" r="-867" b="-8"/>
              </a:stretch>
            </a:blipFill>
          </p:spPr>
        </p:sp>
      </p:grpSp>
      <p:sp>
        <p:nvSpPr>
          <p:cNvPr id="29" name="TextBox 29"/>
          <p:cNvSpPr txBox="1"/>
          <p:nvPr/>
        </p:nvSpPr>
        <p:spPr>
          <a:xfrm>
            <a:off x="2498379" y="8137179"/>
            <a:ext cx="13769426" cy="1238250"/>
          </a:xfrm>
          <a:prstGeom prst="rect">
            <a:avLst/>
          </a:prstGeom>
        </p:spPr>
        <p:txBody>
          <a:bodyPr lIns="0" tIns="0" rIns="0" bIns="0" rtlCol="0" anchor="t">
            <a:spAutoFit/>
          </a:bodyPr>
          <a:lstStyle/>
          <a:p>
            <a:pPr algn="l">
              <a:lnSpc>
                <a:spcPts val="2312"/>
              </a:lnSpc>
            </a:pPr>
            <a:r>
              <a:rPr lang="en-US" sz="1625">
                <a:solidFill>
                  <a:srgbClr val="FFFFFF"/>
                </a:solidFill>
                <a:latin typeface="Roboto"/>
                <a:ea typeface="Roboto"/>
                <a:cs typeface="Roboto"/>
                <a:sym typeface="Roboto"/>
              </a:rPr>
              <a:t> So overall, when a user registers, the system generates a token, sends an activation email via Brevo, and verifies the user through a secure link. After activation, when the user asks a question, the backend performs intent detection, decides which data sources are required, fetches data from the database and external APIs like Finnhub, and then sends everything to the OpenRouter AI API. The AI generates a response, which is returned to the user. So the system acts as an intelligent layer between the user and multiple services.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8" y="3373193"/>
            <a:ext cx="9445523" cy="1790995"/>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Frontend Implementation &amp; User Experience</a:t>
            </a:r>
          </a:p>
        </p:txBody>
      </p:sp>
      <p:sp>
        <p:nvSpPr>
          <p:cNvPr id="9" name="TextBox 9"/>
          <p:cNvSpPr txBox="1"/>
          <p:nvPr/>
        </p:nvSpPr>
        <p:spPr>
          <a:xfrm>
            <a:off x="7850238" y="5494134"/>
            <a:ext cx="9445523" cy="548878"/>
          </a:xfrm>
          <a:prstGeom prst="rect">
            <a:avLst/>
          </a:prstGeom>
        </p:spPr>
        <p:txBody>
          <a:bodyPr lIns="0" tIns="0" rIns="0" bIns="0" rtlCol="0" anchor="t">
            <a:spAutoFit/>
          </a:bodyPr>
          <a:lstStyle/>
          <a:p>
            <a:pPr algn="l">
              <a:lnSpc>
                <a:spcPts val="3562"/>
              </a:lnSpc>
            </a:pPr>
            <a:r>
              <a:rPr lang="en-US" sz="2187" i="1">
                <a:solidFill>
                  <a:srgbClr val="D6E5EF"/>
                </a:solidFill>
                <a:latin typeface="Roboto Italics"/>
                <a:ea typeface="Roboto Italics"/>
                <a:cs typeface="Roboto Italics"/>
                <a:sym typeface="Roboto Italics"/>
              </a:rPr>
              <a:t>Finsight — Money Manager</a:t>
            </a:r>
          </a:p>
        </p:txBody>
      </p:sp>
      <p:grpSp>
        <p:nvGrpSpPr>
          <p:cNvPr id="10" name="Group 10"/>
          <p:cNvGrpSpPr/>
          <p:nvPr/>
        </p:nvGrpSpPr>
        <p:grpSpPr>
          <a:xfrm>
            <a:off x="7850238" y="6361957"/>
            <a:ext cx="4490142" cy="532809"/>
            <a:chOff x="0" y="0"/>
            <a:chExt cx="5986856" cy="710413"/>
          </a:xfrm>
        </p:grpSpPr>
        <p:sp>
          <p:nvSpPr>
            <p:cNvPr id="11" name="Freeform 11"/>
            <p:cNvSpPr/>
            <p:nvPr/>
          </p:nvSpPr>
          <p:spPr>
            <a:xfrm>
              <a:off x="0" y="0"/>
              <a:ext cx="5986780" cy="710438"/>
            </a:xfrm>
            <a:custGeom>
              <a:avLst/>
              <a:gdLst/>
              <a:ahLst/>
              <a:cxnLst/>
              <a:rect l="l" t="t" r="r" b="b"/>
              <a:pathLst>
                <a:path w="5986780" h="710438">
                  <a:moveTo>
                    <a:pt x="0" y="45339"/>
                  </a:moveTo>
                  <a:cubicBezTo>
                    <a:pt x="0" y="20320"/>
                    <a:pt x="20320" y="0"/>
                    <a:pt x="45339" y="0"/>
                  </a:cubicBezTo>
                  <a:lnTo>
                    <a:pt x="5941441" y="0"/>
                  </a:lnTo>
                  <a:cubicBezTo>
                    <a:pt x="5966460" y="0"/>
                    <a:pt x="5986780" y="20320"/>
                    <a:pt x="5986780" y="45339"/>
                  </a:cubicBezTo>
                  <a:lnTo>
                    <a:pt x="5986780" y="665099"/>
                  </a:lnTo>
                  <a:cubicBezTo>
                    <a:pt x="5986780" y="690118"/>
                    <a:pt x="5966460" y="710438"/>
                    <a:pt x="5941441" y="710438"/>
                  </a:cubicBezTo>
                  <a:lnTo>
                    <a:pt x="45339" y="710438"/>
                  </a:lnTo>
                  <a:cubicBezTo>
                    <a:pt x="20320" y="710438"/>
                    <a:pt x="0" y="690118"/>
                    <a:pt x="0" y="665099"/>
                  </a:cubicBezTo>
                  <a:close/>
                </a:path>
              </a:pathLst>
            </a:custGeom>
            <a:solidFill>
              <a:srgbClr val="082545"/>
            </a:solidFill>
          </p:spPr>
        </p:sp>
      </p:grpSp>
      <p:sp>
        <p:nvSpPr>
          <p:cNvPr id="12" name="TextBox 12"/>
          <p:cNvSpPr txBox="1"/>
          <p:nvPr/>
        </p:nvSpPr>
        <p:spPr>
          <a:xfrm>
            <a:off x="8360569" y="6370739"/>
            <a:ext cx="3809705" cy="439045"/>
          </a:xfrm>
          <a:prstGeom prst="rect">
            <a:avLst/>
          </a:prstGeom>
        </p:spPr>
        <p:txBody>
          <a:bodyPr lIns="0" tIns="0" rIns="0" bIns="0" rtlCol="0" anchor="t">
            <a:spAutoFit/>
          </a:bodyPr>
          <a:lstStyle/>
          <a:p>
            <a:pPr algn="l">
              <a:lnSpc>
                <a:spcPts val="2812"/>
              </a:lnSpc>
            </a:pPr>
            <a:r>
              <a:rPr lang="en-US" sz="1750">
                <a:solidFill>
                  <a:srgbClr val="D6E5EF"/>
                </a:solidFill>
                <a:latin typeface="Roboto"/>
                <a:ea typeface="Roboto"/>
                <a:cs typeface="Roboto"/>
                <a:sym typeface="Roboto"/>
              </a:rPr>
              <a:t>REACT · VITE · TAILWIND · RECHARTS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8" y="1399880"/>
            <a:ext cx="8074971"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What the Frontend Does</a:t>
            </a:r>
          </a:p>
        </p:txBody>
      </p:sp>
      <p:sp>
        <p:nvSpPr>
          <p:cNvPr id="9" name="TextBox 9"/>
          <p:cNvSpPr txBox="1"/>
          <p:nvPr/>
        </p:nvSpPr>
        <p:spPr>
          <a:xfrm>
            <a:off x="7850238" y="2634853"/>
            <a:ext cx="9445523" cy="1801391"/>
          </a:xfrm>
          <a:prstGeom prst="rect">
            <a:avLst/>
          </a:prstGeom>
        </p:spPr>
        <p:txBody>
          <a:bodyPr lIns="0" tIns="0" rIns="0" bIns="0" rtlCol="0" anchor="t">
            <a:spAutoFit/>
          </a:bodyPr>
          <a:lstStyle/>
          <a:p>
            <a:pPr algn="l">
              <a:lnSpc>
                <a:spcPts val="3562"/>
              </a:lnSpc>
            </a:pPr>
            <a:endParaRPr lang="en-US" sz="2187" dirty="0">
              <a:solidFill>
                <a:srgbClr val="D6E5EF"/>
              </a:solidFill>
              <a:latin typeface="Roboto"/>
              <a:ea typeface="Roboto"/>
              <a:cs typeface="Roboto"/>
              <a:sym typeface="Roboto"/>
            </a:endParaRPr>
          </a:p>
          <a:p>
            <a:pPr algn="l">
              <a:lnSpc>
                <a:spcPts val="3562"/>
              </a:lnSpc>
            </a:pPr>
            <a:r>
              <a:rPr lang="en-US" sz="2187" dirty="0">
                <a:solidFill>
                  <a:srgbClr val="D6E5EF"/>
                </a:solidFill>
                <a:latin typeface="Roboto"/>
                <a:ea typeface="Roboto"/>
                <a:cs typeface="Roboto"/>
                <a:sym typeface="Roboto"/>
              </a:rPr>
              <a:t>The frontend is where users meet </a:t>
            </a:r>
            <a:r>
              <a:rPr lang="en-US" sz="2187" dirty="0" err="1">
                <a:solidFill>
                  <a:srgbClr val="D6E5EF"/>
                </a:solidFill>
                <a:latin typeface="Roboto"/>
                <a:ea typeface="Roboto"/>
                <a:cs typeface="Roboto"/>
                <a:sym typeface="Roboto"/>
              </a:rPr>
              <a:t>Finsight</a:t>
            </a:r>
            <a:r>
              <a:rPr lang="en-US" sz="2187" dirty="0">
                <a:solidFill>
                  <a:srgbClr val="D6E5EF"/>
                </a:solidFill>
                <a:latin typeface="Roboto"/>
                <a:ea typeface="Roboto"/>
                <a:cs typeface="Roboto"/>
                <a:sym typeface="Roboto"/>
              </a:rPr>
              <a:t> — it transforms raw financial data into a clean, interactive experience. Built with modern web technologies, it handles all visual rendering, user interaction, and real-time data display.</a:t>
            </a:r>
          </a:p>
        </p:txBody>
      </p:sp>
      <p:grpSp>
        <p:nvGrpSpPr>
          <p:cNvPr id="10" name="Group 10"/>
          <p:cNvGrpSpPr/>
          <p:nvPr/>
        </p:nvGrpSpPr>
        <p:grpSpPr>
          <a:xfrm>
            <a:off x="7850238" y="4863551"/>
            <a:ext cx="4580934" cy="2087318"/>
            <a:chOff x="0" y="0"/>
            <a:chExt cx="6107913" cy="2783091"/>
          </a:xfrm>
        </p:grpSpPr>
        <p:sp>
          <p:nvSpPr>
            <p:cNvPr id="11" name="Freeform 11"/>
            <p:cNvSpPr/>
            <p:nvPr/>
          </p:nvSpPr>
          <p:spPr>
            <a:xfrm>
              <a:off x="0" y="0"/>
              <a:ext cx="6107938" cy="2783078"/>
            </a:xfrm>
            <a:custGeom>
              <a:avLst/>
              <a:gdLst/>
              <a:ahLst/>
              <a:cxnLst/>
              <a:rect l="l" t="t" r="r" b="b"/>
              <a:pathLst>
                <a:path w="6107938" h="2783078">
                  <a:moveTo>
                    <a:pt x="0" y="56769"/>
                  </a:moveTo>
                  <a:cubicBezTo>
                    <a:pt x="0" y="25400"/>
                    <a:pt x="25400" y="0"/>
                    <a:pt x="56769" y="0"/>
                  </a:cubicBezTo>
                  <a:lnTo>
                    <a:pt x="6051169" y="0"/>
                  </a:lnTo>
                  <a:cubicBezTo>
                    <a:pt x="6082538" y="0"/>
                    <a:pt x="6107938" y="25400"/>
                    <a:pt x="6107938" y="56769"/>
                  </a:cubicBezTo>
                  <a:lnTo>
                    <a:pt x="6107938" y="2726309"/>
                  </a:lnTo>
                  <a:cubicBezTo>
                    <a:pt x="6107938" y="2757678"/>
                    <a:pt x="6082538" y="2783078"/>
                    <a:pt x="6051169" y="2783078"/>
                  </a:cubicBezTo>
                  <a:lnTo>
                    <a:pt x="56769" y="2783078"/>
                  </a:lnTo>
                  <a:cubicBezTo>
                    <a:pt x="25400" y="2783078"/>
                    <a:pt x="0" y="2757678"/>
                    <a:pt x="0" y="2726309"/>
                  </a:cubicBezTo>
                  <a:close/>
                </a:path>
              </a:pathLst>
            </a:custGeom>
            <a:solidFill>
              <a:srgbClr val="3F4652"/>
            </a:solidFill>
          </p:spPr>
        </p:sp>
      </p:grpSp>
      <p:sp>
        <p:nvSpPr>
          <p:cNvPr id="12" name="TextBox 12"/>
          <p:cNvSpPr txBox="1"/>
          <p:nvPr/>
        </p:nvSpPr>
        <p:spPr>
          <a:xfrm>
            <a:off x="8133759" y="5128022"/>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Interface Layer</a:t>
            </a:r>
          </a:p>
        </p:txBody>
      </p:sp>
      <p:sp>
        <p:nvSpPr>
          <p:cNvPr id="13" name="TextBox 13"/>
          <p:cNvSpPr txBox="1"/>
          <p:nvPr/>
        </p:nvSpPr>
        <p:spPr>
          <a:xfrm>
            <a:off x="8133759" y="5664841"/>
            <a:ext cx="4013892"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Everything the user sees and touches</a:t>
            </a:r>
          </a:p>
        </p:txBody>
      </p:sp>
      <p:grpSp>
        <p:nvGrpSpPr>
          <p:cNvPr id="14" name="Group 14"/>
          <p:cNvGrpSpPr/>
          <p:nvPr/>
        </p:nvGrpSpPr>
        <p:grpSpPr>
          <a:xfrm>
            <a:off x="12714684" y="4863551"/>
            <a:ext cx="4581077" cy="2087318"/>
            <a:chOff x="0" y="0"/>
            <a:chExt cx="6108103" cy="2783091"/>
          </a:xfrm>
        </p:grpSpPr>
        <p:sp>
          <p:nvSpPr>
            <p:cNvPr id="15" name="Freeform 15"/>
            <p:cNvSpPr/>
            <p:nvPr/>
          </p:nvSpPr>
          <p:spPr>
            <a:xfrm>
              <a:off x="0" y="0"/>
              <a:ext cx="6108192" cy="2783078"/>
            </a:xfrm>
            <a:custGeom>
              <a:avLst/>
              <a:gdLst/>
              <a:ahLst/>
              <a:cxnLst/>
              <a:rect l="l" t="t" r="r" b="b"/>
              <a:pathLst>
                <a:path w="6108192" h="2783078">
                  <a:moveTo>
                    <a:pt x="0" y="56769"/>
                  </a:moveTo>
                  <a:cubicBezTo>
                    <a:pt x="0" y="25400"/>
                    <a:pt x="25400" y="0"/>
                    <a:pt x="56769" y="0"/>
                  </a:cubicBezTo>
                  <a:lnTo>
                    <a:pt x="6051423" y="0"/>
                  </a:lnTo>
                  <a:cubicBezTo>
                    <a:pt x="6082792" y="0"/>
                    <a:pt x="6108192" y="25400"/>
                    <a:pt x="6108192" y="56769"/>
                  </a:cubicBezTo>
                  <a:lnTo>
                    <a:pt x="6108192" y="2726309"/>
                  </a:lnTo>
                  <a:cubicBezTo>
                    <a:pt x="6108192" y="2757678"/>
                    <a:pt x="6082792" y="2783078"/>
                    <a:pt x="6051423" y="2783078"/>
                  </a:cubicBezTo>
                  <a:lnTo>
                    <a:pt x="56769" y="2783078"/>
                  </a:lnTo>
                  <a:cubicBezTo>
                    <a:pt x="25400" y="2783078"/>
                    <a:pt x="0" y="2757678"/>
                    <a:pt x="0" y="2726309"/>
                  </a:cubicBezTo>
                  <a:close/>
                </a:path>
              </a:pathLst>
            </a:custGeom>
            <a:solidFill>
              <a:srgbClr val="3F4652"/>
            </a:solidFill>
          </p:spPr>
        </p:sp>
      </p:grpSp>
      <p:sp>
        <p:nvSpPr>
          <p:cNvPr id="16" name="TextBox 16"/>
          <p:cNvSpPr txBox="1"/>
          <p:nvPr/>
        </p:nvSpPr>
        <p:spPr>
          <a:xfrm>
            <a:off x="12998206" y="5128022"/>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Interaction Engine</a:t>
            </a:r>
          </a:p>
        </p:txBody>
      </p:sp>
      <p:sp>
        <p:nvSpPr>
          <p:cNvPr id="17" name="TextBox 17"/>
          <p:cNvSpPr txBox="1"/>
          <p:nvPr/>
        </p:nvSpPr>
        <p:spPr>
          <a:xfrm>
            <a:off x="12998206" y="5664841"/>
            <a:ext cx="4014045"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Manages user actions and state changes</a:t>
            </a:r>
          </a:p>
        </p:txBody>
      </p:sp>
      <p:grpSp>
        <p:nvGrpSpPr>
          <p:cNvPr id="18" name="Group 18"/>
          <p:cNvGrpSpPr/>
          <p:nvPr/>
        </p:nvGrpSpPr>
        <p:grpSpPr>
          <a:xfrm>
            <a:off x="7850238" y="7234390"/>
            <a:ext cx="9445523" cy="1633690"/>
            <a:chOff x="0" y="0"/>
            <a:chExt cx="12594031" cy="2178253"/>
          </a:xfrm>
        </p:grpSpPr>
        <p:sp>
          <p:nvSpPr>
            <p:cNvPr id="19" name="Freeform 19"/>
            <p:cNvSpPr/>
            <p:nvPr/>
          </p:nvSpPr>
          <p:spPr>
            <a:xfrm>
              <a:off x="0" y="0"/>
              <a:ext cx="12593955" cy="2178177"/>
            </a:xfrm>
            <a:custGeom>
              <a:avLst/>
              <a:gdLst/>
              <a:ahLst/>
              <a:cxnLst/>
              <a:rect l="l" t="t" r="r" b="b"/>
              <a:pathLst>
                <a:path w="12593955" h="2178177">
                  <a:moveTo>
                    <a:pt x="0" y="56642"/>
                  </a:moveTo>
                  <a:cubicBezTo>
                    <a:pt x="0" y="25400"/>
                    <a:pt x="25400" y="0"/>
                    <a:pt x="56642" y="0"/>
                  </a:cubicBezTo>
                  <a:lnTo>
                    <a:pt x="12537313" y="0"/>
                  </a:lnTo>
                  <a:cubicBezTo>
                    <a:pt x="12568682" y="0"/>
                    <a:pt x="12593955" y="25400"/>
                    <a:pt x="12593955" y="56642"/>
                  </a:cubicBezTo>
                  <a:lnTo>
                    <a:pt x="12593955" y="2121535"/>
                  </a:lnTo>
                  <a:cubicBezTo>
                    <a:pt x="12593955" y="2152904"/>
                    <a:pt x="12568555" y="2178177"/>
                    <a:pt x="12537313" y="2178177"/>
                  </a:cubicBezTo>
                  <a:lnTo>
                    <a:pt x="56642" y="2178177"/>
                  </a:lnTo>
                  <a:cubicBezTo>
                    <a:pt x="25273" y="2178177"/>
                    <a:pt x="0" y="2152777"/>
                    <a:pt x="0" y="2121535"/>
                  </a:cubicBezTo>
                  <a:close/>
                </a:path>
              </a:pathLst>
            </a:custGeom>
            <a:solidFill>
              <a:srgbClr val="3F4652"/>
            </a:solidFill>
          </p:spPr>
        </p:sp>
      </p:grpSp>
      <p:sp>
        <p:nvSpPr>
          <p:cNvPr id="20" name="TextBox 20"/>
          <p:cNvSpPr txBox="1"/>
          <p:nvPr/>
        </p:nvSpPr>
        <p:spPr>
          <a:xfrm>
            <a:off x="8133759" y="7498852"/>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Visualization Hub</a:t>
            </a:r>
          </a:p>
        </p:txBody>
      </p:sp>
      <p:sp>
        <p:nvSpPr>
          <p:cNvPr id="21" name="TextBox 21"/>
          <p:cNvSpPr txBox="1"/>
          <p:nvPr/>
        </p:nvSpPr>
        <p:spPr>
          <a:xfrm>
            <a:off x="8133759" y="8035681"/>
            <a:ext cx="8878491" cy="548878"/>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Renders charts, lists, and dashboards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992238" y="1527419"/>
            <a:ext cx="7088238" cy="905027"/>
          </a:xfrm>
          <a:prstGeom prst="rect">
            <a:avLst/>
          </a:prstGeom>
        </p:spPr>
        <p:txBody>
          <a:bodyPr lIns="0" tIns="0" rIns="0" bIns="0" rtlCol="0" anchor="t">
            <a:spAutoFit/>
          </a:bodyPr>
          <a:lstStyle/>
          <a:p>
            <a:pPr algn="l">
              <a:lnSpc>
                <a:spcPts val="6937"/>
              </a:lnSpc>
            </a:pPr>
            <a:r>
              <a:rPr lang="en-US" sz="5562">
                <a:solidFill>
                  <a:srgbClr val="76B9FF"/>
                </a:solidFill>
                <a:latin typeface="Roboto Slab"/>
                <a:ea typeface="Roboto Slab"/>
                <a:cs typeface="Roboto Slab"/>
                <a:sym typeface="Roboto Slab"/>
              </a:rPr>
              <a:t>Technology Stack</a:t>
            </a:r>
          </a:p>
        </p:txBody>
      </p:sp>
      <p:sp>
        <p:nvSpPr>
          <p:cNvPr id="7" name="TextBox 7"/>
          <p:cNvSpPr txBox="1"/>
          <p:nvPr/>
        </p:nvSpPr>
        <p:spPr>
          <a:xfrm>
            <a:off x="992238" y="2904230"/>
            <a:ext cx="16303523"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Finsight's frontend is powered by a carefully chosen set of modern tools — each selected for speed, scalability, and developer experience.</a:t>
            </a:r>
          </a:p>
        </p:txBody>
      </p:sp>
      <p:sp>
        <p:nvSpPr>
          <p:cNvPr id="8" name="TextBox 8"/>
          <p:cNvSpPr txBox="1"/>
          <p:nvPr/>
        </p:nvSpPr>
        <p:spPr>
          <a:xfrm>
            <a:off x="2055314" y="4206631"/>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React.js</a:t>
            </a:r>
          </a:p>
        </p:txBody>
      </p:sp>
      <p:sp>
        <p:nvSpPr>
          <p:cNvPr id="9" name="TextBox 9"/>
          <p:cNvSpPr txBox="1"/>
          <p:nvPr/>
        </p:nvSpPr>
        <p:spPr>
          <a:xfrm>
            <a:off x="2055314" y="4743450"/>
            <a:ext cx="4135193" cy="1456134"/>
          </a:xfrm>
          <a:prstGeom prst="rect">
            <a:avLst/>
          </a:prstGeom>
        </p:spPr>
        <p:txBody>
          <a:bodyPr lIns="0" tIns="0" rIns="0" bIns="0" rtlCol="0" anchor="t">
            <a:spAutoFit/>
          </a:bodyPr>
          <a:lstStyle/>
          <a:p>
            <a:pPr algn="l">
              <a:lnSpc>
                <a:spcPts val="3562"/>
              </a:lnSpc>
            </a:pPr>
            <a:r>
              <a:rPr lang="en-US" sz="2187" dirty="0">
                <a:solidFill>
                  <a:srgbClr val="D6E5EF"/>
                </a:solidFill>
                <a:latin typeface="Roboto"/>
                <a:ea typeface="Roboto"/>
                <a:cs typeface="Roboto"/>
                <a:sym typeface="Roboto"/>
              </a:rPr>
              <a:t>Component-based UI development for a modular, reusable architecture</a:t>
            </a:r>
          </a:p>
        </p:txBody>
      </p:sp>
      <p:sp>
        <p:nvSpPr>
          <p:cNvPr id="10" name="TextBox 10"/>
          <p:cNvSpPr txBox="1"/>
          <p:nvPr/>
        </p:nvSpPr>
        <p:spPr>
          <a:xfrm>
            <a:off x="7607941" y="4206631"/>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Vite</a:t>
            </a:r>
          </a:p>
        </p:txBody>
      </p:sp>
      <p:sp>
        <p:nvSpPr>
          <p:cNvPr id="11" name="TextBox 11"/>
          <p:cNvSpPr txBox="1"/>
          <p:nvPr/>
        </p:nvSpPr>
        <p:spPr>
          <a:xfrm>
            <a:off x="7607941" y="4743450"/>
            <a:ext cx="4135193"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Blazing-fast build tool and dev server with instant hot reload</a:t>
            </a:r>
          </a:p>
        </p:txBody>
      </p:sp>
      <p:sp>
        <p:nvSpPr>
          <p:cNvPr id="12" name="TextBox 12"/>
          <p:cNvSpPr txBox="1"/>
          <p:nvPr/>
        </p:nvSpPr>
        <p:spPr>
          <a:xfrm>
            <a:off x="13160578" y="4206631"/>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Tailwind CSS</a:t>
            </a:r>
          </a:p>
        </p:txBody>
      </p:sp>
      <p:sp>
        <p:nvSpPr>
          <p:cNvPr id="13" name="TextBox 13"/>
          <p:cNvSpPr txBox="1"/>
          <p:nvPr/>
        </p:nvSpPr>
        <p:spPr>
          <a:xfrm>
            <a:off x="13160578" y="4743450"/>
            <a:ext cx="4135193"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Utility-first framework for clean, responsive design at speed</a:t>
            </a:r>
          </a:p>
        </p:txBody>
      </p:sp>
      <p:sp>
        <p:nvSpPr>
          <p:cNvPr id="14" name="TextBox 14"/>
          <p:cNvSpPr txBox="1"/>
          <p:nvPr/>
        </p:nvSpPr>
        <p:spPr>
          <a:xfrm>
            <a:off x="2055314" y="6747567"/>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Axios</a:t>
            </a:r>
          </a:p>
        </p:txBody>
      </p:sp>
      <p:sp>
        <p:nvSpPr>
          <p:cNvPr id="15" name="TextBox 15"/>
          <p:cNvSpPr txBox="1"/>
          <p:nvPr/>
        </p:nvSpPr>
        <p:spPr>
          <a:xfrm>
            <a:off x="2055314" y="7284396"/>
            <a:ext cx="4135193" cy="1456134"/>
          </a:xfrm>
          <a:prstGeom prst="rect">
            <a:avLst/>
          </a:prstGeom>
        </p:spPr>
        <p:txBody>
          <a:bodyPr lIns="0" tIns="0" rIns="0" bIns="0" rtlCol="0" anchor="t">
            <a:spAutoFit/>
          </a:bodyPr>
          <a:lstStyle/>
          <a:p>
            <a:pPr algn="l">
              <a:lnSpc>
                <a:spcPts val="3562"/>
              </a:lnSpc>
            </a:pPr>
            <a:r>
              <a:rPr lang="en-US" sz="2187" dirty="0">
                <a:solidFill>
                  <a:srgbClr val="D6E5EF"/>
                </a:solidFill>
                <a:latin typeface="Roboto"/>
                <a:ea typeface="Roboto"/>
                <a:cs typeface="Roboto"/>
                <a:sym typeface="Roboto"/>
              </a:rPr>
              <a:t>Handles all HTTP communication with the backend API</a:t>
            </a:r>
          </a:p>
        </p:txBody>
      </p:sp>
      <p:sp>
        <p:nvSpPr>
          <p:cNvPr id="16" name="TextBox 16"/>
          <p:cNvSpPr txBox="1"/>
          <p:nvPr/>
        </p:nvSpPr>
        <p:spPr>
          <a:xfrm>
            <a:off x="7607941" y="6747567"/>
            <a:ext cx="3544043" cy="461962"/>
          </a:xfrm>
          <a:prstGeom prst="rect">
            <a:avLst/>
          </a:prstGeom>
        </p:spPr>
        <p:txBody>
          <a:bodyPr lIns="0" tIns="0" rIns="0" bIns="0" rtlCol="0" anchor="t">
            <a:spAutoFit/>
          </a:bodyPr>
          <a:lstStyle/>
          <a:p>
            <a:pPr algn="l">
              <a:lnSpc>
                <a:spcPts val="3437"/>
              </a:lnSpc>
            </a:pPr>
            <a:r>
              <a:rPr lang="en-US" sz="2750">
                <a:solidFill>
                  <a:srgbClr val="D6E5EF"/>
                </a:solidFill>
                <a:latin typeface="Roboto Slab"/>
                <a:ea typeface="Roboto Slab"/>
                <a:cs typeface="Roboto Slab"/>
                <a:sym typeface="Roboto Slab"/>
              </a:rPr>
              <a:t>Recharts</a:t>
            </a:r>
          </a:p>
        </p:txBody>
      </p:sp>
      <p:sp>
        <p:nvSpPr>
          <p:cNvPr id="17" name="TextBox 17"/>
          <p:cNvSpPr txBox="1"/>
          <p:nvPr/>
        </p:nvSpPr>
        <p:spPr>
          <a:xfrm>
            <a:off x="7607941" y="7284396"/>
            <a:ext cx="4135193" cy="1002506"/>
          </a:xfrm>
          <a:prstGeom prst="rect">
            <a:avLst/>
          </a:prstGeom>
        </p:spPr>
        <p:txBody>
          <a:bodyPr lIns="0" tIns="0" rIns="0" bIns="0" rtlCol="0" anchor="t">
            <a:spAutoFit/>
          </a:bodyPr>
          <a:lstStyle/>
          <a:p>
            <a:pPr algn="l">
              <a:lnSpc>
                <a:spcPts val="3562"/>
              </a:lnSpc>
            </a:pPr>
            <a:r>
              <a:rPr lang="en-US" sz="2187">
                <a:solidFill>
                  <a:srgbClr val="D6E5EF"/>
                </a:solidFill>
                <a:latin typeface="Roboto"/>
                <a:ea typeface="Roboto"/>
                <a:cs typeface="Roboto"/>
                <a:sym typeface="Roboto"/>
              </a:rPr>
              <a:t>Transforms financial data into beautiful, interactive charts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sp>
        <p:nvSpPr>
          <p:cNvPr id="6" name="TextBox 6"/>
          <p:cNvSpPr txBox="1"/>
          <p:nvPr/>
        </p:nvSpPr>
        <p:spPr>
          <a:xfrm>
            <a:off x="1348978" y="674484"/>
            <a:ext cx="9360398" cy="724938"/>
          </a:xfrm>
          <a:prstGeom prst="rect">
            <a:avLst/>
          </a:prstGeom>
        </p:spPr>
        <p:txBody>
          <a:bodyPr lIns="0" tIns="0" rIns="0" bIns="0" rtlCol="0" anchor="t">
            <a:spAutoFit/>
          </a:bodyPr>
          <a:lstStyle/>
          <a:p>
            <a:pPr algn="l">
              <a:lnSpc>
                <a:spcPts val="5500"/>
              </a:lnSpc>
            </a:pPr>
            <a:r>
              <a:rPr lang="en-US" sz="4437">
                <a:solidFill>
                  <a:srgbClr val="76B9FF"/>
                </a:solidFill>
                <a:latin typeface="Roboto Slab"/>
                <a:ea typeface="Roboto Slab"/>
                <a:cs typeface="Roboto Slab"/>
                <a:sym typeface="Roboto Slab"/>
              </a:rPr>
              <a:t>Component Structure &amp; UI Features</a:t>
            </a:r>
          </a:p>
        </p:txBody>
      </p:sp>
      <p:grpSp>
        <p:nvGrpSpPr>
          <p:cNvPr id="7" name="Group 7"/>
          <p:cNvGrpSpPr/>
          <p:nvPr/>
        </p:nvGrpSpPr>
        <p:grpSpPr>
          <a:xfrm>
            <a:off x="1348978" y="1871815"/>
            <a:ext cx="7519245" cy="7519245"/>
            <a:chOff x="0" y="0"/>
            <a:chExt cx="10025659" cy="10025659"/>
          </a:xfrm>
        </p:grpSpPr>
        <p:sp>
          <p:nvSpPr>
            <p:cNvPr id="8" name="Freeform 8" descr="preencoded.png"/>
            <p:cNvSpPr/>
            <p:nvPr/>
          </p:nvSpPr>
          <p:spPr>
            <a:xfrm>
              <a:off x="0" y="0"/>
              <a:ext cx="10025634" cy="10025634"/>
            </a:xfrm>
            <a:custGeom>
              <a:avLst/>
              <a:gdLst/>
              <a:ahLst/>
              <a:cxnLst/>
              <a:rect l="l" t="t" r="r" b="b"/>
              <a:pathLst>
                <a:path w="10025634" h="10025634">
                  <a:moveTo>
                    <a:pt x="0" y="0"/>
                  </a:moveTo>
                  <a:lnTo>
                    <a:pt x="10025634" y="0"/>
                  </a:lnTo>
                  <a:lnTo>
                    <a:pt x="10025634" y="10025634"/>
                  </a:lnTo>
                  <a:lnTo>
                    <a:pt x="0" y="10025634"/>
                  </a:lnTo>
                  <a:lnTo>
                    <a:pt x="0" y="0"/>
                  </a:lnTo>
                  <a:close/>
                </a:path>
              </a:pathLst>
            </a:custGeom>
            <a:blipFill>
              <a:blip r:embed="rId3"/>
              <a:stretch>
                <a:fillRect/>
              </a:stretch>
            </a:blipFill>
          </p:spPr>
        </p:sp>
      </p:grpSp>
      <p:grpSp>
        <p:nvGrpSpPr>
          <p:cNvPr id="9" name="Group 9"/>
          <p:cNvGrpSpPr/>
          <p:nvPr/>
        </p:nvGrpSpPr>
        <p:grpSpPr>
          <a:xfrm>
            <a:off x="1348978" y="1871815"/>
            <a:ext cx="7519245" cy="7519245"/>
            <a:chOff x="0" y="0"/>
            <a:chExt cx="10025659" cy="10025659"/>
          </a:xfrm>
        </p:grpSpPr>
        <p:sp>
          <p:nvSpPr>
            <p:cNvPr id="10" name="Freeform 10" descr="preencoded.png"/>
            <p:cNvSpPr/>
            <p:nvPr/>
          </p:nvSpPr>
          <p:spPr>
            <a:xfrm>
              <a:off x="0" y="0"/>
              <a:ext cx="10025634" cy="10025634"/>
            </a:xfrm>
            <a:custGeom>
              <a:avLst/>
              <a:gdLst/>
              <a:ahLst/>
              <a:cxnLst/>
              <a:rect l="l" t="t" r="r" b="b"/>
              <a:pathLst>
                <a:path w="10025634" h="10025634">
                  <a:moveTo>
                    <a:pt x="0" y="0"/>
                  </a:moveTo>
                  <a:lnTo>
                    <a:pt x="10025634" y="0"/>
                  </a:lnTo>
                  <a:lnTo>
                    <a:pt x="10025634" y="10025634"/>
                  </a:lnTo>
                  <a:lnTo>
                    <a:pt x="0" y="10025634"/>
                  </a:lnTo>
                  <a:lnTo>
                    <a:pt x="0" y="0"/>
                  </a:lnTo>
                  <a:close/>
                </a:path>
              </a:pathLst>
            </a:custGeom>
            <a:blipFill>
              <a:blip r:embed="rId4"/>
              <a:stretch>
                <a:fillRect/>
              </a:stretch>
            </a:blipFill>
          </p:spPr>
        </p:sp>
      </p:grpSp>
      <p:sp>
        <p:nvSpPr>
          <p:cNvPr id="11" name="TextBox 11"/>
          <p:cNvSpPr txBox="1"/>
          <p:nvPr/>
        </p:nvSpPr>
        <p:spPr>
          <a:xfrm>
            <a:off x="9429007" y="3352057"/>
            <a:ext cx="3780834" cy="372066"/>
          </a:xfrm>
          <a:prstGeom prst="rect">
            <a:avLst/>
          </a:prstGeom>
        </p:spPr>
        <p:txBody>
          <a:bodyPr lIns="0" tIns="0" rIns="0" bIns="0" rtlCol="0" anchor="t">
            <a:spAutoFit/>
          </a:bodyPr>
          <a:lstStyle/>
          <a:p>
            <a:pPr algn="l">
              <a:lnSpc>
                <a:spcPts val="2750"/>
              </a:lnSpc>
            </a:pPr>
            <a:r>
              <a:rPr lang="en-US" sz="2187">
                <a:solidFill>
                  <a:srgbClr val="76B9FF"/>
                </a:solidFill>
                <a:latin typeface="Roboto Slab"/>
                <a:ea typeface="Roboto Slab"/>
                <a:cs typeface="Roboto Slab"/>
                <a:sym typeface="Roboto Slab"/>
              </a:rPr>
              <a:t>What Each Component Does</a:t>
            </a:r>
          </a:p>
        </p:txBody>
      </p:sp>
      <p:sp>
        <p:nvSpPr>
          <p:cNvPr id="12" name="TextBox 12"/>
          <p:cNvSpPr txBox="1"/>
          <p:nvPr/>
        </p:nvSpPr>
        <p:spPr>
          <a:xfrm>
            <a:off x="10163175" y="3907479"/>
            <a:ext cx="2824162"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ExpenseForm</a:t>
            </a:r>
          </a:p>
        </p:txBody>
      </p:sp>
      <p:sp>
        <p:nvSpPr>
          <p:cNvPr id="13" name="TextBox 13"/>
          <p:cNvSpPr txBox="1"/>
          <p:nvPr/>
        </p:nvSpPr>
        <p:spPr>
          <a:xfrm>
            <a:off x="10163175" y="4421391"/>
            <a:ext cx="6785077" cy="687591"/>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Input fields for amount, category, and date — triggers POST requests</a:t>
            </a:r>
          </a:p>
        </p:txBody>
      </p:sp>
      <p:sp>
        <p:nvSpPr>
          <p:cNvPr id="14" name="TextBox 14"/>
          <p:cNvSpPr txBox="1"/>
          <p:nvPr/>
        </p:nvSpPr>
        <p:spPr>
          <a:xfrm>
            <a:off x="10163175" y="5449938"/>
            <a:ext cx="2824162"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ExpenseList</a:t>
            </a:r>
          </a:p>
        </p:txBody>
      </p:sp>
      <p:sp>
        <p:nvSpPr>
          <p:cNvPr id="15" name="TextBox 15"/>
          <p:cNvSpPr txBox="1"/>
          <p:nvPr/>
        </p:nvSpPr>
        <p:spPr>
          <a:xfrm>
            <a:off x="10163175" y="5963841"/>
            <a:ext cx="6785077" cy="362845"/>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Fetches and renders all expenses; supports delete actions per entry</a:t>
            </a:r>
          </a:p>
        </p:txBody>
      </p:sp>
      <p:sp>
        <p:nvSpPr>
          <p:cNvPr id="16" name="TextBox 16"/>
          <p:cNvSpPr txBox="1"/>
          <p:nvPr/>
        </p:nvSpPr>
        <p:spPr>
          <a:xfrm>
            <a:off x="10163175" y="6667652"/>
            <a:ext cx="2824162" cy="372066"/>
          </a:xfrm>
          <a:prstGeom prst="rect">
            <a:avLst/>
          </a:prstGeom>
        </p:spPr>
        <p:txBody>
          <a:bodyPr lIns="0" tIns="0" rIns="0" bIns="0" rtlCol="0" anchor="t">
            <a:spAutoFit/>
          </a:bodyPr>
          <a:lstStyle/>
          <a:p>
            <a:pPr algn="l">
              <a:lnSpc>
                <a:spcPts val="2750"/>
              </a:lnSpc>
            </a:pPr>
            <a:r>
              <a:rPr lang="en-US" sz="2187">
                <a:solidFill>
                  <a:srgbClr val="D6E5EF"/>
                </a:solidFill>
                <a:latin typeface="Roboto Slab"/>
                <a:ea typeface="Roboto Slab"/>
                <a:cs typeface="Roboto Slab"/>
                <a:sym typeface="Roboto Slab"/>
              </a:rPr>
              <a:t>ChartComponent</a:t>
            </a:r>
          </a:p>
        </p:txBody>
      </p:sp>
      <p:sp>
        <p:nvSpPr>
          <p:cNvPr id="17" name="TextBox 17"/>
          <p:cNvSpPr txBox="1"/>
          <p:nvPr/>
        </p:nvSpPr>
        <p:spPr>
          <a:xfrm>
            <a:off x="10163175" y="7181555"/>
            <a:ext cx="6785077" cy="687591"/>
          </a:xfrm>
          <a:prstGeom prst="rect">
            <a:avLst/>
          </a:prstGeom>
        </p:spPr>
        <p:txBody>
          <a:bodyPr lIns="0" tIns="0" rIns="0" bIns="0" rtlCol="0" anchor="t">
            <a:spAutoFit/>
          </a:bodyPr>
          <a:lstStyle/>
          <a:p>
            <a:pPr algn="l">
              <a:lnSpc>
                <a:spcPts val="2499"/>
              </a:lnSpc>
            </a:pPr>
            <a:r>
              <a:rPr lang="en-US" sz="1750">
                <a:solidFill>
                  <a:srgbClr val="D6E5EF"/>
                </a:solidFill>
                <a:latin typeface="Roboto"/>
                <a:ea typeface="Roboto"/>
                <a:cs typeface="Roboto"/>
                <a:sym typeface="Roboto"/>
              </a:rPr>
              <a:t>Subscribes to expense state and renders visual breakdowns in real time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02733"/>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76760" y="1026166"/>
            <a:ext cx="9476480" cy="1782366"/>
          </a:xfrm>
          <a:prstGeom prst="rect">
            <a:avLst/>
          </a:prstGeom>
        </p:spPr>
        <p:txBody>
          <a:bodyPr lIns="0" tIns="0" rIns="0" bIns="0" rtlCol="0" anchor="t">
            <a:spAutoFit/>
          </a:bodyPr>
          <a:lstStyle/>
          <a:p>
            <a:pPr algn="l">
              <a:lnSpc>
                <a:spcPts val="6812"/>
              </a:lnSpc>
            </a:pPr>
            <a:r>
              <a:rPr lang="en-US" sz="5437">
                <a:solidFill>
                  <a:srgbClr val="76B9FF"/>
                </a:solidFill>
                <a:latin typeface="Roboto Slab"/>
                <a:ea typeface="Roboto Slab"/>
                <a:cs typeface="Roboto Slab"/>
                <a:sym typeface="Roboto Slab"/>
              </a:rPr>
              <a:t>Data Visualization with Recharts</a:t>
            </a:r>
          </a:p>
        </p:txBody>
      </p:sp>
      <p:sp>
        <p:nvSpPr>
          <p:cNvPr id="11" name="TextBox 11"/>
          <p:cNvSpPr txBox="1"/>
          <p:nvPr/>
        </p:nvSpPr>
        <p:spPr>
          <a:xfrm>
            <a:off x="976760" y="3134916"/>
            <a:ext cx="9476480" cy="971550"/>
          </a:xfrm>
          <a:prstGeom prst="rect">
            <a:avLst/>
          </a:prstGeom>
        </p:spPr>
        <p:txBody>
          <a:bodyPr lIns="0" tIns="0" rIns="0" bIns="0" rtlCol="0" anchor="t">
            <a:spAutoFit/>
          </a:bodyPr>
          <a:lstStyle/>
          <a:p>
            <a:pPr algn="l">
              <a:lnSpc>
                <a:spcPts val="3437"/>
              </a:lnSpc>
            </a:pPr>
            <a:r>
              <a:rPr lang="en-US" sz="2187">
                <a:solidFill>
                  <a:srgbClr val="D6E5EF"/>
                </a:solidFill>
                <a:latin typeface="Roboto"/>
                <a:ea typeface="Roboto"/>
                <a:cs typeface="Roboto"/>
                <a:sym typeface="Roboto"/>
              </a:rPr>
              <a:t>Numbers alone don't tell a story — charts do. Recharts converts raw expense data into interactive visuals that make financial patterns immediately clear.</a:t>
            </a:r>
          </a:p>
        </p:txBody>
      </p:sp>
      <p:grpSp>
        <p:nvGrpSpPr>
          <p:cNvPr id="12" name="Group 12"/>
          <p:cNvGrpSpPr/>
          <p:nvPr/>
        </p:nvGrpSpPr>
        <p:grpSpPr>
          <a:xfrm>
            <a:off x="976760" y="4415428"/>
            <a:ext cx="4600870" cy="2487663"/>
            <a:chOff x="0" y="0"/>
            <a:chExt cx="6134494" cy="3316884"/>
          </a:xfrm>
        </p:grpSpPr>
        <p:sp>
          <p:nvSpPr>
            <p:cNvPr id="13" name="Freeform 13"/>
            <p:cNvSpPr/>
            <p:nvPr/>
          </p:nvSpPr>
          <p:spPr>
            <a:xfrm>
              <a:off x="0" y="0"/>
              <a:ext cx="6134608" cy="3316986"/>
            </a:xfrm>
            <a:custGeom>
              <a:avLst/>
              <a:gdLst/>
              <a:ahLst/>
              <a:cxnLst/>
              <a:rect l="l" t="t" r="r" b="b"/>
              <a:pathLst>
                <a:path w="6134608" h="3316986">
                  <a:moveTo>
                    <a:pt x="0" y="55880"/>
                  </a:moveTo>
                  <a:cubicBezTo>
                    <a:pt x="0" y="25019"/>
                    <a:pt x="25019" y="0"/>
                    <a:pt x="55880" y="0"/>
                  </a:cubicBezTo>
                  <a:lnTo>
                    <a:pt x="6078728" y="0"/>
                  </a:lnTo>
                  <a:cubicBezTo>
                    <a:pt x="6109589" y="0"/>
                    <a:pt x="6134608" y="25019"/>
                    <a:pt x="6134608" y="55880"/>
                  </a:cubicBezTo>
                  <a:lnTo>
                    <a:pt x="6134608" y="3261106"/>
                  </a:lnTo>
                  <a:cubicBezTo>
                    <a:pt x="6134608" y="3291967"/>
                    <a:pt x="6109589" y="3316986"/>
                    <a:pt x="6078728" y="3316986"/>
                  </a:cubicBezTo>
                  <a:lnTo>
                    <a:pt x="55880" y="3316986"/>
                  </a:lnTo>
                  <a:cubicBezTo>
                    <a:pt x="25019" y="3316986"/>
                    <a:pt x="0" y="3291967"/>
                    <a:pt x="0" y="3261106"/>
                  </a:cubicBezTo>
                  <a:close/>
                </a:path>
              </a:pathLst>
            </a:custGeom>
            <a:solidFill>
              <a:srgbClr val="3F4652"/>
            </a:solidFill>
          </p:spPr>
        </p:sp>
      </p:grpSp>
      <p:sp>
        <p:nvSpPr>
          <p:cNvPr id="14" name="TextBox 14"/>
          <p:cNvSpPr txBox="1"/>
          <p:nvPr/>
        </p:nvSpPr>
        <p:spPr>
          <a:xfrm>
            <a:off x="1255814" y="4684957"/>
            <a:ext cx="3488684" cy="445589"/>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Pie Chart</a:t>
            </a:r>
          </a:p>
        </p:txBody>
      </p:sp>
      <p:sp>
        <p:nvSpPr>
          <p:cNvPr id="15" name="TextBox 15"/>
          <p:cNvSpPr txBox="1"/>
          <p:nvPr/>
        </p:nvSpPr>
        <p:spPr>
          <a:xfrm>
            <a:off x="1255814" y="5209584"/>
            <a:ext cx="4042772" cy="1414463"/>
          </a:xfrm>
          <a:prstGeom prst="rect">
            <a:avLst/>
          </a:prstGeom>
        </p:spPr>
        <p:txBody>
          <a:bodyPr lIns="0" tIns="0" rIns="0" bIns="0" rtlCol="0" anchor="t">
            <a:spAutoFit/>
          </a:bodyPr>
          <a:lstStyle/>
          <a:p>
            <a:pPr algn="l">
              <a:lnSpc>
                <a:spcPts val="3437"/>
              </a:lnSpc>
            </a:pPr>
            <a:r>
              <a:rPr lang="en-US" sz="2187">
                <a:solidFill>
                  <a:srgbClr val="D6E5EF"/>
                </a:solidFill>
                <a:latin typeface="Roboto"/>
                <a:ea typeface="Roboto"/>
                <a:cs typeface="Roboto"/>
                <a:sym typeface="Roboto"/>
              </a:rPr>
              <a:t>Category-wise spending breakdown — see where your money actually goes</a:t>
            </a:r>
          </a:p>
        </p:txBody>
      </p:sp>
      <p:grpSp>
        <p:nvGrpSpPr>
          <p:cNvPr id="16" name="Group 16"/>
          <p:cNvGrpSpPr/>
          <p:nvPr/>
        </p:nvGrpSpPr>
        <p:grpSpPr>
          <a:xfrm>
            <a:off x="5852370" y="4415428"/>
            <a:ext cx="4600870" cy="2487663"/>
            <a:chOff x="0" y="0"/>
            <a:chExt cx="6134494" cy="3316884"/>
          </a:xfrm>
        </p:grpSpPr>
        <p:sp>
          <p:nvSpPr>
            <p:cNvPr id="17" name="Freeform 17"/>
            <p:cNvSpPr/>
            <p:nvPr/>
          </p:nvSpPr>
          <p:spPr>
            <a:xfrm>
              <a:off x="0" y="0"/>
              <a:ext cx="6134608" cy="3316986"/>
            </a:xfrm>
            <a:custGeom>
              <a:avLst/>
              <a:gdLst/>
              <a:ahLst/>
              <a:cxnLst/>
              <a:rect l="l" t="t" r="r" b="b"/>
              <a:pathLst>
                <a:path w="6134608" h="3316986">
                  <a:moveTo>
                    <a:pt x="0" y="55880"/>
                  </a:moveTo>
                  <a:cubicBezTo>
                    <a:pt x="0" y="25019"/>
                    <a:pt x="25019" y="0"/>
                    <a:pt x="55880" y="0"/>
                  </a:cubicBezTo>
                  <a:lnTo>
                    <a:pt x="6078728" y="0"/>
                  </a:lnTo>
                  <a:cubicBezTo>
                    <a:pt x="6109589" y="0"/>
                    <a:pt x="6134608" y="25019"/>
                    <a:pt x="6134608" y="55880"/>
                  </a:cubicBezTo>
                  <a:lnTo>
                    <a:pt x="6134608" y="3261106"/>
                  </a:lnTo>
                  <a:cubicBezTo>
                    <a:pt x="6134608" y="3291967"/>
                    <a:pt x="6109589" y="3316986"/>
                    <a:pt x="6078728" y="3316986"/>
                  </a:cubicBezTo>
                  <a:lnTo>
                    <a:pt x="55880" y="3316986"/>
                  </a:lnTo>
                  <a:cubicBezTo>
                    <a:pt x="25019" y="3316986"/>
                    <a:pt x="0" y="3291967"/>
                    <a:pt x="0" y="3261106"/>
                  </a:cubicBezTo>
                  <a:close/>
                </a:path>
              </a:pathLst>
            </a:custGeom>
            <a:solidFill>
              <a:srgbClr val="3F4652"/>
            </a:solidFill>
          </p:spPr>
        </p:sp>
      </p:grpSp>
      <p:sp>
        <p:nvSpPr>
          <p:cNvPr id="18" name="TextBox 18"/>
          <p:cNvSpPr txBox="1"/>
          <p:nvPr/>
        </p:nvSpPr>
        <p:spPr>
          <a:xfrm>
            <a:off x="6131423" y="4684957"/>
            <a:ext cx="3488684" cy="445589"/>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Bar Chart</a:t>
            </a:r>
          </a:p>
        </p:txBody>
      </p:sp>
      <p:sp>
        <p:nvSpPr>
          <p:cNvPr id="19" name="TextBox 19"/>
          <p:cNvSpPr txBox="1"/>
          <p:nvPr/>
        </p:nvSpPr>
        <p:spPr>
          <a:xfrm>
            <a:off x="6131423" y="5209584"/>
            <a:ext cx="4042772" cy="1414463"/>
          </a:xfrm>
          <a:prstGeom prst="rect">
            <a:avLst/>
          </a:prstGeom>
        </p:spPr>
        <p:txBody>
          <a:bodyPr lIns="0" tIns="0" rIns="0" bIns="0" rtlCol="0" anchor="t">
            <a:spAutoFit/>
          </a:bodyPr>
          <a:lstStyle/>
          <a:p>
            <a:pPr algn="l">
              <a:lnSpc>
                <a:spcPts val="3437"/>
              </a:lnSpc>
            </a:pPr>
            <a:r>
              <a:rPr lang="en-US" sz="2187">
                <a:solidFill>
                  <a:srgbClr val="D6E5EF"/>
                </a:solidFill>
                <a:latin typeface="Roboto"/>
                <a:ea typeface="Roboto"/>
                <a:cs typeface="Roboto"/>
                <a:sym typeface="Roboto"/>
              </a:rPr>
              <a:t>Monthly expense comparison — track trends and spot overspending fast</a:t>
            </a:r>
          </a:p>
        </p:txBody>
      </p:sp>
      <p:grpSp>
        <p:nvGrpSpPr>
          <p:cNvPr id="20" name="Group 20"/>
          <p:cNvGrpSpPr/>
          <p:nvPr/>
        </p:nvGrpSpPr>
        <p:grpSpPr>
          <a:xfrm>
            <a:off x="976760" y="7177830"/>
            <a:ext cx="9476480" cy="2044751"/>
            <a:chOff x="0" y="0"/>
            <a:chExt cx="12635306" cy="2726334"/>
          </a:xfrm>
        </p:grpSpPr>
        <p:sp>
          <p:nvSpPr>
            <p:cNvPr id="21" name="Freeform 21"/>
            <p:cNvSpPr/>
            <p:nvPr/>
          </p:nvSpPr>
          <p:spPr>
            <a:xfrm>
              <a:off x="0" y="0"/>
              <a:ext cx="12635230" cy="2726309"/>
            </a:xfrm>
            <a:custGeom>
              <a:avLst/>
              <a:gdLst/>
              <a:ahLst/>
              <a:cxnLst/>
              <a:rect l="l" t="t" r="r" b="b"/>
              <a:pathLst>
                <a:path w="12635230" h="2726309">
                  <a:moveTo>
                    <a:pt x="0" y="55753"/>
                  </a:moveTo>
                  <a:cubicBezTo>
                    <a:pt x="0" y="25019"/>
                    <a:pt x="25019" y="0"/>
                    <a:pt x="55753" y="0"/>
                  </a:cubicBezTo>
                  <a:lnTo>
                    <a:pt x="12579477" y="0"/>
                  </a:lnTo>
                  <a:cubicBezTo>
                    <a:pt x="12610338" y="0"/>
                    <a:pt x="12635230" y="25019"/>
                    <a:pt x="12635230" y="55753"/>
                  </a:cubicBezTo>
                  <a:lnTo>
                    <a:pt x="12635230" y="2670556"/>
                  </a:lnTo>
                  <a:cubicBezTo>
                    <a:pt x="12635230" y="2701417"/>
                    <a:pt x="12610211" y="2726309"/>
                    <a:pt x="12579477" y="2726309"/>
                  </a:cubicBezTo>
                  <a:lnTo>
                    <a:pt x="55753" y="2726309"/>
                  </a:lnTo>
                  <a:cubicBezTo>
                    <a:pt x="24892" y="2726309"/>
                    <a:pt x="0" y="2701290"/>
                    <a:pt x="0" y="2670556"/>
                  </a:cubicBezTo>
                  <a:close/>
                </a:path>
              </a:pathLst>
            </a:custGeom>
            <a:solidFill>
              <a:srgbClr val="3F4652"/>
            </a:solidFill>
          </p:spPr>
        </p:sp>
      </p:grpSp>
      <p:sp>
        <p:nvSpPr>
          <p:cNvPr id="22" name="TextBox 22"/>
          <p:cNvSpPr txBox="1"/>
          <p:nvPr/>
        </p:nvSpPr>
        <p:spPr>
          <a:xfrm>
            <a:off x="1255814" y="7447359"/>
            <a:ext cx="3488684" cy="445589"/>
          </a:xfrm>
          <a:prstGeom prst="rect">
            <a:avLst/>
          </a:prstGeom>
        </p:spPr>
        <p:txBody>
          <a:bodyPr lIns="0" tIns="0" rIns="0" bIns="0" rtlCol="0" anchor="t">
            <a:spAutoFit/>
          </a:bodyPr>
          <a:lstStyle/>
          <a:p>
            <a:pPr algn="l">
              <a:lnSpc>
                <a:spcPts val="3374"/>
              </a:lnSpc>
            </a:pPr>
            <a:r>
              <a:rPr lang="en-US" sz="2687">
                <a:solidFill>
                  <a:srgbClr val="D6E5EF"/>
                </a:solidFill>
                <a:latin typeface="Roboto Slab"/>
                <a:ea typeface="Roboto Slab"/>
                <a:cs typeface="Roboto Slab"/>
                <a:sym typeface="Roboto Slab"/>
              </a:rPr>
              <a:t>Live Data Binding</a:t>
            </a:r>
          </a:p>
        </p:txBody>
      </p:sp>
      <p:sp>
        <p:nvSpPr>
          <p:cNvPr id="23" name="TextBox 23"/>
          <p:cNvSpPr txBox="1"/>
          <p:nvPr/>
        </p:nvSpPr>
        <p:spPr>
          <a:xfrm>
            <a:off x="1255814" y="7971977"/>
            <a:ext cx="8918372" cy="971550"/>
          </a:xfrm>
          <a:prstGeom prst="rect">
            <a:avLst/>
          </a:prstGeom>
        </p:spPr>
        <p:txBody>
          <a:bodyPr lIns="0" tIns="0" rIns="0" bIns="0" rtlCol="0" anchor="t">
            <a:spAutoFit/>
          </a:bodyPr>
          <a:lstStyle/>
          <a:p>
            <a:pPr algn="l">
              <a:lnSpc>
                <a:spcPts val="3437"/>
              </a:lnSpc>
            </a:pPr>
            <a:r>
              <a:rPr lang="en-US" sz="2187">
                <a:solidFill>
                  <a:srgbClr val="D6E5EF"/>
                </a:solidFill>
                <a:latin typeface="Roboto"/>
                <a:ea typeface="Roboto"/>
                <a:cs typeface="Roboto"/>
                <a:sym typeface="Roboto"/>
              </a:rPr>
              <a:t>Charts re-render automatically when new expenses are added or deleted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3D087-C2C8-E836-A7E3-C3A052A9946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47797A7-51C0-5F40-9C86-AFDABDBA243A}"/>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75B95272-3328-864A-EC06-FD879BAACAA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71B21"/>
            </a:solidFill>
          </p:spPr>
        </p:sp>
      </p:grpSp>
      <p:sp>
        <p:nvSpPr>
          <p:cNvPr id="18" name="TextBox 17">
            <a:extLst>
              <a:ext uri="{FF2B5EF4-FFF2-40B4-BE49-F238E27FC236}">
                <a16:creationId xmlns:a16="http://schemas.microsoft.com/office/drawing/2014/main" id="{C20BBBE2-779A-6131-7A4E-18E580D1ED5E}"/>
              </a:ext>
            </a:extLst>
          </p:cNvPr>
          <p:cNvSpPr txBox="1"/>
          <p:nvPr/>
        </p:nvSpPr>
        <p:spPr>
          <a:xfrm>
            <a:off x="5715000" y="4358670"/>
            <a:ext cx="7924800" cy="1569660"/>
          </a:xfrm>
          <a:prstGeom prst="rect">
            <a:avLst/>
          </a:prstGeom>
          <a:noFill/>
        </p:spPr>
        <p:txBody>
          <a:bodyPr wrap="square" rtlCol="0">
            <a:spAutoFit/>
          </a:bodyPr>
          <a:lstStyle/>
          <a:p>
            <a:r>
              <a:rPr lang="en-IN" sz="9600" b="1" dirty="0">
                <a:solidFill>
                  <a:schemeClr val="bg1"/>
                </a:solidFill>
              </a:rPr>
              <a:t>THANK YOU!</a:t>
            </a:r>
          </a:p>
        </p:txBody>
      </p:sp>
    </p:spTree>
    <p:extLst>
      <p:ext uri="{BB962C8B-B14F-4D97-AF65-F5344CB8AC3E}">
        <p14:creationId xmlns:p14="http://schemas.microsoft.com/office/powerpoint/2010/main" val="2466907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902</TotalTime>
  <Words>2885</Words>
  <Application>Microsoft Office PowerPoint</Application>
  <PresentationFormat>Custom</PresentationFormat>
  <Paragraphs>424</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Calibri</vt:lpstr>
      <vt:lpstr>Consolas</vt:lpstr>
      <vt:lpstr>Arial</vt:lpstr>
      <vt:lpstr>Roboto Italics</vt:lpstr>
      <vt:lpstr>Roboto Slab</vt:lpstr>
      <vt:lpstr>Roboto</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Presentationnn!!!.pptx</dc:title>
  <cp:lastModifiedBy>Swarupa Khot</cp:lastModifiedBy>
  <cp:revision>4</cp:revision>
  <dcterms:created xsi:type="dcterms:W3CDTF">2006-08-16T00:00:00Z</dcterms:created>
  <dcterms:modified xsi:type="dcterms:W3CDTF">2026-04-16T21:22:12Z</dcterms:modified>
  <dc:identifier>DAHG_So6mgM</dc:identifier>
</cp:coreProperties>
</file>