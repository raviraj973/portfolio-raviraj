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 Bold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Fira Sans" panose="020B0503050000020004" pitchFamily="34" charset="0"/>
      <p:regular r:id="rId19"/>
      <p:bold r:id="rId20"/>
    </p:embeddedFont>
    <p:embeddedFont>
      <p:font typeface="Fira Sans Bold" panose="020B080305000002000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9" Type="http://schemas.openxmlformats.org/officeDocument/2006/relationships/image" Target="../media/image6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  <p:txBody>
            <a:bodyPr/>
            <a:lstStyle/>
            <a:p>
              <a:endParaRPr lang="en-US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r>
                <a:rPr lang="en-IN" dirty="0"/>
                <a:t>    </a:t>
              </a:r>
            </a:p>
            <a:p>
              <a:endParaRPr lang="en-IN" dirty="0"/>
            </a:p>
            <a:p>
              <a:endParaRPr lang="en-IN" dirty="0"/>
            </a:p>
            <a:p>
              <a:r>
                <a:rPr lang="en-IN" dirty="0"/>
                <a:t> </a:t>
              </a:r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752552"/>
            <a:ext cx="9445526" cy="352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🚀 “C++ Virtual Assistant Project – Nova: A Smart Virtual Desktop Companion”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511350"/>
            <a:ext cx="5245447" cy="4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CHAPTER 1: Introducing Nova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67669"/>
            <a:ext cx="8786812" cy="74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The C++ Virtual Assistant: Nova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239691"/>
            <a:ext cx="5245447" cy="5497860"/>
            <a:chOff x="0" y="0"/>
            <a:chExt cx="6993930" cy="7330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4017" cy="7330567"/>
            </a:xfrm>
            <a:custGeom>
              <a:avLst/>
              <a:gdLst/>
              <a:ahLst/>
              <a:cxnLst/>
              <a:rect l="l" t="t" r="r" b="b"/>
              <a:pathLst>
                <a:path w="6994017" h="733056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7273798"/>
                  </a:lnTo>
                  <a:cubicBezTo>
                    <a:pt x="6994017" y="7305167"/>
                    <a:pt x="6968617" y="7330567"/>
                    <a:pt x="6937248" y="7330567"/>
                  </a:cubicBezTo>
                  <a:lnTo>
                    <a:pt x="56769" y="7330567"/>
                  </a:lnTo>
                  <a:cubicBezTo>
                    <a:pt x="25400" y="7330440"/>
                    <a:pt x="0" y="7305040"/>
                    <a:pt x="0" y="7273798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75755" y="3523209"/>
            <a:ext cx="850552" cy="850552"/>
            <a:chOff x="0" y="0"/>
            <a:chExt cx="1134070" cy="11340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94CAF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509712" y="3757018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7"/>
                </a:lnTo>
                <a:lnTo>
                  <a:pt x="0" y="38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" r="-243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75755" y="4619179"/>
            <a:ext cx="371936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 C++-Based Companion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755" y="5709791"/>
            <a:ext cx="4678412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This project is a C++-based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Virtual Assistant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named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Nova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designed as an intelligent desktop companion.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21202" y="3239691"/>
            <a:ext cx="5245447" cy="5497860"/>
            <a:chOff x="0" y="0"/>
            <a:chExt cx="6993930" cy="73304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94017" cy="7330567"/>
            </a:xfrm>
            <a:custGeom>
              <a:avLst/>
              <a:gdLst/>
              <a:ahLst/>
              <a:cxnLst/>
              <a:rect l="l" t="t" r="r" b="b"/>
              <a:pathLst>
                <a:path w="6994017" h="733056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7273798"/>
                  </a:lnTo>
                  <a:cubicBezTo>
                    <a:pt x="6994017" y="7305167"/>
                    <a:pt x="6968617" y="7330567"/>
                    <a:pt x="6937248" y="7330567"/>
                  </a:cubicBezTo>
                  <a:lnTo>
                    <a:pt x="56769" y="7330567"/>
                  </a:lnTo>
                  <a:cubicBezTo>
                    <a:pt x="25400" y="7330440"/>
                    <a:pt x="0" y="7305040"/>
                    <a:pt x="0" y="7273798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804720" y="3523209"/>
            <a:ext cx="850552" cy="850552"/>
            <a:chOff x="0" y="0"/>
            <a:chExt cx="1134070" cy="113407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</p:sp>
      </p:grpSp>
      <p:sp>
        <p:nvSpPr>
          <p:cNvPr id="19" name="Freeform 19" descr="preencoded.png"/>
          <p:cNvSpPr/>
          <p:nvPr/>
        </p:nvSpPr>
        <p:spPr>
          <a:xfrm>
            <a:off x="7038677" y="3757018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7"/>
                </a:lnTo>
                <a:lnTo>
                  <a:pt x="0" y="3826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195" r="-1219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804720" y="4619179"/>
            <a:ext cx="4427785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Interactive Communication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04794" y="5709791"/>
            <a:ext cx="4678412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Nova interacts with users through Text-To-speech application called e-speak offering conversational responses.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50166" y="3239691"/>
            <a:ext cx="5245447" cy="5497860"/>
            <a:chOff x="0" y="0"/>
            <a:chExt cx="6993930" cy="7330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94017" cy="7330567"/>
            </a:xfrm>
            <a:custGeom>
              <a:avLst/>
              <a:gdLst/>
              <a:ahLst/>
              <a:cxnLst/>
              <a:rect l="l" t="t" r="r" b="b"/>
              <a:pathLst>
                <a:path w="6994017" h="733056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7273798"/>
                  </a:lnTo>
                  <a:cubicBezTo>
                    <a:pt x="6994017" y="7305167"/>
                    <a:pt x="6968617" y="7330567"/>
                    <a:pt x="6937248" y="7330567"/>
                  </a:cubicBezTo>
                  <a:lnTo>
                    <a:pt x="56769" y="7330567"/>
                  </a:lnTo>
                  <a:cubicBezTo>
                    <a:pt x="25400" y="7330440"/>
                    <a:pt x="0" y="7305040"/>
                    <a:pt x="0" y="7273798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333685" y="3523209"/>
            <a:ext cx="850553" cy="850552"/>
            <a:chOff x="0" y="0"/>
            <a:chExt cx="1134070" cy="1134070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2567642" y="3757018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7"/>
                </a:lnTo>
                <a:lnTo>
                  <a:pt x="0" y="382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4878" b="-4878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333685" y="4619179"/>
            <a:ext cx="46784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Demonstrating Core Concepts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33685" y="5447854"/>
            <a:ext cx="4678413" cy="283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It showcases key C++ concepts: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Object-Oriented Programming (OOP)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system-level commands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file handling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and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real-time clock management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using the &lt;ctime&gt; library.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85999"/>
            <a:ext cx="8219926" cy="74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Core Objectives and Usability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304604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Nova was designed with a focus on automation, integration, and modularity to provide a practical and efficient user experience.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3188" y="3606999"/>
            <a:ext cx="8048030" cy="2674292"/>
            <a:chOff x="0" y="0"/>
            <a:chExt cx="10730707" cy="3565723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679811" cy="3514979"/>
            </a:xfrm>
            <a:custGeom>
              <a:avLst/>
              <a:gdLst/>
              <a:ahLst/>
              <a:cxnLst/>
              <a:rect l="l" t="t" r="r" b="b"/>
              <a:pathLst>
                <a:path w="10679811" h="3514979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10433685" y="0"/>
                  </a:lnTo>
                  <a:cubicBezTo>
                    <a:pt x="10569702" y="0"/>
                    <a:pt x="10679811" y="109220"/>
                    <a:pt x="10679811" y="243840"/>
                  </a:cubicBezTo>
                  <a:lnTo>
                    <a:pt x="10679811" y="3271139"/>
                  </a:lnTo>
                  <a:cubicBezTo>
                    <a:pt x="10679811" y="3405759"/>
                    <a:pt x="10569575" y="3514979"/>
                    <a:pt x="10433685" y="3514979"/>
                  </a:cubicBezTo>
                  <a:lnTo>
                    <a:pt x="246126" y="3514979"/>
                  </a:lnTo>
                  <a:cubicBezTo>
                    <a:pt x="110109" y="3514979"/>
                    <a:pt x="0" y="3405759"/>
                    <a:pt x="0" y="3271139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730611" cy="3565779"/>
            </a:xfrm>
            <a:custGeom>
              <a:avLst/>
              <a:gdLst/>
              <a:ahLst/>
              <a:cxnLst/>
              <a:rect l="l" t="t" r="r" b="b"/>
              <a:pathLst>
                <a:path w="10730611" h="3565779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10459085" y="0"/>
                  </a:lnTo>
                  <a:lnTo>
                    <a:pt x="10459085" y="25400"/>
                  </a:lnTo>
                  <a:lnTo>
                    <a:pt x="10459085" y="0"/>
                  </a:lnTo>
                  <a:cubicBezTo>
                    <a:pt x="10608818" y="0"/>
                    <a:pt x="10730611" y="120269"/>
                    <a:pt x="10730611" y="269240"/>
                  </a:cubicBezTo>
                  <a:lnTo>
                    <a:pt x="10705211" y="269240"/>
                  </a:lnTo>
                  <a:lnTo>
                    <a:pt x="10730611" y="269240"/>
                  </a:lnTo>
                  <a:lnTo>
                    <a:pt x="10730611" y="3296539"/>
                  </a:lnTo>
                  <a:lnTo>
                    <a:pt x="10705211" y="3296539"/>
                  </a:lnTo>
                  <a:lnTo>
                    <a:pt x="10730611" y="3296539"/>
                  </a:lnTo>
                  <a:cubicBezTo>
                    <a:pt x="10730611" y="3445510"/>
                    <a:pt x="10608818" y="3565779"/>
                    <a:pt x="10459085" y="3565779"/>
                  </a:cubicBezTo>
                  <a:lnTo>
                    <a:pt x="10459085" y="3540379"/>
                  </a:lnTo>
                  <a:lnTo>
                    <a:pt x="10459085" y="3565779"/>
                  </a:lnTo>
                  <a:lnTo>
                    <a:pt x="271526" y="3565779"/>
                  </a:lnTo>
                  <a:lnTo>
                    <a:pt x="271526" y="3540379"/>
                  </a:lnTo>
                  <a:lnTo>
                    <a:pt x="271526" y="3565779"/>
                  </a:lnTo>
                  <a:cubicBezTo>
                    <a:pt x="121793" y="3565779"/>
                    <a:pt x="0" y="3445383"/>
                    <a:pt x="0" y="32965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96539"/>
                  </a:lnTo>
                  <a:lnTo>
                    <a:pt x="25400" y="3296539"/>
                  </a:lnTo>
                  <a:lnTo>
                    <a:pt x="50800" y="3296539"/>
                  </a:lnTo>
                  <a:cubicBezTo>
                    <a:pt x="50800" y="3416935"/>
                    <a:pt x="149479" y="3514979"/>
                    <a:pt x="271526" y="3514979"/>
                  </a:cubicBezTo>
                  <a:lnTo>
                    <a:pt x="10459085" y="3514979"/>
                  </a:lnTo>
                  <a:cubicBezTo>
                    <a:pt x="10581259" y="3514979"/>
                    <a:pt x="10679811" y="3416935"/>
                    <a:pt x="10679811" y="3296539"/>
                  </a:cubicBezTo>
                  <a:lnTo>
                    <a:pt x="10679811" y="269240"/>
                  </a:lnTo>
                  <a:cubicBezTo>
                    <a:pt x="10679811" y="148844"/>
                    <a:pt x="10581132" y="50800"/>
                    <a:pt x="10459085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54138" y="3626049"/>
            <a:ext cx="152400" cy="2636192"/>
            <a:chOff x="0" y="0"/>
            <a:chExt cx="203200" cy="351492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03200" cy="3514979"/>
            </a:xfrm>
            <a:custGeom>
              <a:avLst/>
              <a:gdLst/>
              <a:ahLst/>
              <a:cxnLst/>
              <a:rect l="l" t="t" r="r" b="b"/>
              <a:pathLst>
                <a:path w="203200" h="3514979">
                  <a:moveTo>
                    <a:pt x="0" y="0"/>
                  </a:moveTo>
                  <a:lnTo>
                    <a:pt x="203200" y="0"/>
                  </a:lnTo>
                  <a:lnTo>
                    <a:pt x="203200" y="3514979"/>
                  </a:lnTo>
                  <a:lnTo>
                    <a:pt x="0" y="3514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2" b="-40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428155" y="3909566"/>
            <a:ext cx="4231283" cy="4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Automate Simple Tasks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8155" y="4618062"/>
            <a:ext cx="7252395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Create a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voice-interactive desktop assistant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capable of quickly executing simple tasks like launching applications or opening URLs.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66635" y="3606999"/>
            <a:ext cx="8048179" cy="2674292"/>
            <a:chOff x="0" y="0"/>
            <a:chExt cx="10730905" cy="3565723"/>
          </a:xfrm>
        </p:grpSpPr>
        <p:sp>
          <p:nvSpPr>
            <p:cNvPr id="16" name="Freeform 16"/>
            <p:cNvSpPr/>
            <p:nvPr/>
          </p:nvSpPr>
          <p:spPr>
            <a:xfrm>
              <a:off x="25400" y="25400"/>
              <a:ext cx="10680065" cy="3514979"/>
            </a:xfrm>
            <a:custGeom>
              <a:avLst/>
              <a:gdLst/>
              <a:ahLst/>
              <a:cxnLst/>
              <a:rect l="l" t="t" r="r" b="b"/>
              <a:pathLst>
                <a:path w="10680065" h="3514979">
                  <a:moveTo>
                    <a:pt x="0" y="243840"/>
                  </a:moveTo>
                  <a:cubicBezTo>
                    <a:pt x="0" y="109220"/>
                    <a:pt x="110236" y="0"/>
                    <a:pt x="246126" y="0"/>
                  </a:cubicBezTo>
                  <a:lnTo>
                    <a:pt x="10433939" y="0"/>
                  </a:lnTo>
                  <a:cubicBezTo>
                    <a:pt x="10569956" y="0"/>
                    <a:pt x="10680065" y="109220"/>
                    <a:pt x="10680065" y="243840"/>
                  </a:cubicBezTo>
                  <a:lnTo>
                    <a:pt x="10680065" y="3271139"/>
                  </a:lnTo>
                  <a:cubicBezTo>
                    <a:pt x="10680065" y="3405759"/>
                    <a:pt x="10569829" y="3514979"/>
                    <a:pt x="10433939" y="3514979"/>
                  </a:cubicBezTo>
                  <a:lnTo>
                    <a:pt x="246126" y="3514979"/>
                  </a:lnTo>
                  <a:cubicBezTo>
                    <a:pt x="110109" y="3514979"/>
                    <a:pt x="0" y="3405759"/>
                    <a:pt x="0" y="3271139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0730865" cy="3565779"/>
            </a:xfrm>
            <a:custGeom>
              <a:avLst/>
              <a:gdLst/>
              <a:ahLst/>
              <a:cxnLst/>
              <a:rect l="l" t="t" r="r" b="b"/>
              <a:pathLst>
                <a:path w="10730865" h="3565779">
                  <a:moveTo>
                    <a:pt x="0" y="269240"/>
                  </a:moveTo>
                  <a:cubicBezTo>
                    <a:pt x="0" y="120269"/>
                    <a:pt x="121793" y="0"/>
                    <a:pt x="271526" y="0"/>
                  </a:cubicBezTo>
                  <a:lnTo>
                    <a:pt x="10459339" y="0"/>
                  </a:lnTo>
                  <a:lnTo>
                    <a:pt x="10459339" y="25400"/>
                  </a:lnTo>
                  <a:lnTo>
                    <a:pt x="10459339" y="0"/>
                  </a:lnTo>
                  <a:cubicBezTo>
                    <a:pt x="10609072" y="0"/>
                    <a:pt x="10730865" y="120269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3296539"/>
                  </a:lnTo>
                  <a:lnTo>
                    <a:pt x="10705465" y="3296539"/>
                  </a:lnTo>
                  <a:lnTo>
                    <a:pt x="10730865" y="3296539"/>
                  </a:lnTo>
                  <a:cubicBezTo>
                    <a:pt x="10730865" y="3445510"/>
                    <a:pt x="10609072" y="3565779"/>
                    <a:pt x="10459339" y="3565779"/>
                  </a:cubicBezTo>
                  <a:lnTo>
                    <a:pt x="10459339" y="3540379"/>
                  </a:lnTo>
                  <a:lnTo>
                    <a:pt x="10459339" y="3565779"/>
                  </a:lnTo>
                  <a:lnTo>
                    <a:pt x="271526" y="3565779"/>
                  </a:lnTo>
                  <a:lnTo>
                    <a:pt x="271526" y="3540379"/>
                  </a:lnTo>
                  <a:lnTo>
                    <a:pt x="271526" y="3565779"/>
                  </a:lnTo>
                  <a:cubicBezTo>
                    <a:pt x="121793" y="3565779"/>
                    <a:pt x="0" y="3445383"/>
                    <a:pt x="0" y="32965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96539"/>
                  </a:lnTo>
                  <a:lnTo>
                    <a:pt x="25400" y="3296539"/>
                  </a:lnTo>
                  <a:lnTo>
                    <a:pt x="50800" y="3296539"/>
                  </a:lnTo>
                  <a:cubicBezTo>
                    <a:pt x="50800" y="3416935"/>
                    <a:pt x="149479" y="3514979"/>
                    <a:pt x="271526" y="3514979"/>
                  </a:cubicBezTo>
                  <a:lnTo>
                    <a:pt x="10459339" y="3514979"/>
                  </a:lnTo>
                  <a:cubicBezTo>
                    <a:pt x="10581513" y="3514979"/>
                    <a:pt x="10680065" y="3416935"/>
                    <a:pt x="10680065" y="3296539"/>
                  </a:cubicBezTo>
                  <a:lnTo>
                    <a:pt x="10680065" y="269240"/>
                  </a:lnTo>
                  <a:cubicBezTo>
                    <a:pt x="10680065" y="148844"/>
                    <a:pt x="10581386" y="50800"/>
                    <a:pt x="10459339" y="50800"/>
                  </a:cubicBezTo>
                  <a:lnTo>
                    <a:pt x="271526" y="50800"/>
                  </a:lnTo>
                  <a:lnTo>
                    <a:pt x="271526" y="25400"/>
                  </a:lnTo>
                  <a:lnTo>
                    <a:pt x="271526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247584" y="3626049"/>
            <a:ext cx="152400" cy="2636192"/>
            <a:chOff x="0" y="0"/>
            <a:chExt cx="203200" cy="351492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203200" cy="3514979"/>
            </a:xfrm>
            <a:custGeom>
              <a:avLst/>
              <a:gdLst/>
              <a:ahLst/>
              <a:cxnLst/>
              <a:rect l="l" t="t" r="r" b="b"/>
              <a:pathLst>
                <a:path w="203200" h="3514979">
                  <a:moveTo>
                    <a:pt x="0" y="0"/>
                  </a:moveTo>
                  <a:lnTo>
                    <a:pt x="203200" y="0"/>
                  </a:lnTo>
                  <a:lnTo>
                    <a:pt x="203200" y="3514979"/>
                  </a:lnTo>
                  <a:lnTo>
                    <a:pt x="0" y="3514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2" b="-40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9721602" y="3909566"/>
            <a:ext cx="4250680" cy="4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OS Command Integration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23834" y="4546699"/>
            <a:ext cx="7252544" cy="147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Demonstrates how to integrate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C++ logic with OS shell commands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(via system()) for real-world application control.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73188" y="6526709"/>
            <a:ext cx="8048030" cy="2655243"/>
            <a:chOff x="0" y="0"/>
            <a:chExt cx="10730707" cy="3540323"/>
          </a:xfrm>
        </p:grpSpPr>
        <p:sp>
          <p:nvSpPr>
            <p:cNvPr id="23" name="Freeform 23"/>
            <p:cNvSpPr/>
            <p:nvPr/>
          </p:nvSpPr>
          <p:spPr>
            <a:xfrm>
              <a:off x="25400" y="25400"/>
              <a:ext cx="10679938" cy="3489452"/>
            </a:xfrm>
            <a:custGeom>
              <a:avLst/>
              <a:gdLst/>
              <a:ahLst/>
              <a:cxnLst/>
              <a:rect l="l" t="t" r="r" b="b"/>
              <a:pathLst>
                <a:path w="10679938" h="3489452">
                  <a:moveTo>
                    <a:pt x="0" y="243840"/>
                  </a:moveTo>
                  <a:cubicBezTo>
                    <a:pt x="0" y="109220"/>
                    <a:pt x="110236" y="0"/>
                    <a:pt x="246253" y="0"/>
                  </a:cubicBezTo>
                  <a:lnTo>
                    <a:pt x="10433685" y="0"/>
                  </a:lnTo>
                  <a:cubicBezTo>
                    <a:pt x="10569702" y="0"/>
                    <a:pt x="10679938" y="109220"/>
                    <a:pt x="10679938" y="243840"/>
                  </a:cubicBezTo>
                  <a:lnTo>
                    <a:pt x="10679938" y="3245612"/>
                  </a:lnTo>
                  <a:cubicBezTo>
                    <a:pt x="10679938" y="3380232"/>
                    <a:pt x="10569702" y="3489452"/>
                    <a:pt x="10433685" y="3489452"/>
                  </a:cubicBezTo>
                  <a:lnTo>
                    <a:pt x="246253" y="3489452"/>
                  </a:lnTo>
                  <a:cubicBezTo>
                    <a:pt x="110236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0730738" cy="3540379"/>
            </a:xfrm>
            <a:custGeom>
              <a:avLst/>
              <a:gdLst/>
              <a:ahLst/>
              <a:cxnLst/>
              <a:rect l="l" t="t" r="r" b="b"/>
              <a:pathLst>
                <a:path w="10730738" h="3540379">
                  <a:moveTo>
                    <a:pt x="0" y="269240"/>
                  </a:moveTo>
                  <a:cubicBezTo>
                    <a:pt x="0" y="120269"/>
                    <a:pt x="121793" y="0"/>
                    <a:pt x="271653" y="0"/>
                  </a:cubicBezTo>
                  <a:lnTo>
                    <a:pt x="10459085" y="0"/>
                  </a:lnTo>
                  <a:lnTo>
                    <a:pt x="10459085" y="25400"/>
                  </a:lnTo>
                  <a:lnTo>
                    <a:pt x="10459085" y="0"/>
                  </a:lnTo>
                  <a:cubicBezTo>
                    <a:pt x="10608818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271012"/>
                  </a:lnTo>
                  <a:lnTo>
                    <a:pt x="10705338" y="3271012"/>
                  </a:lnTo>
                  <a:lnTo>
                    <a:pt x="10730738" y="3271012"/>
                  </a:lnTo>
                  <a:cubicBezTo>
                    <a:pt x="10730738" y="3419983"/>
                    <a:pt x="10608945" y="3540252"/>
                    <a:pt x="10459085" y="3540252"/>
                  </a:cubicBezTo>
                  <a:lnTo>
                    <a:pt x="10459085" y="3514852"/>
                  </a:lnTo>
                  <a:lnTo>
                    <a:pt x="10459085" y="3540252"/>
                  </a:lnTo>
                  <a:lnTo>
                    <a:pt x="271653" y="3540252"/>
                  </a:lnTo>
                  <a:lnTo>
                    <a:pt x="271653" y="3514852"/>
                  </a:lnTo>
                  <a:lnTo>
                    <a:pt x="271653" y="3540252"/>
                  </a:lnTo>
                  <a:cubicBezTo>
                    <a:pt x="121793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408"/>
                    <a:pt x="149479" y="3489452"/>
                    <a:pt x="271653" y="3489452"/>
                  </a:cubicBezTo>
                  <a:lnTo>
                    <a:pt x="10459085" y="3489452"/>
                  </a:lnTo>
                  <a:cubicBezTo>
                    <a:pt x="10581259" y="3489452"/>
                    <a:pt x="10679938" y="3391408"/>
                    <a:pt x="10679938" y="3271012"/>
                  </a:cubicBezTo>
                  <a:lnTo>
                    <a:pt x="10679938" y="269240"/>
                  </a:lnTo>
                  <a:cubicBezTo>
                    <a:pt x="10679938" y="148844"/>
                    <a:pt x="10581259" y="50800"/>
                    <a:pt x="10459085" y="50800"/>
                  </a:cubicBezTo>
                  <a:lnTo>
                    <a:pt x="271653" y="50800"/>
                  </a:lnTo>
                  <a:lnTo>
                    <a:pt x="271653" y="25400"/>
                  </a:lnTo>
                  <a:lnTo>
                    <a:pt x="271653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54138" y="6545759"/>
            <a:ext cx="152400" cy="2617143"/>
            <a:chOff x="0" y="0"/>
            <a:chExt cx="203200" cy="3489523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203200" cy="3489579"/>
            </a:xfrm>
            <a:custGeom>
              <a:avLst/>
              <a:gdLst/>
              <a:ahLst/>
              <a:cxnLst/>
              <a:rect l="l" t="t" r="r" b="b"/>
              <a:pathLst>
                <a:path w="203200" h="3489579">
                  <a:moveTo>
                    <a:pt x="0" y="0"/>
                  </a:moveTo>
                  <a:lnTo>
                    <a:pt x="203200" y="0"/>
                  </a:lnTo>
                  <a:lnTo>
                    <a:pt x="203200" y="3489579"/>
                  </a:lnTo>
                  <a:lnTo>
                    <a:pt x="0" y="3489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b="-4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428155" y="682927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Voice &amp; Text Output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8155" y="7385149"/>
            <a:ext cx="7252395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Responds with both text confirmation and synthesized voice output using the </a:t>
            </a:r>
            <a:r>
              <a:rPr lang="en-US" sz="218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espeak</a:t>
            </a: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library for enhanced user feedback.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66635" y="6526709"/>
            <a:ext cx="8048179" cy="2655243"/>
            <a:chOff x="0" y="0"/>
            <a:chExt cx="10730905" cy="3540323"/>
          </a:xfrm>
        </p:grpSpPr>
        <p:sp>
          <p:nvSpPr>
            <p:cNvPr id="30" name="Freeform 30"/>
            <p:cNvSpPr/>
            <p:nvPr/>
          </p:nvSpPr>
          <p:spPr>
            <a:xfrm>
              <a:off x="25400" y="25400"/>
              <a:ext cx="10680192" cy="3489452"/>
            </a:xfrm>
            <a:custGeom>
              <a:avLst/>
              <a:gdLst/>
              <a:ahLst/>
              <a:cxnLst/>
              <a:rect l="l" t="t" r="r" b="b"/>
              <a:pathLst>
                <a:path w="10680192" h="3489452">
                  <a:moveTo>
                    <a:pt x="0" y="243840"/>
                  </a:moveTo>
                  <a:cubicBezTo>
                    <a:pt x="0" y="109220"/>
                    <a:pt x="110236" y="0"/>
                    <a:pt x="246253" y="0"/>
                  </a:cubicBezTo>
                  <a:lnTo>
                    <a:pt x="10433939" y="0"/>
                  </a:lnTo>
                  <a:cubicBezTo>
                    <a:pt x="10569956" y="0"/>
                    <a:pt x="10680192" y="109220"/>
                    <a:pt x="10680192" y="243840"/>
                  </a:cubicBezTo>
                  <a:lnTo>
                    <a:pt x="10680192" y="3245612"/>
                  </a:lnTo>
                  <a:cubicBezTo>
                    <a:pt x="10680192" y="3380232"/>
                    <a:pt x="10569956" y="3489452"/>
                    <a:pt x="10433939" y="3489452"/>
                  </a:cubicBezTo>
                  <a:lnTo>
                    <a:pt x="246253" y="3489452"/>
                  </a:lnTo>
                  <a:cubicBezTo>
                    <a:pt x="110236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0730992" cy="3540379"/>
            </a:xfrm>
            <a:custGeom>
              <a:avLst/>
              <a:gdLst/>
              <a:ahLst/>
              <a:cxnLst/>
              <a:rect l="l" t="t" r="r" b="b"/>
              <a:pathLst>
                <a:path w="10730992" h="3540379">
                  <a:moveTo>
                    <a:pt x="0" y="269240"/>
                  </a:moveTo>
                  <a:cubicBezTo>
                    <a:pt x="0" y="120269"/>
                    <a:pt x="121793" y="0"/>
                    <a:pt x="271653" y="0"/>
                  </a:cubicBezTo>
                  <a:lnTo>
                    <a:pt x="10459339" y="0"/>
                  </a:lnTo>
                  <a:lnTo>
                    <a:pt x="10459339" y="25400"/>
                  </a:lnTo>
                  <a:lnTo>
                    <a:pt x="10459339" y="0"/>
                  </a:lnTo>
                  <a:cubicBezTo>
                    <a:pt x="10609072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271012"/>
                  </a:lnTo>
                  <a:lnTo>
                    <a:pt x="10705592" y="3271012"/>
                  </a:lnTo>
                  <a:lnTo>
                    <a:pt x="10730992" y="3271012"/>
                  </a:lnTo>
                  <a:cubicBezTo>
                    <a:pt x="10730992" y="3419983"/>
                    <a:pt x="10609199" y="3540252"/>
                    <a:pt x="10459339" y="3540252"/>
                  </a:cubicBezTo>
                  <a:lnTo>
                    <a:pt x="10459339" y="3514852"/>
                  </a:lnTo>
                  <a:lnTo>
                    <a:pt x="10459339" y="3540252"/>
                  </a:lnTo>
                  <a:lnTo>
                    <a:pt x="271653" y="3540252"/>
                  </a:lnTo>
                  <a:lnTo>
                    <a:pt x="271653" y="3514852"/>
                  </a:lnTo>
                  <a:lnTo>
                    <a:pt x="271653" y="3540252"/>
                  </a:lnTo>
                  <a:cubicBezTo>
                    <a:pt x="121793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408"/>
                    <a:pt x="149479" y="3489452"/>
                    <a:pt x="271653" y="3489452"/>
                  </a:cubicBezTo>
                  <a:lnTo>
                    <a:pt x="10459339" y="3489452"/>
                  </a:lnTo>
                  <a:cubicBezTo>
                    <a:pt x="10581513" y="3489452"/>
                    <a:pt x="10680192" y="3391408"/>
                    <a:pt x="10680192" y="3271012"/>
                  </a:cubicBezTo>
                  <a:lnTo>
                    <a:pt x="10680192" y="269240"/>
                  </a:lnTo>
                  <a:cubicBezTo>
                    <a:pt x="10680192" y="148844"/>
                    <a:pt x="10581513" y="50800"/>
                    <a:pt x="10459339" y="50800"/>
                  </a:cubicBezTo>
                  <a:lnTo>
                    <a:pt x="271653" y="50800"/>
                  </a:lnTo>
                  <a:lnTo>
                    <a:pt x="271653" y="25400"/>
                  </a:lnTo>
                  <a:lnTo>
                    <a:pt x="271653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247584" y="6545759"/>
            <a:ext cx="152400" cy="2617143"/>
            <a:chOff x="0" y="0"/>
            <a:chExt cx="203200" cy="3489523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203200" cy="3489579"/>
            </a:xfrm>
            <a:custGeom>
              <a:avLst/>
              <a:gdLst/>
              <a:ahLst/>
              <a:cxnLst/>
              <a:rect l="l" t="t" r="r" b="b"/>
              <a:pathLst>
                <a:path w="203200" h="3489579">
                  <a:moveTo>
                    <a:pt x="0" y="0"/>
                  </a:moveTo>
                  <a:lnTo>
                    <a:pt x="203200" y="0"/>
                  </a:lnTo>
                  <a:lnTo>
                    <a:pt x="203200" y="3489579"/>
                  </a:lnTo>
                  <a:lnTo>
                    <a:pt x="0" y="3489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b="-41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9721602" y="6829276"/>
            <a:ext cx="425068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Scalability &amp; Modularity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21602" y="7385149"/>
            <a:ext cx="7252544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Designed to be highly modular, allowing for easy expansion into a more advanced, potentially AI-powered assistant in the future.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11709" y="422602"/>
            <a:ext cx="2899022" cy="38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Nova's Capabilities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1709" y="1045220"/>
            <a:ext cx="7419391" cy="592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Key Features: What Nova Can Do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811709" y="2167384"/>
            <a:ext cx="695771" cy="695771"/>
          </a:xfrm>
          <a:custGeom>
            <a:avLst/>
            <a:gdLst/>
            <a:ahLst/>
            <a:cxnLst/>
            <a:rect l="l" t="t" r="r" b="b"/>
            <a:pathLst>
              <a:path w="695771" h="695771">
                <a:moveTo>
                  <a:pt x="0" y="0"/>
                </a:moveTo>
                <a:lnTo>
                  <a:pt x="695771" y="0"/>
                </a:lnTo>
                <a:lnTo>
                  <a:pt x="695771" y="695771"/>
                </a:lnTo>
                <a:lnTo>
                  <a:pt x="0" y="695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432" b="-743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11709" y="2977455"/>
            <a:ext cx="2899022" cy="39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Voice Interaction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1709" y="3431381"/>
            <a:ext cx="8187332" cy="82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🎙️</a:t>
            </a: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Provides voice responses for all key interactions, with the help of  espeak system calls.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88810" y="2020491"/>
            <a:ext cx="695771" cy="695771"/>
          </a:xfrm>
          <a:custGeom>
            <a:avLst/>
            <a:gdLst/>
            <a:ahLst/>
            <a:cxnLst/>
            <a:rect l="l" t="t" r="r" b="b"/>
            <a:pathLst>
              <a:path w="695771" h="695771">
                <a:moveTo>
                  <a:pt x="0" y="0"/>
                </a:moveTo>
                <a:lnTo>
                  <a:pt x="695771" y="0"/>
                </a:lnTo>
                <a:lnTo>
                  <a:pt x="695771" y="695771"/>
                </a:lnTo>
                <a:lnTo>
                  <a:pt x="0" y="695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288810" y="2977455"/>
            <a:ext cx="2899023" cy="39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Web Navigation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88810" y="3431381"/>
            <a:ext cx="8187481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🌐</a:t>
            </a: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Can open specified websites like Google, YouTube, or custom URLs using OS commands.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811709" y="4722614"/>
            <a:ext cx="695771" cy="695771"/>
          </a:xfrm>
          <a:custGeom>
            <a:avLst/>
            <a:gdLst/>
            <a:ahLst/>
            <a:cxnLst/>
            <a:rect l="l" t="t" r="r" b="b"/>
            <a:pathLst>
              <a:path w="695771" h="695771">
                <a:moveTo>
                  <a:pt x="0" y="0"/>
                </a:moveTo>
                <a:lnTo>
                  <a:pt x="695771" y="0"/>
                </a:lnTo>
                <a:lnTo>
                  <a:pt x="695771" y="695771"/>
                </a:lnTo>
                <a:lnTo>
                  <a:pt x="0" y="695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0135" b="-10135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11709" y="5679579"/>
            <a:ext cx="2899022" cy="39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Basic Calculator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1709" y="6133505"/>
            <a:ext cx="8187332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🧮</a:t>
            </a: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Built-in utility to perform simple arithmetic calculations with immediate results.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288810" y="4722614"/>
            <a:ext cx="695771" cy="695771"/>
          </a:xfrm>
          <a:custGeom>
            <a:avLst/>
            <a:gdLst/>
            <a:ahLst/>
            <a:cxnLst/>
            <a:rect l="l" t="t" r="r" b="b"/>
            <a:pathLst>
              <a:path w="695771" h="695771">
                <a:moveTo>
                  <a:pt x="0" y="0"/>
                </a:moveTo>
                <a:lnTo>
                  <a:pt x="695771" y="0"/>
                </a:lnTo>
                <a:lnTo>
                  <a:pt x="695771" y="695771"/>
                </a:lnTo>
                <a:lnTo>
                  <a:pt x="0" y="6957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1486" b="-1148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288810" y="5679579"/>
            <a:ext cx="2899023" cy="39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Note Management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8810" y="6133505"/>
            <a:ext cx="8187481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🗒️</a:t>
            </a: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Simple note-taking system to add, view, or clear personalized notes using file persistence.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811709" y="7415212"/>
            <a:ext cx="695771" cy="695771"/>
          </a:xfrm>
          <a:custGeom>
            <a:avLst/>
            <a:gdLst/>
            <a:ahLst/>
            <a:cxnLst/>
            <a:rect l="l" t="t" r="r" b="b"/>
            <a:pathLst>
              <a:path w="695771" h="695771">
                <a:moveTo>
                  <a:pt x="0" y="0"/>
                </a:moveTo>
                <a:lnTo>
                  <a:pt x="695771" y="0"/>
                </a:lnTo>
                <a:lnTo>
                  <a:pt x="695771" y="695772"/>
                </a:lnTo>
                <a:lnTo>
                  <a:pt x="0" y="695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11709" y="8372177"/>
            <a:ext cx="2899022" cy="39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Date &amp; Time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709" y="8826102"/>
            <a:ext cx="8187332" cy="82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🕒</a:t>
            </a: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Displays the real-time date and time, managed efficiently using the &lt;ctime&gt; library.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288810" y="7415212"/>
            <a:ext cx="695771" cy="695771"/>
          </a:xfrm>
          <a:custGeom>
            <a:avLst/>
            <a:gdLst/>
            <a:ahLst/>
            <a:cxnLst/>
            <a:rect l="l" t="t" r="r" b="b"/>
            <a:pathLst>
              <a:path w="695771" h="695771">
                <a:moveTo>
                  <a:pt x="0" y="0"/>
                </a:moveTo>
                <a:lnTo>
                  <a:pt x="695771" y="0"/>
                </a:lnTo>
                <a:lnTo>
                  <a:pt x="695771" y="695772"/>
                </a:lnTo>
                <a:lnTo>
                  <a:pt x="0" y="6957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027" r="-2027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288810" y="8372177"/>
            <a:ext cx="2899023" cy="39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Conversational Talk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88810" y="8826102"/>
            <a:ext cx="8187481" cy="81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💬</a:t>
            </a: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Responds to common greetings, small talk, and injects light humor to enhance the user experience.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0204" y="705742"/>
            <a:ext cx="6049577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CHAPTER 2: Architecture and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0204" y="1202531"/>
            <a:ext cx="10779175" cy="69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Applying Object-Oriented Principles (OOP)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0204" y="2206675"/>
            <a:ext cx="16447591" cy="50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Nova's structure is built on four core OOP pillars, ensuring the code is organized, scalable, and maintainable.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0204" y="3008859"/>
            <a:ext cx="8092380" cy="788789"/>
            <a:chOff x="0" y="0"/>
            <a:chExt cx="10789840" cy="10517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89920" cy="1051814"/>
            </a:xfrm>
            <a:custGeom>
              <a:avLst/>
              <a:gdLst/>
              <a:ahLst/>
              <a:cxnLst/>
              <a:rect l="l" t="t" r="r" b="b"/>
              <a:pathLst>
                <a:path w="10789920" h="1051814">
                  <a:moveTo>
                    <a:pt x="0" y="525907"/>
                  </a:moveTo>
                  <a:cubicBezTo>
                    <a:pt x="0" y="235458"/>
                    <a:pt x="235458" y="0"/>
                    <a:pt x="525907" y="0"/>
                  </a:cubicBezTo>
                  <a:lnTo>
                    <a:pt x="10264013" y="0"/>
                  </a:lnTo>
                  <a:cubicBezTo>
                    <a:pt x="10554462" y="0"/>
                    <a:pt x="10789920" y="235458"/>
                    <a:pt x="10789920" y="525907"/>
                  </a:cubicBezTo>
                  <a:cubicBezTo>
                    <a:pt x="10789920" y="816356"/>
                    <a:pt x="10554462" y="1051814"/>
                    <a:pt x="10264013" y="1051814"/>
                  </a:cubicBezTo>
                  <a:lnTo>
                    <a:pt x="525907" y="1051814"/>
                  </a:lnTo>
                  <a:cubicBezTo>
                    <a:pt x="235458" y="1051687"/>
                    <a:pt x="0" y="816229"/>
                    <a:pt x="0" y="525907"/>
                  </a:cubicBezTo>
                  <a:close/>
                </a:path>
              </a:pathLst>
            </a:custGeom>
            <a:solidFill>
              <a:srgbClr val="F94CAF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4769198" y="3206055"/>
            <a:ext cx="394395" cy="394395"/>
          </a:xfrm>
          <a:custGeom>
            <a:avLst/>
            <a:gdLst/>
            <a:ahLst/>
            <a:cxnLst/>
            <a:rect l="l" t="t" r="r" b="b"/>
            <a:pathLst>
              <a:path w="394395" h="394395">
                <a:moveTo>
                  <a:pt x="0" y="0"/>
                </a:moveTo>
                <a:lnTo>
                  <a:pt x="394394" y="0"/>
                </a:lnTo>
                <a:lnTo>
                  <a:pt x="394394" y="394395"/>
                </a:lnTo>
                <a:lnTo>
                  <a:pt x="0" y="394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90" r="-119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83035" y="4041427"/>
            <a:ext cx="3286720" cy="42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Encapsulation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3035" y="4543276"/>
            <a:ext cx="7566720" cy="134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Each function, such as managing notes or calculations, is contained within its dedicated class, bundling data and methods.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75415" y="3008859"/>
            <a:ext cx="8092380" cy="788789"/>
            <a:chOff x="0" y="0"/>
            <a:chExt cx="10789840" cy="10517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89920" cy="1051814"/>
            </a:xfrm>
            <a:custGeom>
              <a:avLst/>
              <a:gdLst/>
              <a:ahLst/>
              <a:cxnLst/>
              <a:rect l="l" t="t" r="r" b="b"/>
              <a:pathLst>
                <a:path w="10789920" h="1051814">
                  <a:moveTo>
                    <a:pt x="0" y="525907"/>
                  </a:moveTo>
                  <a:cubicBezTo>
                    <a:pt x="0" y="235458"/>
                    <a:pt x="235458" y="0"/>
                    <a:pt x="525907" y="0"/>
                  </a:cubicBezTo>
                  <a:lnTo>
                    <a:pt x="10264013" y="0"/>
                  </a:lnTo>
                  <a:cubicBezTo>
                    <a:pt x="10554462" y="0"/>
                    <a:pt x="10789920" y="235458"/>
                    <a:pt x="10789920" y="525907"/>
                  </a:cubicBezTo>
                  <a:cubicBezTo>
                    <a:pt x="10789920" y="816356"/>
                    <a:pt x="10554462" y="1051814"/>
                    <a:pt x="10264013" y="1051814"/>
                  </a:cubicBezTo>
                  <a:lnTo>
                    <a:pt x="525907" y="1051814"/>
                  </a:lnTo>
                  <a:cubicBezTo>
                    <a:pt x="235458" y="1051687"/>
                    <a:pt x="0" y="816229"/>
                    <a:pt x="0" y="52590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13124409" y="3206055"/>
            <a:ext cx="394395" cy="394395"/>
          </a:xfrm>
          <a:custGeom>
            <a:avLst/>
            <a:gdLst/>
            <a:ahLst/>
            <a:cxnLst/>
            <a:rect l="l" t="t" r="r" b="b"/>
            <a:pathLst>
              <a:path w="394395" h="394395">
                <a:moveTo>
                  <a:pt x="0" y="0"/>
                </a:moveTo>
                <a:lnTo>
                  <a:pt x="394395" y="0"/>
                </a:lnTo>
                <a:lnTo>
                  <a:pt x="394395" y="394395"/>
                </a:lnTo>
                <a:lnTo>
                  <a:pt x="0" y="394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538246" y="4041427"/>
            <a:ext cx="3286720" cy="42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Abstraction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38246" y="4543276"/>
            <a:ext cx="7566720" cy="92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user only sees the high-level commands (e.g., "calculate"); the complex underlying C++ logic and OS calls remain hidden.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0204" y="6416874"/>
            <a:ext cx="8092380" cy="788789"/>
            <a:chOff x="0" y="0"/>
            <a:chExt cx="10789840" cy="10517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89920" cy="1051814"/>
            </a:xfrm>
            <a:custGeom>
              <a:avLst/>
              <a:gdLst/>
              <a:ahLst/>
              <a:cxnLst/>
              <a:rect l="l" t="t" r="r" b="b"/>
              <a:pathLst>
                <a:path w="10789920" h="1051814">
                  <a:moveTo>
                    <a:pt x="0" y="525907"/>
                  </a:moveTo>
                  <a:cubicBezTo>
                    <a:pt x="0" y="235458"/>
                    <a:pt x="235458" y="0"/>
                    <a:pt x="525907" y="0"/>
                  </a:cubicBezTo>
                  <a:lnTo>
                    <a:pt x="10264013" y="0"/>
                  </a:lnTo>
                  <a:cubicBezTo>
                    <a:pt x="10554462" y="0"/>
                    <a:pt x="10789920" y="235458"/>
                    <a:pt x="10789920" y="525907"/>
                  </a:cubicBezTo>
                  <a:cubicBezTo>
                    <a:pt x="10789920" y="816356"/>
                    <a:pt x="10554462" y="1051814"/>
                    <a:pt x="10264013" y="1051814"/>
                  </a:cubicBezTo>
                  <a:lnTo>
                    <a:pt x="525907" y="1051814"/>
                  </a:lnTo>
                  <a:cubicBezTo>
                    <a:pt x="235458" y="1051687"/>
                    <a:pt x="0" y="816229"/>
                    <a:pt x="0" y="525907"/>
                  </a:cubicBezTo>
                  <a:close/>
                </a:path>
              </a:pathLst>
            </a:custGeom>
            <a:solidFill>
              <a:srgbClr val="F94CAF"/>
            </a:solidFill>
          </p:spPr>
        </p:sp>
      </p:grpSp>
      <p:sp>
        <p:nvSpPr>
          <p:cNvPr id="21" name="Freeform 21" descr="preencoded.png"/>
          <p:cNvSpPr/>
          <p:nvPr/>
        </p:nvSpPr>
        <p:spPr>
          <a:xfrm>
            <a:off x="4769198" y="6614071"/>
            <a:ext cx="394395" cy="394395"/>
          </a:xfrm>
          <a:custGeom>
            <a:avLst/>
            <a:gdLst/>
            <a:ahLst/>
            <a:cxnLst/>
            <a:rect l="l" t="t" r="r" b="b"/>
            <a:pathLst>
              <a:path w="394395" h="394395">
                <a:moveTo>
                  <a:pt x="0" y="0"/>
                </a:moveTo>
                <a:lnTo>
                  <a:pt x="394394" y="0"/>
                </a:lnTo>
                <a:lnTo>
                  <a:pt x="394394" y="394395"/>
                </a:lnTo>
                <a:lnTo>
                  <a:pt x="0" y="394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83035" y="7449442"/>
            <a:ext cx="3943350" cy="42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Modularity &amp; Reusability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3035" y="7951291"/>
            <a:ext cx="7566720" cy="134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Individual classes are independent components that can be reused, upgraded, or replaced without affecting the entire system.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75415" y="6416874"/>
            <a:ext cx="8092380" cy="788789"/>
            <a:chOff x="0" y="0"/>
            <a:chExt cx="10789840" cy="10517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89920" cy="1051814"/>
            </a:xfrm>
            <a:custGeom>
              <a:avLst/>
              <a:gdLst/>
              <a:ahLst/>
              <a:cxnLst/>
              <a:rect l="l" t="t" r="r" b="b"/>
              <a:pathLst>
                <a:path w="10789920" h="1051814">
                  <a:moveTo>
                    <a:pt x="0" y="525907"/>
                  </a:moveTo>
                  <a:cubicBezTo>
                    <a:pt x="0" y="235458"/>
                    <a:pt x="235458" y="0"/>
                    <a:pt x="525907" y="0"/>
                  </a:cubicBezTo>
                  <a:lnTo>
                    <a:pt x="10264013" y="0"/>
                  </a:lnTo>
                  <a:cubicBezTo>
                    <a:pt x="10554462" y="0"/>
                    <a:pt x="10789920" y="235458"/>
                    <a:pt x="10789920" y="525907"/>
                  </a:cubicBezTo>
                  <a:cubicBezTo>
                    <a:pt x="10789920" y="816356"/>
                    <a:pt x="10554462" y="1051814"/>
                    <a:pt x="10264013" y="1051814"/>
                  </a:cubicBezTo>
                  <a:lnTo>
                    <a:pt x="525907" y="1051814"/>
                  </a:lnTo>
                  <a:cubicBezTo>
                    <a:pt x="235458" y="1051687"/>
                    <a:pt x="0" y="816229"/>
                    <a:pt x="0" y="52590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3124409" y="6614071"/>
            <a:ext cx="394395" cy="394395"/>
          </a:xfrm>
          <a:custGeom>
            <a:avLst/>
            <a:gdLst/>
            <a:ahLst/>
            <a:cxnLst/>
            <a:rect l="l" t="t" r="r" b="b"/>
            <a:pathLst>
              <a:path w="394395" h="394395">
                <a:moveTo>
                  <a:pt x="0" y="0"/>
                </a:moveTo>
                <a:lnTo>
                  <a:pt x="394395" y="0"/>
                </a:lnTo>
                <a:lnTo>
                  <a:pt x="394395" y="394395"/>
                </a:lnTo>
                <a:lnTo>
                  <a:pt x="0" y="3943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9538246" y="7449442"/>
            <a:ext cx="3286720" cy="429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Composition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38246" y="7951291"/>
            <a:ext cx="7566720" cy="134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</a:t>
            </a:r>
            <a:r>
              <a:rPr lang="en-US" sz="2062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Virtual Assistant</a:t>
            </a: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class acts as the </a:t>
            </a:r>
            <a:r>
              <a:rPr lang="en-US" sz="2062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controller</a:t>
            </a: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creating and managing objects of other classes. It combines all modules to work together, forming a cohesive and scalable assistant.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70185" y="568672"/>
            <a:ext cx="5059264" cy="58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Modular Class Structure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0185" y="1520726"/>
            <a:ext cx="16747629" cy="42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project uses dedicated classes to separate concerns, making development and debugging significantly simpler.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70185" y="2196554"/>
            <a:ext cx="1674762" cy="1267866"/>
            <a:chOff x="0" y="0"/>
            <a:chExt cx="2233017" cy="1690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2914" cy="1690370"/>
            </a:xfrm>
            <a:custGeom>
              <a:avLst/>
              <a:gdLst/>
              <a:ahLst/>
              <a:cxnLst/>
              <a:rect l="l" t="t" r="r" b="b"/>
              <a:pathLst>
                <a:path w="2232914" h="1690370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2188972" y="0"/>
                  </a:lnTo>
                  <a:cubicBezTo>
                    <a:pt x="2213229" y="0"/>
                    <a:pt x="2232914" y="19685"/>
                    <a:pt x="2232914" y="43942"/>
                  </a:cubicBezTo>
                  <a:lnTo>
                    <a:pt x="2232914" y="1646428"/>
                  </a:lnTo>
                  <a:cubicBezTo>
                    <a:pt x="2232914" y="1670685"/>
                    <a:pt x="2213229" y="1690370"/>
                    <a:pt x="2188972" y="1690370"/>
                  </a:cubicBezTo>
                  <a:lnTo>
                    <a:pt x="43942" y="1690370"/>
                  </a:lnTo>
                  <a:cubicBezTo>
                    <a:pt x="19685" y="1690370"/>
                    <a:pt x="0" y="1670685"/>
                    <a:pt x="0" y="1646428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0" name="Freeform 10" descr="preencoded.png"/>
          <p:cNvSpPr/>
          <p:nvPr/>
        </p:nvSpPr>
        <p:spPr>
          <a:xfrm>
            <a:off x="1452860" y="2675781"/>
            <a:ext cx="309414" cy="309414"/>
          </a:xfrm>
          <a:custGeom>
            <a:avLst/>
            <a:gdLst/>
            <a:ahLst/>
            <a:cxnLst/>
            <a:rect l="l" t="t" r="r" b="b"/>
            <a:pathLst>
              <a:path w="309414" h="309414">
                <a:moveTo>
                  <a:pt x="0" y="0"/>
                </a:moveTo>
                <a:lnTo>
                  <a:pt x="309414" y="0"/>
                </a:lnTo>
                <a:lnTo>
                  <a:pt x="309414" y="309414"/>
                </a:lnTo>
                <a:lnTo>
                  <a:pt x="0" y="309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6666" b="-1666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64916" y="2397472"/>
            <a:ext cx="2750641" cy="3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Greeter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64916" y="2816126"/>
            <a:ext cx="9389417" cy="42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Handles initial greetings, conversational responses, and farewell messages for a human touch.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54932" y="3452515"/>
            <a:ext cx="14852897" cy="14288"/>
            <a:chOff x="0" y="0"/>
            <a:chExt cx="19803863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803872" cy="19050"/>
            </a:xfrm>
            <a:custGeom>
              <a:avLst/>
              <a:gdLst/>
              <a:ahLst/>
              <a:cxnLst/>
              <a:rect l="l" t="t" r="r" b="b"/>
              <a:pathLst>
                <a:path w="19803872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9794347" y="0"/>
                  </a:lnTo>
                  <a:cubicBezTo>
                    <a:pt x="19799554" y="0"/>
                    <a:pt x="19803872" y="4318"/>
                    <a:pt x="19803872" y="9525"/>
                  </a:cubicBezTo>
                  <a:cubicBezTo>
                    <a:pt x="19803872" y="14732"/>
                    <a:pt x="19799554" y="19050"/>
                    <a:pt x="19794347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70185" y="3574405"/>
            <a:ext cx="3349526" cy="1267866"/>
            <a:chOff x="0" y="0"/>
            <a:chExt cx="4466035" cy="16904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65955" cy="1690370"/>
            </a:xfrm>
            <a:custGeom>
              <a:avLst/>
              <a:gdLst/>
              <a:ahLst/>
              <a:cxnLst/>
              <a:rect l="l" t="t" r="r" b="b"/>
              <a:pathLst>
                <a:path w="4465955" h="1690370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4422013" y="0"/>
                  </a:lnTo>
                  <a:cubicBezTo>
                    <a:pt x="4446270" y="0"/>
                    <a:pt x="4465955" y="19685"/>
                    <a:pt x="4465955" y="43942"/>
                  </a:cubicBezTo>
                  <a:lnTo>
                    <a:pt x="4465955" y="1646428"/>
                  </a:lnTo>
                  <a:cubicBezTo>
                    <a:pt x="4465955" y="1670685"/>
                    <a:pt x="4446270" y="1690370"/>
                    <a:pt x="4422013" y="1690370"/>
                  </a:cubicBezTo>
                  <a:lnTo>
                    <a:pt x="43942" y="1690370"/>
                  </a:lnTo>
                  <a:cubicBezTo>
                    <a:pt x="19685" y="1690370"/>
                    <a:pt x="0" y="1670685"/>
                    <a:pt x="0" y="1646428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7" name="Freeform 17" descr="preencoded.png"/>
          <p:cNvSpPr/>
          <p:nvPr/>
        </p:nvSpPr>
        <p:spPr>
          <a:xfrm>
            <a:off x="2290167" y="4053631"/>
            <a:ext cx="309414" cy="309414"/>
          </a:xfrm>
          <a:custGeom>
            <a:avLst/>
            <a:gdLst/>
            <a:ahLst/>
            <a:cxnLst/>
            <a:rect l="l" t="t" r="r" b="b"/>
            <a:pathLst>
              <a:path w="309414" h="309414">
                <a:moveTo>
                  <a:pt x="0" y="0"/>
                </a:moveTo>
                <a:lnTo>
                  <a:pt x="309414" y="0"/>
                </a:lnTo>
                <a:lnTo>
                  <a:pt x="309414" y="309414"/>
                </a:lnTo>
                <a:lnTo>
                  <a:pt x="0" y="309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9696" b="-1969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39679" y="3775322"/>
            <a:ext cx="2750641" cy="36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TaskManager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39679" y="4193976"/>
            <a:ext cx="11039326" cy="42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Responsible for system operations: opening websites, launching local applications, and displaying system info.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229695" y="4830366"/>
            <a:ext cx="13178135" cy="14288"/>
            <a:chOff x="0" y="0"/>
            <a:chExt cx="17570847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70831" cy="19050"/>
            </a:xfrm>
            <a:custGeom>
              <a:avLst/>
              <a:gdLst/>
              <a:ahLst/>
              <a:cxnLst/>
              <a:rect l="l" t="t" r="r" b="b"/>
              <a:pathLst>
                <a:path w="17570831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7561306" y="0"/>
                  </a:lnTo>
                  <a:cubicBezTo>
                    <a:pt x="17566514" y="0"/>
                    <a:pt x="17570831" y="4318"/>
                    <a:pt x="17570831" y="9525"/>
                  </a:cubicBezTo>
                  <a:cubicBezTo>
                    <a:pt x="17570831" y="14732"/>
                    <a:pt x="17566514" y="19050"/>
                    <a:pt x="17561306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70185" y="4952256"/>
            <a:ext cx="5024289" cy="1267866"/>
            <a:chOff x="0" y="0"/>
            <a:chExt cx="6699052" cy="16904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98997" cy="1690370"/>
            </a:xfrm>
            <a:custGeom>
              <a:avLst/>
              <a:gdLst/>
              <a:ahLst/>
              <a:cxnLst/>
              <a:rect l="l" t="t" r="r" b="b"/>
              <a:pathLst>
                <a:path w="6698997" h="1690370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655054" y="0"/>
                  </a:lnTo>
                  <a:cubicBezTo>
                    <a:pt x="6679311" y="0"/>
                    <a:pt x="6698997" y="19685"/>
                    <a:pt x="6698997" y="43942"/>
                  </a:cubicBezTo>
                  <a:lnTo>
                    <a:pt x="6698997" y="1646428"/>
                  </a:lnTo>
                  <a:cubicBezTo>
                    <a:pt x="6698997" y="1670685"/>
                    <a:pt x="6679311" y="1690370"/>
                    <a:pt x="6655054" y="1690370"/>
                  </a:cubicBezTo>
                  <a:lnTo>
                    <a:pt x="43942" y="1690370"/>
                  </a:lnTo>
                  <a:cubicBezTo>
                    <a:pt x="19685" y="1690370"/>
                    <a:pt x="0" y="1670685"/>
                    <a:pt x="0" y="1646428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24" name="Freeform 24" descr="preencoded.png"/>
          <p:cNvSpPr/>
          <p:nvPr/>
        </p:nvSpPr>
        <p:spPr>
          <a:xfrm>
            <a:off x="3127622" y="5431482"/>
            <a:ext cx="309414" cy="309414"/>
          </a:xfrm>
          <a:custGeom>
            <a:avLst/>
            <a:gdLst/>
            <a:ahLst/>
            <a:cxnLst/>
            <a:rect l="l" t="t" r="r" b="b"/>
            <a:pathLst>
              <a:path w="309414" h="309414">
                <a:moveTo>
                  <a:pt x="0" y="0"/>
                </a:moveTo>
                <a:lnTo>
                  <a:pt x="309414" y="0"/>
                </a:lnTo>
                <a:lnTo>
                  <a:pt x="309414" y="309414"/>
                </a:lnTo>
                <a:lnTo>
                  <a:pt x="0" y="309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30" r="-3030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014442" y="5153174"/>
            <a:ext cx="2750641" cy="3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Calculator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14442" y="5571827"/>
            <a:ext cx="10306794" cy="42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Dedicated to parsing input and performing arithmetic operations, providing both text and voice results.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904459" y="6208216"/>
            <a:ext cx="11503372" cy="14288"/>
            <a:chOff x="0" y="0"/>
            <a:chExt cx="1533783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337789" cy="19050"/>
            </a:xfrm>
            <a:custGeom>
              <a:avLst/>
              <a:gdLst/>
              <a:ahLst/>
              <a:cxnLst/>
              <a:rect l="l" t="t" r="r" b="b"/>
              <a:pathLst>
                <a:path w="15337789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5328264" y="0"/>
                  </a:lnTo>
                  <a:cubicBezTo>
                    <a:pt x="15333472" y="0"/>
                    <a:pt x="15337789" y="4318"/>
                    <a:pt x="15337789" y="9525"/>
                  </a:cubicBezTo>
                  <a:cubicBezTo>
                    <a:pt x="15337789" y="14732"/>
                    <a:pt x="15333472" y="19050"/>
                    <a:pt x="15328264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70185" y="6330106"/>
            <a:ext cx="6699051" cy="1619994"/>
            <a:chOff x="0" y="0"/>
            <a:chExt cx="8932068" cy="21599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32163" cy="2160016"/>
            </a:xfrm>
            <a:custGeom>
              <a:avLst/>
              <a:gdLst/>
              <a:ahLst/>
              <a:cxnLst/>
              <a:rect l="l" t="t" r="r" b="b"/>
              <a:pathLst>
                <a:path w="8932163" h="2160016">
                  <a:moveTo>
                    <a:pt x="0" y="44069"/>
                  </a:moveTo>
                  <a:cubicBezTo>
                    <a:pt x="0" y="19685"/>
                    <a:pt x="19685" y="0"/>
                    <a:pt x="44069" y="0"/>
                  </a:cubicBezTo>
                  <a:lnTo>
                    <a:pt x="8888095" y="0"/>
                  </a:lnTo>
                  <a:cubicBezTo>
                    <a:pt x="8912351" y="0"/>
                    <a:pt x="8932163" y="19685"/>
                    <a:pt x="8932163" y="44069"/>
                  </a:cubicBezTo>
                  <a:lnTo>
                    <a:pt x="8932163" y="2115947"/>
                  </a:lnTo>
                  <a:cubicBezTo>
                    <a:pt x="8932163" y="2140204"/>
                    <a:pt x="8912478" y="2160016"/>
                    <a:pt x="8888095" y="2160016"/>
                  </a:cubicBezTo>
                  <a:lnTo>
                    <a:pt x="44069" y="2160016"/>
                  </a:lnTo>
                  <a:cubicBezTo>
                    <a:pt x="19812" y="2160016"/>
                    <a:pt x="0" y="2140331"/>
                    <a:pt x="0" y="211594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3964930" y="6985397"/>
            <a:ext cx="309414" cy="309414"/>
          </a:xfrm>
          <a:custGeom>
            <a:avLst/>
            <a:gdLst/>
            <a:ahLst/>
            <a:cxnLst/>
            <a:rect l="l" t="t" r="r" b="b"/>
            <a:pathLst>
              <a:path w="309414" h="309414">
                <a:moveTo>
                  <a:pt x="0" y="0"/>
                </a:moveTo>
                <a:lnTo>
                  <a:pt x="309414" y="0"/>
                </a:lnTo>
                <a:lnTo>
                  <a:pt x="309414" y="309414"/>
                </a:lnTo>
                <a:lnTo>
                  <a:pt x="0" y="309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7575" b="-7575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7689205" y="6531025"/>
            <a:ext cx="2750641" cy="3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Notes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89205" y="6949679"/>
            <a:ext cx="9608641" cy="78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Manages persistent data storage for notes using file I/O operations (saving, reading, and clearing data).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579221" y="7938195"/>
            <a:ext cx="9828610" cy="14288"/>
            <a:chOff x="0" y="0"/>
            <a:chExt cx="13104813" cy="190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104876" cy="19050"/>
            </a:xfrm>
            <a:custGeom>
              <a:avLst/>
              <a:gdLst/>
              <a:ahLst/>
              <a:cxnLst/>
              <a:rect l="l" t="t" r="r" b="b"/>
              <a:pathLst>
                <a:path w="13104876" h="1905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3095351" y="0"/>
                  </a:lnTo>
                  <a:cubicBezTo>
                    <a:pt x="13100558" y="0"/>
                    <a:pt x="13104876" y="4318"/>
                    <a:pt x="13104876" y="9525"/>
                  </a:cubicBezTo>
                  <a:cubicBezTo>
                    <a:pt x="13104876" y="14732"/>
                    <a:pt x="13100558" y="19050"/>
                    <a:pt x="13095351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770185" y="8060085"/>
            <a:ext cx="8373815" cy="1619994"/>
            <a:chOff x="0" y="0"/>
            <a:chExt cx="11165087" cy="21599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165077" cy="2160016"/>
            </a:xfrm>
            <a:custGeom>
              <a:avLst/>
              <a:gdLst/>
              <a:ahLst/>
              <a:cxnLst/>
              <a:rect l="l" t="t" r="r" b="b"/>
              <a:pathLst>
                <a:path w="11165077" h="2160016">
                  <a:moveTo>
                    <a:pt x="0" y="44069"/>
                  </a:moveTo>
                  <a:cubicBezTo>
                    <a:pt x="0" y="19685"/>
                    <a:pt x="19685" y="0"/>
                    <a:pt x="44069" y="0"/>
                  </a:cubicBezTo>
                  <a:lnTo>
                    <a:pt x="11121009" y="0"/>
                  </a:lnTo>
                  <a:cubicBezTo>
                    <a:pt x="11145265" y="0"/>
                    <a:pt x="11165077" y="19685"/>
                    <a:pt x="11165077" y="44069"/>
                  </a:cubicBezTo>
                  <a:lnTo>
                    <a:pt x="11165077" y="2115947"/>
                  </a:lnTo>
                  <a:cubicBezTo>
                    <a:pt x="11165077" y="2140204"/>
                    <a:pt x="11145393" y="2160016"/>
                    <a:pt x="11121009" y="2160016"/>
                  </a:cubicBezTo>
                  <a:lnTo>
                    <a:pt x="44069" y="2160016"/>
                  </a:lnTo>
                  <a:cubicBezTo>
                    <a:pt x="19812" y="2160016"/>
                    <a:pt x="0" y="2140331"/>
                    <a:pt x="0" y="211594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38" name="Freeform 38" descr="preencoded.png"/>
          <p:cNvSpPr/>
          <p:nvPr/>
        </p:nvSpPr>
        <p:spPr>
          <a:xfrm>
            <a:off x="4802386" y="8715375"/>
            <a:ext cx="309414" cy="309414"/>
          </a:xfrm>
          <a:custGeom>
            <a:avLst/>
            <a:gdLst/>
            <a:ahLst/>
            <a:cxnLst/>
            <a:rect l="l" t="t" r="r" b="b"/>
            <a:pathLst>
              <a:path w="309414" h="309414">
                <a:moveTo>
                  <a:pt x="0" y="0"/>
                </a:moveTo>
                <a:lnTo>
                  <a:pt x="309414" y="0"/>
                </a:lnTo>
                <a:lnTo>
                  <a:pt x="309414" y="309414"/>
                </a:lnTo>
                <a:lnTo>
                  <a:pt x="0" y="309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6060" b="-6060"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363967" y="8261002"/>
            <a:ext cx="3161259" cy="3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VirtualAssistant (Core)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63967" y="8679656"/>
            <a:ext cx="7933879" cy="78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central hub that accepts user input, routes commands to the appropriate module, and maintains the main program loop.</a:t>
            </a:r>
          </a:p>
        </p:txBody>
      </p:sp>
    </p:spTree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7525" y="940594"/>
            <a:ext cx="5698904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CHAPTER 3: Implementation Details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7525" y="1435894"/>
            <a:ext cx="11885350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Processing User Input and Command Matching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7525" y="2682180"/>
            <a:ext cx="9615785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Input is continuously read using </a:t>
            </a:r>
            <a:r>
              <a:rPr lang="en-US" sz="2062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getline(cin, input)</a:t>
            </a: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within the main loop.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7525" y="3207916"/>
            <a:ext cx="9615785" cy="7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program scans the input string for predefined **keywords** using the C-style function</a:t>
            </a:r>
            <a:r>
              <a:rPr lang="en-US" sz="2062" b="1">
                <a:solidFill>
                  <a:srgbClr val="B4BFE4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sz="2062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strstr().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7525" y="4143226"/>
            <a:ext cx="9615785" cy="7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Upon finding a match, the corresponding class method is called (e.g., </a:t>
            </a:r>
            <a:r>
              <a:rPr lang="en-US" sz="2062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TaskManager::openWebsite()</a:t>
            </a: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or </a:t>
            </a:r>
            <a:r>
              <a:rPr lang="en-US" sz="2062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Calculator::calculate()</a:t>
            </a: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525" y="5083523"/>
            <a:ext cx="9615785" cy="92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Example: If the input contains "open google," the TaskManager is instructed to launch the browser.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525" y="6023819"/>
            <a:ext cx="9615785" cy="92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Current Limitation: strstr() is case-sensitive, requiring users to type commands in lowercase (e.g., "time" not "Time").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7525" y="6964115"/>
            <a:ext cx="9615785" cy="134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Improvement: This can be fixed by converting the entire input to lowercase immediately upon reception using the C++ standard library’s transform function for robust input handling: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0729" y="8489008"/>
            <a:ext cx="9222581" cy="54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DAD1E6"/>
                </a:solidFill>
                <a:latin typeface="Consolas"/>
                <a:ea typeface="Consolas"/>
                <a:cs typeface="Consolas"/>
                <a:sym typeface="Consolas"/>
              </a:rPr>
              <a:t>transform(input.begin(), input.end(), input.begin(), ::tolower);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7525" y="8603308"/>
            <a:ext cx="28575" cy="429071"/>
            <a:chOff x="0" y="0"/>
            <a:chExt cx="38100" cy="5720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572135"/>
            </a:xfrm>
            <a:custGeom>
              <a:avLst/>
              <a:gdLst/>
              <a:ahLst/>
              <a:cxnLst/>
              <a:rect l="l" t="t" r="r" b="b"/>
              <a:pathLst>
                <a:path w="38100" h="572135">
                  <a:moveTo>
                    <a:pt x="0" y="0"/>
                  </a:moveTo>
                  <a:lnTo>
                    <a:pt x="38100" y="0"/>
                  </a:lnTo>
                  <a:lnTo>
                    <a:pt x="38100" y="572135"/>
                  </a:lnTo>
                  <a:lnTo>
                    <a:pt x="0" y="572135"/>
                  </a:lnTo>
                  <a:close/>
                </a:path>
              </a:pathLst>
            </a:custGeom>
            <a:solidFill>
              <a:srgbClr val="F94CA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182499" y="2817316"/>
            <a:ext cx="6197352" cy="6197352"/>
            <a:chOff x="0" y="0"/>
            <a:chExt cx="8263137" cy="8263137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8263128" cy="8263128"/>
            </a:xfrm>
            <a:custGeom>
              <a:avLst/>
              <a:gdLst/>
              <a:ahLst/>
              <a:cxnLst/>
              <a:rect l="l" t="t" r="r" b="b"/>
              <a:pathLst>
                <a:path w="8263128" h="8263128">
                  <a:moveTo>
                    <a:pt x="0" y="0"/>
                  </a:moveTo>
                  <a:lnTo>
                    <a:pt x="8263128" y="0"/>
                  </a:lnTo>
                  <a:lnTo>
                    <a:pt x="8263128" y="8263128"/>
                  </a:lnTo>
                  <a:lnTo>
                    <a:pt x="0" y="826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323760"/>
            <a:chOff x="0" y="0"/>
            <a:chExt cx="9144000" cy="1376501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65022"/>
            </a:xfrm>
            <a:custGeom>
              <a:avLst/>
              <a:gdLst/>
              <a:ahLst/>
              <a:cxnLst/>
              <a:rect l="l" t="t" r="r" b="b"/>
              <a:pathLst>
                <a:path w="9144000" h="13765022">
                  <a:moveTo>
                    <a:pt x="0" y="0"/>
                  </a:moveTo>
                  <a:lnTo>
                    <a:pt x="9144000" y="0"/>
                  </a:lnTo>
                  <a:lnTo>
                    <a:pt x="9144000" y="13765022"/>
                  </a:lnTo>
                  <a:lnTo>
                    <a:pt x="0" y="13765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" b="-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676555" y="595461"/>
            <a:ext cx="9792891" cy="121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Interacting with the OS: The system() Function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76555" y="2077343"/>
            <a:ext cx="9792891" cy="8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system() function is crucial as it bridges the gap between C++ code and the underlying operating system's shell.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76555" y="3544640"/>
            <a:ext cx="4779466" cy="2868811"/>
            <a:chOff x="0" y="0"/>
            <a:chExt cx="6372622" cy="38250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72606" cy="3825113"/>
            </a:xfrm>
            <a:custGeom>
              <a:avLst/>
              <a:gdLst/>
              <a:ahLst/>
              <a:cxnLst/>
              <a:rect l="l" t="t" r="r" b="b"/>
              <a:pathLst>
                <a:path w="6372606" h="382511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89726" y="0"/>
                  </a:lnTo>
                  <a:cubicBezTo>
                    <a:pt x="6290691" y="0"/>
                    <a:pt x="6372606" y="81915"/>
                    <a:pt x="6372606" y="182880"/>
                  </a:cubicBezTo>
                  <a:lnTo>
                    <a:pt x="6372606" y="3642233"/>
                  </a:lnTo>
                  <a:cubicBezTo>
                    <a:pt x="6372606" y="3743198"/>
                    <a:pt x="6290691" y="3825113"/>
                    <a:pt x="6189726" y="3825113"/>
                  </a:cubicBezTo>
                  <a:lnTo>
                    <a:pt x="182880" y="3825113"/>
                  </a:lnTo>
                  <a:cubicBezTo>
                    <a:pt x="81915" y="3825113"/>
                    <a:pt x="0" y="3743198"/>
                    <a:pt x="0" y="364223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676555" y="3516065"/>
            <a:ext cx="4779466" cy="114300"/>
            <a:chOff x="0" y="0"/>
            <a:chExt cx="6372622" cy="152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372606" cy="152400"/>
            </a:xfrm>
            <a:custGeom>
              <a:avLst/>
              <a:gdLst/>
              <a:ahLst/>
              <a:cxnLst/>
              <a:rect l="l" t="t" r="r" b="b"/>
              <a:pathLst>
                <a:path w="6372606" h="152400">
                  <a:moveTo>
                    <a:pt x="0" y="0"/>
                  </a:moveTo>
                  <a:lnTo>
                    <a:pt x="6372606" y="0"/>
                  </a:lnTo>
                  <a:lnTo>
                    <a:pt x="6372606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r="-2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715500" y="3193851"/>
            <a:ext cx="701576" cy="701576"/>
            <a:chOff x="0" y="0"/>
            <a:chExt cx="935435" cy="935435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35482" cy="935482"/>
            </a:xfrm>
            <a:custGeom>
              <a:avLst/>
              <a:gdLst/>
              <a:ahLst/>
              <a:cxnLst/>
              <a:rect l="l" t="t" r="r" b="b"/>
              <a:pathLst>
                <a:path w="935482" h="935482">
                  <a:moveTo>
                    <a:pt x="0" y="0"/>
                  </a:moveTo>
                  <a:lnTo>
                    <a:pt x="935482" y="0"/>
                  </a:lnTo>
                  <a:lnTo>
                    <a:pt x="935482" y="935482"/>
                  </a:lnTo>
                  <a:lnTo>
                    <a:pt x="0" y="935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5" b="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7938939" y="3973206"/>
            <a:ext cx="2923580" cy="394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Direct OS Access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38939" y="4539555"/>
            <a:ext cx="4254699" cy="169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1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Allows the C++ program to execute arbitrary commands as if they were typed directly into the command line or terminal.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689830" y="3544640"/>
            <a:ext cx="4779615" cy="2868811"/>
            <a:chOff x="0" y="0"/>
            <a:chExt cx="6372820" cy="38250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72860" cy="3825113"/>
            </a:xfrm>
            <a:custGeom>
              <a:avLst/>
              <a:gdLst/>
              <a:ahLst/>
              <a:cxnLst/>
              <a:rect l="l" t="t" r="r" b="b"/>
              <a:pathLst>
                <a:path w="6372860" h="382511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89980" y="0"/>
                  </a:lnTo>
                  <a:cubicBezTo>
                    <a:pt x="6290945" y="0"/>
                    <a:pt x="6372860" y="81915"/>
                    <a:pt x="6372860" y="182880"/>
                  </a:cubicBezTo>
                  <a:lnTo>
                    <a:pt x="6372860" y="3642233"/>
                  </a:lnTo>
                  <a:cubicBezTo>
                    <a:pt x="6372860" y="3743198"/>
                    <a:pt x="6290945" y="3825113"/>
                    <a:pt x="6189980" y="3825113"/>
                  </a:cubicBezTo>
                  <a:lnTo>
                    <a:pt x="182880" y="3825113"/>
                  </a:lnTo>
                  <a:cubicBezTo>
                    <a:pt x="81915" y="3825113"/>
                    <a:pt x="0" y="3743198"/>
                    <a:pt x="0" y="364223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689830" y="3516065"/>
            <a:ext cx="4779615" cy="114300"/>
            <a:chOff x="0" y="0"/>
            <a:chExt cx="6372820" cy="1524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6372860" cy="152400"/>
            </a:xfrm>
            <a:custGeom>
              <a:avLst/>
              <a:gdLst/>
              <a:ahLst/>
              <a:cxnLst/>
              <a:rect l="l" t="t" r="r" b="b"/>
              <a:pathLst>
                <a:path w="6372860" h="152400">
                  <a:moveTo>
                    <a:pt x="0" y="0"/>
                  </a:moveTo>
                  <a:lnTo>
                    <a:pt x="6372860" y="0"/>
                  </a:lnTo>
                  <a:lnTo>
                    <a:pt x="637286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19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2923789" y="3954215"/>
            <a:ext cx="2923580" cy="394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External Control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23789" y="4539555"/>
            <a:ext cx="4254847" cy="212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1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Used to launch external applications or open URLs, providing Nova its functional capabilities (e.g., system("</a:t>
            </a:r>
            <a:r>
              <a:rPr lang="en-US" sz="2112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start notepad</a:t>
            </a:r>
            <a:r>
              <a:rPr lang="en-US" sz="21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")).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76555" y="6998048"/>
            <a:ext cx="9792891" cy="2120205"/>
            <a:chOff x="0" y="0"/>
            <a:chExt cx="13057188" cy="28269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57251" cy="2826893"/>
            </a:xfrm>
            <a:custGeom>
              <a:avLst/>
              <a:gdLst/>
              <a:ahLst/>
              <a:cxnLst/>
              <a:rect l="l" t="t" r="r" b="b"/>
              <a:pathLst>
                <a:path w="13057251" h="282689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74372" y="0"/>
                  </a:lnTo>
                  <a:cubicBezTo>
                    <a:pt x="12975336" y="0"/>
                    <a:pt x="13057251" y="81915"/>
                    <a:pt x="13057251" y="182880"/>
                  </a:cubicBezTo>
                  <a:lnTo>
                    <a:pt x="13057251" y="2644013"/>
                  </a:lnTo>
                  <a:cubicBezTo>
                    <a:pt x="13057251" y="2744978"/>
                    <a:pt x="12975336" y="2826893"/>
                    <a:pt x="12874372" y="2826893"/>
                  </a:cubicBezTo>
                  <a:lnTo>
                    <a:pt x="182880" y="2826893"/>
                  </a:lnTo>
                  <a:cubicBezTo>
                    <a:pt x="81915" y="2826893"/>
                    <a:pt x="0" y="2744978"/>
                    <a:pt x="0" y="264401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676555" y="6969472"/>
            <a:ext cx="9792891" cy="114300"/>
            <a:chOff x="0" y="0"/>
            <a:chExt cx="13057188" cy="15240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3057251" cy="152400"/>
            </a:xfrm>
            <a:custGeom>
              <a:avLst/>
              <a:gdLst/>
              <a:ahLst/>
              <a:cxnLst/>
              <a:rect l="l" t="t" r="r" b="b"/>
              <a:pathLst>
                <a:path w="13057251" h="152400">
                  <a:moveTo>
                    <a:pt x="0" y="0"/>
                  </a:moveTo>
                  <a:lnTo>
                    <a:pt x="13057251" y="0"/>
                  </a:lnTo>
                  <a:lnTo>
                    <a:pt x="13057251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" b="-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2222212" y="6647260"/>
            <a:ext cx="701576" cy="701576"/>
            <a:chOff x="0" y="0"/>
            <a:chExt cx="935435" cy="935435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935482" cy="935482"/>
            </a:xfrm>
            <a:custGeom>
              <a:avLst/>
              <a:gdLst/>
              <a:ahLst/>
              <a:cxnLst/>
              <a:rect l="l" t="t" r="r" b="b"/>
              <a:pathLst>
                <a:path w="935482" h="935482">
                  <a:moveTo>
                    <a:pt x="0" y="0"/>
                  </a:moveTo>
                  <a:lnTo>
                    <a:pt x="935482" y="0"/>
                  </a:lnTo>
                  <a:lnTo>
                    <a:pt x="935482" y="935482"/>
                  </a:lnTo>
                  <a:lnTo>
                    <a:pt x="0" y="935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5" b="5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7938939" y="7407622"/>
            <a:ext cx="2923580" cy="412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54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Voice Synthesis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38939" y="7992964"/>
            <a:ext cx="9268122" cy="87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2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Powers the voice output by making calls to the </a:t>
            </a:r>
            <a:r>
              <a:rPr lang="en-US" sz="2212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espeak</a:t>
            </a:r>
            <a:r>
              <a:rPr lang="en-US" sz="22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utility via the OS command line, dynamically speaking text responses.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93406" y="9289702"/>
            <a:ext cx="9676040" cy="42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22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Example usage for opening a URL: system("start https://www.google.com");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8127" y="722560"/>
            <a:ext cx="12723614" cy="72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12" b="1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Real-Time Data: Leveraging the &lt;ctime&gt; Library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916609"/>
            <a:ext cx="16351746" cy="411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</a:t>
            </a:r>
            <a:r>
              <a:rPr lang="en-US" sz="2125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&lt;ctime&gt;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library is essential for accurate retrieval and formatting of the system date and time.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68127" y="3089076"/>
            <a:ext cx="8689776" cy="2837855"/>
            <a:chOff x="0" y="0"/>
            <a:chExt cx="11586368" cy="37838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86463" cy="3783838"/>
            </a:xfrm>
            <a:custGeom>
              <a:avLst/>
              <a:gdLst/>
              <a:ahLst/>
              <a:cxnLst/>
              <a:rect l="l" t="t" r="r" b="b"/>
              <a:pathLst>
                <a:path w="11586463" h="3783838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11531092" y="0"/>
                  </a:lnTo>
                  <a:cubicBezTo>
                    <a:pt x="11561699" y="0"/>
                    <a:pt x="11586463" y="24765"/>
                    <a:pt x="11586463" y="55372"/>
                  </a:cubicBezTo>
                  <a:lnTo>
                    <a:pt x="11586463" y="3728466"/>
                  </a:lnTo>
                  <a:cubicBezTo>
                    <a:pt x="11586463" y="3759073"/>
                    <a:pt x="11561699" y="3783838"/>
                    <a:pt x="11531092" y="3783838"/>
                  </a:cubicBezTo>
                  <a:lnTo>
                    <a:pt x="55372" y="3783838"/>
                  </a:lnTo>
                  <a:cubicBezTo>
                    <a:pt x="24765" y="3783838"/>
                    <a:pt x="0" y="3759073"/>
                    <a:pt x="0" y="3728466"/>
                  </a:cubicBezTo>
                  <a:close/>
                </a:path>
              </a:pathLst>
            </a:custGeom>
            <a:solidFill>
              <a:srgbClr val="4A022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44650" y="3455938"/>
            <a:ext cx="432198" cy="345727"/>
            <a:chOff x="0" y="0"/>
            <a:chExt cx="576263" cy="46097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576326" cy="461010"/>
            </a:xfrm>
            <a:custGeom>
              <a:avLst/>
              <a:gdLst/>
              <a:ahLst/>
              <a:cxnLst/>
              <a:rect l="l" t="t" r="r" b="b"/>
              <a:pathLst>
                <a:path w="576326" h="461010">
                  <a:moveTo>
                    <a:pt x="0" y="0"/>
                  </a:moveTo>
                  <a:lnTo>
                    <a:pt x="576326" y="0"/>
                  </a:lnTo>
                  <a:lnTo>
                    <a:pt x="576326" y="461010"/>
                  </a:lnTo>
                  <a:lnTo>
                    <a:pt x="0" y="461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" r="10" b="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953369" y="3406080"/>
            <a:ext cx="3457724" cy="46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Code Snippet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953369" y="4177754"/>
            <a:ext cx="7428011" cy="1299865"/>
            <a:chOff x="0" y="0"/>
            <a:chExt cx="9904015" cy="17331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04095" cy="1733169"/>
            </a:xfrm>
            <a:custGeom>
              <a:avLst/>
              <a:gdLst/>
              <a:ahLst/>
              <a:cxnLst/>
              <a:rect l="l" t="t" r="r" b="b"/>
              <a:pathLst>
                <a:path w="9904095" h="1733169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9848723" y="0"/>
                  </a:lnTo>
                  <a:cubicBezTo>
                    <a:pt x="9879330" y="0"/>
                    <a:pt x="9904095" y="24765"/>
                    <a:pt x="9904095" y="55372"/>
                  </a:cubicBezTo>
                  <a:lnTo>
                    <a:pt x="9904095" y="1677797"/>
                  </a:lnTo>
                  <a:cubicBezTo>
                    <a:pt x="9904095" y="1708404"/>
                    <a:pt x="9879330" y="1733169"/>
                    <a:pt x="9848723" y="1733169"/>
                  </a:cubicBezTo>
                  <a:lnTo>
                    <a:pt x="55372" y="1733169"/>
                  </a:lnTo>
                  <a:cubicBezTo>
                    <a:pt x="24765" y="1733169"/>
                    <a:pt x="0" y="1708404"/>
                    <a:pt x="0" y="1677797"/>
                  </a:cubicBezTo>
                  <a:close/>
                </a:path>
              </a:pathLst>
            </a:custGeom>
            <a:solidFill>
              <a:srgbClr val="31233E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939677" y="4177754"/>
            <a:ext cx="7455396" cy="1299865"/>
            <a:chOff x="0" y="0"/>
            <a:chExt cx="9940528" cy="17331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40544" cy="1733169"/>
            </a:xfrm>
            <a:custGeom>
              <a:avLst/>
              <a:gdLst/>
              <a:ahLst/>
              <a:cxnLst/>
              <a:rect l="l" t="t" r="r" b="b"/>
              <a:pathLst>
                <a:path w="9940544" h="1733169">
                  <a:moveTo>
                    <a:pt x="0" y="55372"/>
                  </a:moveTo>
                  <a:cubicBezTo>
                    <a:pt x="0" y="24765"/>
                    <a:pt x="24765" y="0"/>
                    <a:pt x="55372" y="0"/>
                  </a:cubicBezTo>
                  <a:lnTo>
                    <a:pt x="9885172" y="0"/>
                  </a:lnTo>
                  <a:cubicBezTo>
                    <a:pt x="9915778" y="0"/>
                    <a:pt x="9940544" y="24765"/>
                    <a:pt x="9940544" y="55372"/>
                  </a:cubicBezTo>
                  <a:lnTo>
                    <a:pt x="9940544" y="1677797"/>
                  </a:lnTo>
                  <a:cubicBezTo>
                    <a:pt x="9940544" y="1708404"/>
                    <a:pt x="9915778" y="1733169"/>
                    <a:pt x="9885172" y="1733169"/>
                  </a:cubicBezTo>
                  <a:lnTo>
                    <a:pt x="55372" y="1733169"/>
                  </a:lnTo>
                  <a:cubicBezTo>
                    <a:pt x="24765" y="1733169"/>
                    <a:pt x="0" y="1708404"/>
                    <a:pt x="0" y="1677797"/>
                  </a:cubicBezTo>
                  <a:close/>
                </a:path>
              </a:pathLst>
            </a:custGeom>
            <a:solidFill>
              <a:srgbClr val="31233E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216200" y="4251722"/>
            <a:ext cx="6902351" cy="83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time_t</a:t>
            </a:r>
            <a:r>
              <a:rPr lang="en-US" sz="2125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now = time(0);</a:t>
            </a:r>
          </a:p>
          <a:p>
            <a:pPr algn="l">
              <a:lnSpc>
                <a:spcPts val="3437"/>
              </a:lnSpc>
            </a:pPr>
            <a:r>
              <a:rPr lang="en-US" sz="2125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tm* </a:t>
            </a:r>
            <a:r>
              <a:rPr lang="en-US" sz="2125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ltm</a:t>
            </a:r>
            <a:r>
              <a:rPr lang="en-US" sz="2125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125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localtime</a:t>
            </a:r>
            <a:r>
              <a:rPr lang="en-US" sz="2125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(&amp;now);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8128" y="6123781"/>
            <a:ext cx="8689776" cy="8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time(0)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function returns the current calendar time as a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time_t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value.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128" y="7162800"/>
            <a:ext cx="8689776" cy="8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localtime()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function converts this time into a broken-down structure (tm) specific to the local time zone.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8128" y="8182867"/>
            <a:ext cx="8689776" cy="8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structure members provide components like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tm_hour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tm_min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tm_mday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tm_mon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and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tm_year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42215" y="3025974"/>
            <a:ext cx="5358854" cy="46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Crucial Adjustments for Display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2215" y="3667869"/>
            <a:ext cx="6987034" cy="1268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Since the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tm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structure uses zero-based or offset values, manual adjustments are necessary for correct human-readable output: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10445949" y="5429622"/>
            <a:ext cx="414784" cy="414784"/>
          </a:xfrm>
          <a:custGeom>
            <a:avLst/>
            <a:gdLst/>
            <a:ahLst/>
            <a:cxnLst/>
            <a:rect l="l" t="t" r="r" b="b"/>
            <a:pathLst>
              <a:path w="414784" h="414784">
                <a:moveTo>
                  <a:pt x="0" y="0"/>
                </a:moveTo>
                <a:lnTo>
                  <a:pt x="414783" y="0"/>
                </a:lnTo>
                <a:lnTo>
                  <a:pt x="414783" y="414784"/>
                </a:lnTo>
                <a:lnTo>
                  <a:pt x="0" y="41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954" r="-7954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240989" y="5392490"/>
            <a:ext cx="3457724" cy="46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Months Offset: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40989" y="6034385"/>
            <a:ext cx="6088261" cy="8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Months start at 0 (January=0), so we must use 1 +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ltm-&gt;tm_mon.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10445949" y="7614716"/>
            <a:ext cx="414784" cy="414784"/>
          </a:xfrm>
          <a:custGeom>
            <a:avLst/>
            <a:gdLst/>
            <a:ahLst/>
            <a:cxnLst/>
            <a:rect l="l" t="t" r="r" b="b"/>
            <a:pathLst>
              <a:path w="414784" h="414784">
                <a:moveTo>
                  <a:pt x="0" y="0"/>
                </a:moveTo>
                <a:lnTo>
                  <a:pt x="414783" y="0"/>
                </a:lnTo>
                <a:lnTo>
                  <a:pt x="414783" y="414784"/>
                </a:lnTo>
                <a:lnTo>
                  <a:pt x="0" y="41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954" r="-7954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240989" y="7577584"/>
            <a:ext cx="3457724" cy="46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Year Offset: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40989" y="8219480"/>
            <a:ext cx="6088261" cy="83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Years are counted from 1900, requiring </a:t>
            </a:r>
            <a:r>
              <a:rPr lang="en-US" sz="2125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1900 + ltm-&gt;tm_year </a:t>
            </a:r>
            <a:r>
              <a:rPr lang="en-US" sz="2125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to get the actual current year.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28216" y="534740"/>
            <a:ext cx="11027569" cy="558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1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Persistent Data Storage: File Handling with &lt;fstream&gt;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8216" y="1413867"/>
            <a:ext cx="16831567" cy="86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8"/>
              </a:lnSpc>
            </a:pPr>
            <a:r>
              <a:rPr lang="en-US" sz="2224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Nova's notes system utilizes the &lt;fstream&gt; library to provide **persistent data storage**, allowing notes to survive program restarts.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57916" y="1971962"/>
            <a:ext cx="29319" cy="4166316"/>
            <a:chOff x="0" y="0"/>
            <a:chExt cx="38100" cy="5414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" cy="5414137"/>
            </a:xfrm>
            <a:custGeom>
              <a:avLst/>
              <a:gdLst/>
              <a:ahLst/>
              <a:cxnLst/>
              <a:rect l="l" t="t" r="r" b="b"/>
              <a:pathLst>
                <a:path w="38100" h="541413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5395087"/>
                  </a:lnTo>
                  <a:cubicBezTo>
                    <a:pt x="38100" y="5405628"/>
                    <a:pt x="29591" y="5414137"/>
                    <a:pt x="19050" y="5414137"/>
                  </a:cubicBezTo>
                  <a:cubicBezTo>
                    <a:pt x="8509" y="5414137"/>
                    <a:pt x="0" y="5405628"/>
                    <a:pt x="0" y="5395087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314284" y="2698009"/>
            <a:ext cx="624185" cy="28575"/>
            <a:chOff x="0" y="0"/>
            <a:chExt cx="832247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2231" cy="38100"/>
            </a:xfrm>
            <a:custGeom>
              <a:avLst/>
              <a:gdLst/>
              <a:ahLst/>
              <a:cxnLst/>
              <a:rect l="l" t="t" r="r" b="b"/>
              <a:pathLst>
                <a:path w="8322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3181" y="0"/>
                  </a:lnTo>
                  <a:cubicBezTo>
                    <a:pt x="823722" y="0"/>
                    <a:pt x="832231" y="8509"/>
                    <a:pt x="832231" y="19050"/>
                  </a:cubicBezTo>
                  <a:cubicBezTo>
                    <a:pt x="832231" y="29591"/>
                    <a:pt x="823722" y="38100"/>
                    <a:pt x="8131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38469" y="2482156"/>
            <a:ext cx="468214" cy="468214"/>
            <a:chOff x="0" y="0"/>
            <a:chExt cx="624285" cy="6242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4332" cy="624332"/>
            </a:xfrm>
            <a:custGeom>
              <a:avLst/>
              <a:gdLst/>
              <a:ahLst/>
              <a:cxnLst/>
              <a:rect l="l" t="t" r="r" b="b"/>
              <a:pathLst>
                <a:path w="624332" h="624332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2676" y="0"/>
                  </a:lnTo>
                  <a:cubicBezTo>
                    <a:pt x="605663" y="0"/>
                    <a:pt x="624332" y="18669"/>
                    <a:pt x="624332" y="41656"/>
                  </a:cubicBezTo>
                  <a:lnTo>
                    <a:pt x="624332" y="582676"/>
                  </a:lnTo>
                  <a:cubicBezTo>
                    <a:pt x="624332" y="605663"/>
                    <a:pt x="605663" y="624332"/>
                    <a:pt x="582676" y="624332"/>
                  </a:cubicBezTo>
                  <a:lnTo>
                    <a:pt x="41656" y="624332"/>
                  </a:lnTo>
                  <a:cubicBezTo>
                    <a:pt x="18669" y="624332"/>
                    <a:pt x="0" y="605663"/>
                    <a:pt x="0" y="582676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987954" y="2559324"/>
            <a:ext cx="312093" cy="35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2437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2715" y="2521127"/>
            <a:ext cx="2601069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Take Note (Writing)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092" y="2960439"/>
            <a:ext cx="7375326" cy="1241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0"/>
              </a:lnSpc>
            </a:pPr>
            <a:r>
              <a:rPr lang="en-US" sz="2124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Uses std::ofstream open in ios::app (append) mode. New notes are added to the end of "notes.txt" without overwriting existing data.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06682" y="3914552"/>
            <a:ext cx="624185" cy="28575"/>
            <a:chOff x="0" y="0"/>
            <a:chExt cx="832247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2231" cy="38100"/>
            </a:xfrm>
            <a:custGeom>
              <a:avLst/>
              <a:gdLst/>
              <a:ahLst/>
              <a:cxnLst/>
              <a:rect l="l" t="t" r="r" b="b"/>
              <a:pathLst>
                <a:path w="8322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3181" y="0"/>
                  </a:lnTo>
                  <a:cubicBezTo>
                    <a:pt x="823722" y="0"/>
                    <a:pt x="832231" y="8509"/>
                    <a:pt x="832231" y="19050"/>
                  </a:cubicBezTo>
                  <a:cubicBezTo>
                    <a:pt x="832231" y="29591"/>
                    <a:pt x="823722" y="38100"/>
                    <a:pt x="8131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938469" y="3680446"/>
            <a:ext cx="468214" cy="468214"/>
            <a:chOff x="0" y="0"/>
            <a:chExt cx="624285" cy="6242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4332" cy="624332"/>
            </a:xfrm>
            <a:custGeom>
              <a:avLst/>
              <a:gdLst/>
              <a:ahLst/>
              <a:cxnLst/>
              <a:rect l="l" t="t" r="r" b="b"/>
              <a:pathLst>
                <a:path w="624332" h="624332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2676" y="0"/>
                  </a:lnTo>
                  <a:cubicBezTo>
                    <a:pt x="605663" y="0"/>
                    <a:pt x="624332" y="18669"/>
                    <a:pt x="624332" y="41656"/>
                  </a:cubicBezTo>
                  <a:lnTo>
                    <a:pt x="624332" y="582676"/>
                  </a:lnTo>
                  <a:cubicBezTo>
                    <a:pt x="624332" y="605663"/>
                    <a:pt x="605663" y="624332"/>
                    <a:pt x="582676" y="624332"/>
                  </a:cubicBezTo>
                  <a:lnTo>
                    <a:pt x="41656" y="624332"/>
                  </a:lnTo>
                  <a:cubicBezTo>
                    <a:pt x="18669" y="624332"/>
                    <a:pt x="0" y="605663"/>
                    <a:pt x="0" y="582676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002241" y="3796681"/>
            <a:ext cx="312093" cy="35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2437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78517" y="3732138"/>
            <a:ext cx="2820463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Show Notes (Reading)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78518" y="4098578"/>
            <a:ext cx="7375326" cy="82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0"/>
              </a:lnSpc>
            </a:pPr>
            <a:r>
              <a:rPr lang="en-US" sz="2124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Uses std::ifstream to read and display the entire contents of "notes.txt" to the user.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314284" y="5006132"/>
            <a:ext cx="624185" cy="28575"/>
            <a:chOff x="0" y="0"/>
            <a:chExt cx="832247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32231" cy="38100"/>
            </a:xfrm>
            <a:custGeom>
              <a:avLst/>
              <a:gdLst/>
              <a:ahLst/>
              <a:cxnLst/>
              <a:rect l="l" t="t" r="r" b="b"/>
              <a:pathLst>
                <a:path w="83223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3181" y="0"/>
                  </a:lnTo>
                  <a:cubicBezTo>
                    <a:pt x="823722" y="0"/>
                    <a:pt x="832231" y="8509"/>
                    <a:pt x="832231" y="19050"/>
                  </a:cubicBezTo>
                  <a:cubicBezTo>
                    <a:pt x="832231" y="29591"/>
                    <a:pt x="823722" y="38100"/>
                    <a:pt x="81318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938469" y="4800600"/>
            <a:ext cx="468214" cy="468214"/>
            <a:chOff x="0" y="0"/>
            <a:chExt cx="624285" cy="62428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4332" cy="624332"/>
            </a:xfrm>
            <a:custGeom>
              <a:avLst/>
              <a:gdLst/>
              <a:ahLst/>
              <a:cxnLst/>
              <a:rect l="l" t="t" r="r" b="b"/>
              <a:pathLst>
                <a:path w="624332" h="624332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2676" y="0"/>
                  </a:lnTo>
                  <a:cubicBezTo>
                    <a:pt x="605663" y="0"/>
                    <a:pt x="624332" y="18669"/>
                    <a:pt x="624332" y="41656"/>
                  </a:cubicBezTo>
                  <a:lnTo>
                    <a:pt x="624332" y="582676"/>
                  </a:lnTo>
                  <a:cubicBezTo>
                    <a:pt x="624332" y="605663"/>
                    <a:pt x="605663" y="624332"/>
                    <a:pt x="582676" y="624332"/>
                  </a:cubicBezTo>
                  <a:lnTo>
                    <a:pt x="41656" y="624332"/>
                  </a:lnTo>
                  <a:cubicBezTo>
                    <a:pt x="18669" y="624332"/>
                    <a:pt x="0" y="605663"/>
                    <a:pt x="0" y="582676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9002241" y="4897488"/>
            <a:ext cx="312093" cy="35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2437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97389" y="4824487"/>
            <a:ext cx="286003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25"/>
              </a:lnSpc>
            </a:pPr>
            <a:r>
              <a:rPr lang="en-US" sz="2100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Clear Notes (Clearing)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2092" y="5257501"/>
            <a:ext cx="7375326" cy="117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3"/>
              </a:lnSpc>
            </a:pPr>
            <a:r>
              <a:rPr lang="en-US" sz="2024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file is opened in ios::trunc (truncate) mode, which effectively clears all previous content, followed by closing the file.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2991" y="6741716"/>
            <a:ext cx="16831567" cy="479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2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This combination of OOP classes and robust file handling provides a practical, working assistant experience.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42001" y="7406314"/>
            <a:ext cx="3651796" cy="2497039"/>
            <a:chOff x="0" y="0"/>
            <a:chExt cx="4869062" cy="3329385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4869053" cy="3329432"/>
            </a:xfrm>
            <a:custGeom>
              <a:avLst/>
              <a:gdLst/>
              <a:ahLst/>
              <a:cxnLst/>
              <a:rect l="l" t="t" r="r" b="b"/>
              <a:pathLst>
                <a:path w="4869053" h="3329432">
                  <a:moveTo>
                    <a:pt x="0" y="0"/>
                  </a:moveTo>
                  <a:lnTo>
                    <a:pt x="4869053" y="0"/>
                  </a:lnTo>
                  <a:lnTo>
                    <a:pt x="4869053" y="3329432"/>
                  </a:lnTo>
                  <a:lnTo>
                    <a:pt x="0" y="3329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1" b="-19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0030868" y="7406314"/>
            <a:ext cx="1941314" cy="2497039"/>
            <a:chOff x="0" y="0"/>
            <a:chExt cx="2588418" cy="3329385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2588387" cy="3329432"/>
            </a:xfrm>
            <a:custGeom>
              <a:avLst/>
              <a:gdLst/>
              <a:ahLst/>
              <a:cxnLst/>
              <a:rect l="l" t="t" r="r" b="b"/>
              <a:pathLst>
                <a:path w="2588387" h="3329432">
                  <a:moveTo>
                    <a:pt x="0" y="0"/>
                  </a:moveTo>
                  <a:lnTo>
                    <a:pt x="2588387" y="0"/>
                  </a:lnTo>
                  <a:lnTo>
                    <a:pt x="2588387" y="3329432"/>
                  </a:lnTo>
                  <a:lnTo>
                    <a:pt x="0" y="3329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" r="-77" b="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6553" y="1162347"/>
            <a:ext cx="8475316" cy="63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Roadmap for 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6271" y="2374404"/>
            <a:ext cx="3665339" cy="48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Step 1: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271" y="3080445"/>
            <a:ext cx="3665339" cy="145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Adding Voice Recognition and Speech Input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271" y="4710708"/>
            <a:ext cx="3665339" cy="372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We can enhance the assistant by adding voice control using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Microsoft SAPI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for speech input or extending the existing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eSpeak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setup. This would let users give commands and get spoken responses, making the assistant fully voice-interactive and more natural to use.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79070" y="2374404"/>
            <a:ext cx="3665339" cy="48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Step 2: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79070" y="3080445"/>
            <a:ext cx="3665339" cy="145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Improving Input Case Handling Automatically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79070" y="4710708"/>
            <a:ext cx="3665339" cy="413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We can improve command detection by converting all user input to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lowercase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before processing. Using functions like transform() or tolower() in C++, the assistant can recognize commands correctly regardless of whether the user types in uppercase, lowercase, or mixed case.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869" y="2374404"/>
            <a:ext cx="3665339" cy="48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Step 3: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869" y="3080445"/>
            <a:ext cx="3665339" cy="145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Introducing Graphical User Interface (GUI)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869" y="4710708"/>
            <a:ext cx="3665339" cy="412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We can make the assistant more interactive by adding a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GUI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using libraries like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Qt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or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WinForms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. This would replace the text-only console with buttons, icons, and menus—making it easier to use and visually appealing while maintaining all core functionalities.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64666" y="2374404"/>
            <a:ext cx="3665339" cy="48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Step 4: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64666" y="3080445"/>
            <a:ext cx="3665339" cy="145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Integrating AI/NLP APIs for Smarter Responses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64666" y="4710708"/>
            <a:ext cx="3665339" cy="412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We can make the assistant more intelligent by connecting it to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AI or NLP APIs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like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Dialogflow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OpenAI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or </a:t>
            </a:r>
            <a:r>
              <a:rPr lang="en-US" sz="1937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Wit.ai</a:t>
            </a:r>
            <a:r>
              <a:rPr lang="en-US" sz="1937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. This would allow it to understand natural language better, give smarter and more human-like replies, and handle a wider range of questions beyond predefined commands.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23317" y="599331"/>
            <a:ext cx="4705201" cy="63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Project at a Glance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09030" y="1691282"/>
            <a:ext cx="16669941" cy="1441102"/>
            <a:chOff x="0" y="0"/>
            <a:chExt cx="22226588" cy="1921470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22188424" cy="1883283"/>
            </a:xfrm>
            <a:custGeom>
              <a:avLst/>
              <a:gdLst/>
              <a:ahLst/>
              <a:cxnLst/>
              <a:rect l="l" t="t" r="r" b="b"/>
              <a:pathLst>
                <a:path w="22188424" h="1883283">
                  <a:moveTo>
                    <a:pt x="0" y="46990"/>
                  </a:moveTo>
                  <a:cubicBezTo>
                    <a:pt x="0" y="20955"/>
                    <a:pt x="21463" y="0"/>
                    <a:pt x="47879" y="0"/>
                  </a:cubicBezTo>
                  <a:lnTo>
                    <a:pt x="22140545" y="0"/>
                  </a:lnTo>
                  <a:cubicBezTo>
                    <a:pt x="22166960" y="0"/>
                    <a:pt x="22188424" y="21082"/>
                    <a:pt x="22188424" y="46990"/>
                  </a:cubicBezTo>
                  <a:lnTo>
                    <a:pt x="22188424" y="1836293"/>
                  </a:lnTo>
                  <a:cubicBezTo>
                    <a:pt x="22188424" y="1862328"/>
                    <a:pt x="22166960" y="1883283"/>
                    <a:pt x="22140545" y="1883283"/>
                  </a:cubicBezTo>
                  <a:lnTo>
                    <a:pt x="47879" y="1883283"/>
                  </a:lnTo>
                  <a:cubicBezTo>
                    <a:pt x="21463" y="1883283"/>
                    <a:pt x="0" y="1862201"/>
                    <a:pt x="0" y="183629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2226524" cy="1921383"/>
            </a:xfrm>
            <a:custGeom>
              <a:avLst/>
              <a:gdLst/>
              <a:ahLst/>
              <a:cxnLst/>
              <a:rect l="l" t="t" r="r" b="b"/>
              <a:pathLst>
                <a:path w="22226524" h="1921383">
                  <a:moveTo>
                    <a:pt x="0" y="66040"/>
                  </a:moveTo>
                  <a:cubicBezTo>
                    <a:pt x="0" y="29210"/>
                    <a:pt x="30353" y="0"/>
                    <a:pt x="66929" y="0"/>
                  </a:cubicBezTo>
                  <a:lnTo>
                    <a:pt x="22159595" y="0"/>
                  </a:lnTo>
                  <a:lnTo>
                    <a:pt x="22159595" y="19050"/>
                  </a:lnTo>
                  <a:lnTo>
                    <a:pt x="22159595" y="0"/>
                  </a:lnTo>
                  <a:cubicBezTo>
                    <a:pt x="22196298" y="0"/>
                    <a:pt x="22226524" y="29210"/>
                    <a:pt x="22226524" y="66040"/>
                  </a:cubicBezTo>
                  <a:lnTo>
                    <a:pt x="22207474" y="66040"/>
                  </a:lnTo>
                  <a:lnTo>
                    <a:pt x="22226524" y="66040"/>
                  </a:lnTo>
                  <a:lnTo>
                    <a:pt x="22226524" y="1855343"/>
                  </a:lnTo>
                  <a:lnTo>
                    <a:pt x="22207474" y="1855343"/>
                  </a:lnTo>
                  <a:lnTo>
                    <a:pt x="22226524" y="1855343"/>
                  </a:lnTo>
                  <a:cubicBezTo>
                    <a:pt x="22226524" y="1892173"/>
                    <a:pt x="22196171" y="1921383"/>
                    <a:pt x="22159595" y="1921383"/>
                  </a:cubicBezTo>
                  <a:lnTo>
                    <a:pt x="22159595" y="1902333"/>
                  </a:lnTo>
                  <a:lnTo>
                    <a:pt x="22159595" y="1921383"/>
                  </a:lnTo>
                  <a:lnTo>
                    <a:pt x="66929" y="1921383"/>
                  </a:lnTo>
                  <a:lnTo>
                    <a:pt x="66929" y="1902333"/>
                  </a:lnTo>
                  <a:lnTo>
                    <a:pt x="66929" y="1921383"/>
                  </a:lnTo>
                  <a:cubicBezTo>
                    <a:pt x="30226" y="1921383"/>
                    <a:pt x="0" y="1892173"/>
                    <a:pt x="0" y="1855343"/>
                  </a:cubicBezTo>
                  <a:lnTo>
                    <a:pt x="0" y="66040"/>
                  </a:lnTo>
                  <a:lnTo>
                    <a:pt x="19050" y="66040"/>
                  </a:lnTo>
                  <a:lnTo>
                    <a:pt x="0" y="66040"/>
                  </a:lnTo>
                  <a:moveTo>
                    <a:pt x="38100" y="66040"/>
                  </a:moveTo>
                  <a:lnTo>
                    <a:pt x="38100" y="1855343"/>
                  </a:lnTo>
                  <a:lnTo>
                    <a:pt x="19050" y="1855343"/>
                  </a:lnTo>
                  <a:lnTo>
                    <a:pt x="38100" y="1855343"/>
                  </a:lnTo>
                  <a:cubicBezTo>
                    <a:pt x="38100" y="1870456"/>
                    <a:pt x="50673" y="1883283"/>
                    <a:pt x="66929" y="1883283"/>
                  </a:cubicBezTo>
                  <a:lnTo>
                    <a:pt x="22159595" y="1883283"/>
                  </a:lnTo>
                  <a:cubicBezTo>
                    <a:pt x="22175851" y="1883283"/>
                    <a:pt x="22188424" y="1870456"/>
                    <a:pt x="22188424" y="1855343"/>
                  </a:cubicBezTo>
                  <a:lnTo>
                    <a:pt x="22188424" y="66040"/>
                  </a:lnTo>
                  <a:cubicBezTo>
                    <a:pt x="22188424" y="50927"/>
                    <a:pt x="22175851" y="38100"/>
                    <a:pt x="22159595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673" y="38100"/>
                    <a:pt x="38100" y="50927"/>
                    <a:pt x="38100" y="66040"/>
                  </a:cubicBezTo>
                  <a:close/>
                </a:path>
              </a:pathLst>
            </a:custGeom>
            <a:solidFill>
              <a:srgbClr val="5C4E69"/>
            </a:solidFill>
          </p:spPr>
          <p:txBody>
            <a:bodyPr/>
            <a:lstStyle/>
            <a:p>
              <a:r>
                <a:rPr lang="en-US" dirty="0"/>
                <a:t>`</a:t>
              </a:r>
              <a:endParaRPr lang="en-IN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1892" y="1734145"/>
            <a:ext cx="941040" cy="1355378"/>
            <a:chOff x="0" y="0"/>
            <a:chExt cx="1254720" cy="1807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4633" cy="1807083"/>
            </a:xfrm>
            <a:custGeom>
              <a:avLst/>
              <a:gdLst/>
              <a:ahLst/>
              <a:cxnLst/>
              <a:rect l="l" t="t" r="r" b="b"/>
              <a:pathLst>
                <a:path w="1254633" h="1807083">
                  <a:moveTo>
                    <a:pt x="0" y="1270"/>
                  </a:moveTo>
                  <a:cubicBezTo>
                    <a:pt x="0" y="635"/>
                    <a:pt x="635" y="0"/>
                    <a:pt x="1270" y="0"/>
                  </a:cubicBezTo>
                  <a:lnTo>
                    <a:pt x="1253363" y="0"/>
                  </a:lnTo>
                  <a:cubicBezTo>
                    <a:pt x="1254125" y="0"/>
                    <a:pt x="1254633" y="635"/>
                    <a:pt x="1254633" y="1270"/>
                  </a:cubicBezTo>
                  <a:lnTo>
                    <a:pt x="1254633" y="1805813"/>
                  </a:lnTo>
                  <a:cubicBezTo>
                    <a:pt x="1254633" y="1806575"/>
                    <a:pt x="1253998" y="1807083"/>
                    <a:pt x="1253363" y="1807083"/>
                  </a:cubicBezTo>
                  <a:lnTo>
                    <a:pt x="1270" y="1807083"/>
                  </a:lnTo>
                  <a:cubicBezTo>
                    <a:pt x="508" y="1807083"/>
                    <a:pt x="0" y="1806448"/>
                    <a:pt x="0" y="1805813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145976" y="2235399"/>
            <a:ext cx="352871" cy="352871"/>
          </a:xfrm>
          <a:custGeom>
            <a:avLst/>
            <a:gdLst/>
            <a:ahLst/>
            <a:cxnLst/>
            <a:rect l="l" t="t" r="r" b="b"/>
            <a:pathLst>
              <a:path w="352871" h="352871">
                <a:moveTo>
                  <a:pt x="0" y="0"/>
                </a:moveTo>
                <a:lnTo>
                  <a:pt x="352871" y="0"/>
                </a:lnTo>
                <a:lnTo>
                  <a:pt x="352871" y="352871"/>
                </a:lnTo>
                <a:lnTo>
                  <a:pt x="0" y="35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526" b="-1052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28081" y="1940719"/>
            <a:ext cx="2940695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Developed By: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28081" y="2326109"/>
            <a:ext cx="15172879" cy="73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Raviraj 254087 </a:t>
            </a:r>
          </a:p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Vedant 244076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09030" y="3338959"/>
            <a:ext cx="16669941" cy="1441102"/>
            <a:chOff x="0" y="0"/>
            <a:chExt cx="22226588" cy="1921470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22188424" cy="1883283"/>
            </a:xfrm>
            <a:custGeom>
              <a:avLst/>
              <a:gdLst/>
              <a:ahLst/>
              <a:cxnLst/>
              <a:rect l="l" t="t" r="r" b="b"/>
              <a:pathLst>
                <a:path w="22188424" h="1883283">
                  <a:moveTo>
                    <a:pt x="0" y="46990"/>
                  </a:moveTo>
                  <a:cubicBezTo>
                    <a:pt x="0" y="20955"/>
                    <a:pt x="21463" y="0"/>
                    <a:pt x="47879" y="0"/>
                  </a:cubicBezTo>
                  <a:lnTo>
                    <a:pt x="22140545" y="0"/>
                  </a:lnTo>
                  <a:cubicBezTo>
                    <a:pt x="22166960" y="0"/>
                    <a:pt x="22188424" y="21082"/>
                    <a:pt x="22188424" y="46990"/>
                  </a:cubicBezTo>
                  <a:lnTo>
                    <a:pt x="22188424" y="1836293"/>
                  </a:lnTo>
                  <a:cubicBezTo>
                    <a:pt x="22188424" y="1862328"/>
                    <a:pt x="22166960" y="1883283"/>
                    <a:pt x="22140545" y="1883283"/>
                  </a:cubicBezTo>
                  <a:lnTo>
                    <a:pt x="47879" y="1883283"/>
                  </a:lnTo>
                  <a:cubicBezTo>
                    <a:pt x="21463" y="1883283"/>
                    <a:pt x="0" y="1862201"/>
                    <a:pt x="0" y="183629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22226524" cy="1921383"/>
            </a:xfrm>
            <a:custGeom>
              <a:avLst/>
              <a:gdLst/>
              <a:ahLst/>
              <a:cxnLst/>
              <a:rect l="l" t="t" r="r" b="b"/>
              <a:pathLst>
                <a:path w="22226524" h="1921383">
                  <a:moveTo>
                    <a:pt x="0" y="66040"/>
                  </a:moveTo>
                  <a:cubicBezTo>
                    <a:pt x="0" y="29210"/>
                    <a:pt x="30353" y="0"/>
                    <a:pt x="66929" y="0"/>
                  </a:cubicBezTo>
                  <a:lnTo>
                    <a:pt x="22159595" y="0"/>
                  </a:lnTo>
                  <a:lnTo>
                    <a:pt x="22159595" y="19050"/>
                  </a:lnTo>
                  <a:lnTo>
                    <a:pt x="22159595" y="0"/>
                  </a:lnTo>
                  <a:cubicBezTo>
                    <a:pt x="22196298" y="0"/>
                    <a:pt x="22226524" y="29210"/>
                    <a:pt x="22226524" y="66040"/>
                  </a:cubicBezTo>
                  <a:lnTo>
                    <a:pt x="22207474" y="66040"/>
                  </a:lnTo>
                  <a:lnTo>
                    <a:pt x="22226524" y="66040"/>
                  </a:lnTo>
                  <a:lnTo>
                    <a:pt x="22226524" y="1855343"/>
                  </a:lnTo>
                  <a:lnTo>
                    <a:pt x="22207474" y="1855343"/>
                  </a:lnTo>
                  <a:lnTo>
                    <a:pt x="22226524" y="1855343"/>
                  </a:lnTo>
                  <a:cubicBezTo>
                    <a:pt x="22226524" y="1892173"/>
                    <a:pt x="22196171" y="1921383"/>
                    <a:pt x="22159595" y="1921383"/>
                  </a:cubicBezTo>
                  <a:lnTo>
                    <a:pt x="22159595" y="1902333"/>
                  </a:lnTo>
                  <a:lnTo>
                    <a:pt x="22159595" y="1921383"/>
                  </a:lnTo>
                  <a:lnTo>
                    <a:pt x="66929" y="1921383"/>
                  </a:lnTo>
                  <a:lnTo>
                    <a:pt x="66929" y="1902333"/>
                  </a:lnTo>
                  <a:lnTo>
                    <a:pt x="66929" y="1921383"/>
                  </a:lnTo>
                  <a:cubicBezTo>
                    <a:pt x="30226" y="1921383"/>
                    <a:pt x="0" y="1892173"/>
                    <a:pt x="0" y="1855343"/>
                  </a:cubicBezTo>
                  <a:lnTo>
                    <a:pt x="0" y="66040"/>
                  </a:lnTo>
                  <a:lnTo>
                    <a:pt x="19050" y="66040"/>
                  </a:lnTo>
                  <a:lnTo>
                    <a:pt x="0" y="66040"/>
                  </a:lnTo>
                  <a:moveTo>
                    <a:pt x="38100" y="66040"/>
                  </a:moveTo>
                  <a:lnTo>
                    <a:pt x="38100" y="1855343"/>
                  </a:lnTo>
                  <a:lnTo>
                    <a:pt x="19050" y="1855343"/>
                  </a:lnTo>
                  <a:lnTo>
                    <a:pt x="38100" y="1855343"/>
                  </a:lnTo>
                  <a:cubicBezTo>
                    <a:pt x="38100" y="1870456"/>
                    <a:pt x="50673" y="1883283"/>
                    <a:pt x="66929" y="1883283"/>
                  </a:cubicBezTo>
                  <a:lnTo>
                    <a:pt x="22159595" y="1883283"/>
                  </a:lnTo>
                  <a:cubicBezTo>
                    <a:pt x="22175851" y="1883283"/>
                    <a:pt x="22188424" y="1870456"/>
                    <a:pt x="22188424" y="1855343"/>
                  </a:cubicBezTo>
                  <a:lnTo>
                    <a:pt x="22188424" y="66040"/>
                  </a:lnTo>
                  <a:cubicBezTo>
                    <a:pt x="22188424" y="50927"/>
                    <a:pt x="22175851" y="38100"/>
                    <a:pt x="22159595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673" y="38100"/>
                    <a:pt x="38100" y="50927"/>
                    <a:pt x="38100" y="660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51892" y="3381821"/>
            <a:ext cx="941040" cy="1355377"/>
            <a:chOff x="0" y="0"/>
            <a:chExt cx="1254720" cy="1807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4633" cy="1807083"/>
            </a:xfrm>
            <a:custGeom>
              <a:avLst/>
              <a:gdLst/>
              <a:ahLst/>
              <a:cxnLst/>
              <a:rect l="l" t="t" r="r" b="b"/>
              <a:pathLst>
                <a:path w="1254633" h="1807083">
                  <a:moveTo>
                    <a:pt x="0" y="1270"/>
                  </a:moveTo>
                  <a:cubicBezTo>
                    <a:pt x="0" y="635"/>
                    <a:pt x="635" y="0"/>
                    <a:pt x="1270" y="0"/>
                  </a:cubicBezTo>
                  <a:lnTo>
                    <a:pt x="1253363" y="0"/>
                  </a:lnTo>
                  <a:cubicBezTo>
                    <a:pt x="1254125" y="0"/>
                    <a:pt x="1254633" y="635"/>
                    <a:pt x="1254633" y="1270"/>
                  </a:cubicBezTo>
                  <a:lnTo>
                    <a:pt x="1254633" y="1805813"/>
                  </a:lnTo>
                  <a:cubicBezTo>
                    <a:pt x="1254633" y="1806575"/>
                    <a:pt x="1253998" y="1807083"/>
                    <a:pt x="1253363" y="1807083"/>
                  </a:cubicBezTo>
                  <a:lnTo>
                    <a:pt x="1270" y="1807083"/>
                  </a:lnTo>
                  <a:cubicBezTo>
                    <a:pt x="508" y="1807083"/>
                    <a:pt x="0" y="1806448"/>
                    <a:pt x="0" y="1805813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20" name="Freeform 20" descr="preencoded.png"/>
          <p:cNvSpPr/>
          <p:nvPr/>
        </p:nvSpPr>
        <p:spPr>
          <a:xfrm>
            <a:off x="1145976" y="3883075"/>
            <a:ext cx="352871" cy="352871"/>
          </a:xfrm>
          <a:custGeom>
            <a:avLst/>
            <a:gdLst/>
            <a:ahLst/>
            <a:cxnLst/>
            <a:rect l="l" t="t" r="r" b="b"/>
            <a:pathLst>
              <a:path w="352871" h="352871">
                <a:moveTo>
                  <a:pt x="0" y="0"/>
                </a:moveTo>
                <a:lnTo>
                  <a:pt x="352871" y="0"/>
                </a:lnTo>
                <a:lnTo>
                  <a:pt x="352871" y="352871"/>
                </a:lnTo>
                <a:lnTo>
                  <a:pt x="0" y="352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210" b="-9210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028081" y="3588395"/>
            <a:ext cx="2940695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Institute: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28081" y="4039940"/>
            <a:ext cx="15172879" cy="46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Cusrow Wadia Institute of Technology (CWIT), Pune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09030" y="4986635"/>
            <a:ext cx="16669941" cy="1441102"/>
            <a:chOff x="0" y="0"/>
            <a:chExt cx="22226588" cy="1921470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22188424" cy="1883283"/>
            </a:xfrm>
            <a:custGeom>
              <a:avLst/>
              <a:gdLst/>
              <a:ahLst/>
              <a:cxnLst/>
              <a:rect l="l" t="t" r="r" b="b"/>
              <a:pathLst>
                <a:path w="22188424" h="1883283">
                  <a:moveTo>
                    <a:pt x="0" y="46990"/>
                  </a:moveTo>
                  <a:cubicBezTo>
                    <a:pt x="0" y="20955"/>
                    <a:pt x="21463" y="0"/>
                    <a:pt x="47879" y="0"/>
                  </a:cubicBezTo>
                  <a:lnTo>
                    <a:pt x="22140545" y="0"/>
                  </a:lnTo>
                  <a:cubicBezTo>
                    <a:pt x="22166960" y="0"/>
                    <a:pt x="22188424" y="21082"/>
                    <a:pt x="22188424" y="46990"/>
                  </a:cubicBezTo>
                  <a:lnTo>
                    <a:pt x="22188424" y="1836293"/>
                  </a:lnTo>
                  <a:cubicBezTo>
                    <a:pt x="22188424" y="1862328"/>
                    <a:pt x="22166960" y="1883283"/>
                    <a:pt x="22140545" y="1883283"/>
                  </a:cubicBezTo>
                  <a:lnTo>
                    <a:pt x="47879" y="1883283"/>
                  </a:lnTo>
                  <a:cubicBezTo>
                    <a:pt x="21463" y="1883283"/>
                    <a:pt x="0" y="1862201"/>
                    <a:pt x="0" y="183629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2226524" cy="1921383"/>
            </a:xfrm>
            <a:custGeom>
              <a:avLst/>
              <a:gdLst/>
              <a:ahLst/>
              <a:cxnLst/>
              <a:rect l="l" t="t" r="r" b="b"/>
              <a:pathLst>
                <a:path w="22226524" h="1921383">
                  <a:moveTo>
                    <a:pt x="0" y="66040"/>
                  </a:moveTo>
                  <a:cubicBezTo>
                    <a:pt x="0" y="29210"/>
                    <a:pt x="30353" y="0"/>
                    <a:pt x="66929" y="0"/>
                  </a:cubicBezTo>
                  <a:lnTo>
                    <a:pt x="22159595" y="0"/>
                  </a:lnTo>
                  <a:lnTo>
                    <a:pt x="22159595" y="19050"/>
                  </a:lnTo>
                  <a:lnTo>
                    <a:pt x="22159595" y="0"/>
                  </a:lnTo>
                  <a:cubicBezTo>
                    <a:pt x="22196298" y="0"/>
                    <a:pt x="22226524" y="29210"/>
                    <a:pt x="22226524" y="66040"/>
                  </a:cubicBezTo>
                  <a:lnTo>
                    <a:pt x="22207474" y="66040"/>
                  </a:lnTo>
                  <a:lnTo>
                    <a:pt x="22226524" y="66040"/>
                  </a:lnTo>
                  <a:lnTo>
                    <a:pt x="22226524" y="1855343"/>
                  </a:lnTo>
                  <a:lnTo>
                    <a:pt x="22207474" y="1855343"/>
                  </a:lnTo>
                  <a:lnTo>
                    <a:pt x="22226524" y="1855343"/>
                  </a:lnTo>
                  <a:cubicBezTo>
                    <a:pt x="22226524" y="1892173"/>
                    <a:pt x="22196171" y="1921383"/>
                    <a:pt x="22159595" y="1921383"/>
                  </a:cubicBezTo>
                  <a:lnTo>
                    <a:pt x="22159595" y="1902333"/>
                  </a:lnTo>
                  <a:lnTo>
                    <a:pt x="22159595" y="1921383"/>
                  </a:lnTo>
                  <a:lnTo>
                    <a:pt x="66929" y="1921383"/>
                  </a:lnTo>
                  <a:lnTo>
                    <a:pt x="66929" y="1902333"/>
                  </a:lnTo>
                  <a:lnTo>
                    <a:pt x="66929" y="1921383"/>
                  </a:lnTo>
                  <a:cubicBezTo>
                    <a:pt x="30226" y="1921383"/>
                    <a:pt x="0" y="1892173"/>
                    <a:pt x="0" y="1855343"/>
                  </a:cubicBezTo>
                  <a:lnTo>
                    <a:pt x="0" y="66040"/>
                  </a:lnTo>
                  <a:lnTo>
                    <a:pt x="19050" y="66040"/>
                  </a:lnTo>
                  <a:lnTo>
                    <a:pt x="0" y="66040"/>
                  </a:lnTo>
                  <a:moveTo>
                    <a:pt x="38100" y="66040"/>
                  </a:moveTo>
                  <a:lnTo>
                    <a:pt x="38100" y="1855343"/>
                  </a:lnTo>
                  <a:lnTo>
                    <a:pt x="19050" y="1855343"/>
                  </a:lnTo>
                  <a:lnTo>
                    <a:pt x="38100" y="1855343"/>
                  </a:lnTo>
                  <a:cubicBezTo>
                    <a:pt x="38100" y="1870456"/>
                    <a:pt x="50673" y="1883283"/>
                    <a:pt x="66929" y="1883283"/>
                  </a:cubicBezTo>
                  <a:lnTo>
                    <a:pt x="22159595" y="1883283"/>
                  </a:lnTo>
                  <a:cubicBezTo>
                    <a:pt x="22175851" y="1883283"/>
                    <a:pt x="22188424" y="1870456"/>
                    <a:pt x="22188424" y="1855343"/>
                  </a:cubicBezTo>
                  <a:lnTo>
                    <a:pt x="22188424" y="66040"/>
                  </a:lnTo>
                  <a:cubicBezTo>
                    <a:pt x="22188424" y="50927"/>
                    <a:pt x="22175851" y="38100"/>
                    <a:pt x="22159595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673" y="38100"/>
                    <a:pt x="38100" y="50927"/>
                    <a:pt x="38100" y="660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51892" y="5029497"/>
            <a:ext cx="941040" cy="1355377"/>
            <a:chOff x="0" y="0"/>
            <a:chExt cx="1254720" cy="18071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54633" cy="1807083"/>
            </a:xfrm>
            <a:custGeom>
              <a:avLst/>
              <a:gdLst/>
              <a:ahLst/>
              <a:cxnLst/>
              <a:rect l="l" t="t" r="r" b="b"/>
              <a:pathLst>
                <a:path w="1254633" h="1807083">
                  <a:moveTo>
                    <a:pt x="0" y="1270"/>
                  </a:moveTo>
                  <a:cubicBezTo>
                    <a:pt x="0" y="635"/>
                    <a:pt x="635" y="0"/>
                    <a:pt x="1270" y="0"/>
                  </a:cubicBezTo>
                  <a:lnTo>
                    <a:pt x="1253363" y="0"/>
                  </a:lnTo>
                  <a:cubicBezTo>
                    <a:pt x="1254125" y="0"/>
                    <a:pt x="1254633" y="635"/>
                    <a:pt x="1254633" y="1270"/>
                  </a:cubicBezTo>
                  <a:lnTo>
                    <a:pt x="1254633" y="1805813"/>
                  </a:lnTo>
                  <a:cubicBezTo>
                    <a:pt x="1254633" y="1806575"/>
                    <a:pt x="1253998" y="1807083"/>
                    <a:pt x="1253363" y="1807083"/>
                  </a:cubicBezTo>
                  <a:lnTo>
                    <a:pt x="1270" y="1807083"/>
                  </a:lnTo>
                  <a:cubicBezTo>
                    <a:pt x="508" y="1807083"/>
                    <a:pt x="0" y="1806448"/>
                    <a:pt x="0" y="1805813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28" name="Freeform 28" descr="preencoded.png"/>
          <p:cNvSpPr/>
          <p:nvPr/>
        </p:nvSpPr>
        <p:spPr>
          <a:xfrm>
            <a:off x="1145976" y="5530751"/>
            <a:ext cx="352871" cy="352871"/>
          </a:xfrm>
          <a:custGeom>
            <a:avLst/>
            <a:gdLst/>
            <a:ahLst/>
            <a:cxnLst/>
            <a:rect l="l" t="t" r="r" b="b"/>
            <a:pathLst>
              <a:path w="352871" h="352871">
                <a:moveTo>
                  <a:pt x="0" y="0"/>
                </a:moveTo>
                <a:lnTo>
                  <a:pt x="352871" y="0"/>
                </a:lnTo>
                <a:lnTo>
                  <a:pt x="352871" y="352871"/>
                </a:lnTo>
                <a:lnTo>
                  <a:pt x="0" y="352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2028081" y="5236071"/>
            <a:ext cx="2940695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Project Name: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28081" y="5687616"/>
            <a:ext cx="15172879" cy="46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“C++ Virtual Assistant – Nova”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09030" y="6634311"/>
            <a:ext cx="16669941" cy="1441102"/>
            <a:chOff x="0" y="0"/>
            <a:chExt cx="22226588" cy="1921470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22188424" cy="1883283"/>
            </a:xfrm>
            <a:custGeom>
              <a:avLst/>
              <a:gdLst/>
              <a:ahLst/>
              <a:cxnLst/>
              <a:rect l="l" t="t" r="r" b="b"/>
              <a:pathLst>
                <a:path w="22188424" h="1883283">
                  <a:moveTo>
                    <a:pt x="0" y="46990"/>
                  </a:moveTo>
                  <a:cubicBezTo>
                    <a:pt x="0" y="20955"/>
                    <a:pt x="21463" y="0"/>
                    <a:pt x="47879" y="0"/>
                  </a:cubicBezTo>
                  <a:lnTo>
                    <a:pt x="22140545" y="0"/>
                  </a:lnTo>
                  <a:cubicBezTo>
                    <a:pt x="22166960" y="0"/>
                    <a:pt x="22188424" y="21082"/>
                    <a:pt x="22188424" y="46990"/>
                  </a:cubicBezTo>
                  <a:lnTo>
                    <a:pt x="22188424" y="1836293"/>
                  </a:lnTo>
                  <a:cubicBezTo>
                    <a:pt x="22188424" y="1862328"/>
                    <a:pt x="22166960" y="1883283"/>
                    <a:pt x="22140545" y="1883283"/>
                  </a:cubicBezTo>
                  <a:lnTo>
                    <a:pt x="47879" y="1883283"/>
                  </a:lnTo>
                  <a:cubicBezTo>
                    <a:pt x="21463" y="1883283"/>
                    <a:pt x="0" y="1862201"/>
                    <a:pt x="0" y="1836293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2226524" cy="1921383"/>
            </a:xfrm>
            <a:custGeom>
              <a:avLst/>
              <a:gdLst/>
              <a:ahLst/>
              <a:cxnLst/>
              <a:rect l="l" t="t" r="r" b="b"/>
              <a:pathLst>
                <a:path w="22226524" h="1921383">
                  <a:moveTo>
                    <a:pt x="0" y="66040"/>
                  </a:moveTo>
                  <a:cubicBezTo>
                    <a:pt x="0" y="29210"/>
                    <a:pt x="30353" y="0"/>
                    <a:pt x="66929" y="0"/>
                  </a:cubicBezTo>
                  <a:lnTo>
                    <a:pt x="22159595" y="0"/>
                  </a:lnTo>
                  <a:lnTo>
                    <a:pt x="22159595" y="19050"/>
                  </a:lnTo>
                  <a:lnTo>
                    <a:pt x="22159595" y="0"/>
                  </a:lnTo>
                  <a:cubicBezTo>
                    <a:pt x="22196298" y="0"/>
                    <a:pt x="22226524" y="29210"/>
                    <a:pt x="22226524" y="66040"/>
                  </a:cubicBezTo>
                  <a:lnTo>
                    <a:pt x="22207474" y="66040"/>
                  </a:lnTo>
                  <a:lnTo>
                    <a:pt x="22226524" y="66040"/>
                  </a:lnTo>
                  <a:lnTo>
                    <a:pt x="22226524" y="1855343"/>
                  </a:lnTo>
                  <a:lnTo>
                    <a:pt x="22207474" y="1855343"/>
                  </a:lnTo>
                  <a:lnTo>
                    <a:pt x="22226524" y="1855343"/>
                  </a:lnTo>
                  <a:cubicBezTo>
                    <a:pt x="22226524" y="1892173"/>
                    <a:pt x="22196171" y="1921383"/>
                    <a:pt x="22159595" y="1921383"/>
                  </a:cubicBezTo>
                  <a:lnTo>
                    <a:pt x="22159595" y="1902333"/>
                  </a:lnTo>
                  <a:lnTo>
                    <a:pt x="22159595" y="1921383"/>
                  </a:lnTo>
                  <a:lnTo>
                    <a:pt x="66929" y="1921383"/>
                  </a:lnTo>
                  <a:lnTo>
                    <a:pt x="66929" y="1902333"/>
                  </a:lnTo>
                  <a:lnTo>
                    <a:pt x="66929" y="1921383"/>
                  </a:lnTo>
                  <a:cubicBezTo>
                    <a:pt x="30226" y="1921383"/>
                    <a:pt x="0" y="1892173"/>
                    <a:pt x="0" y="1855343"/>
                  </a:cubicBezTo>
                  <a:lnTo>
                    <a:pt x="0" y="66040"/>
                  </a:lnTo>
                  <a:lnTo>
                    <a:pt x="19050" y="66040"/>
                  </a:lnTo>
                  <a:lnTo>
                    <a:pt x="0" y="66040"/>
                  </a:lnTo>
                  <a:moveTo>
                    <a:pt x="38100" y="66040"/>
                  </a:moveTo>
                  <a:lnTo>
                    <a:pt x="38100" y="1855343"/>
                  </a:lnTo>
                  <a:lnTo>
                    <a:pt x="19050" y="1855343"/>
                  </a:lnTo>
                  <a:lnTo>
                    <a:pt x="38100" y="1855343"/>
                  </a:lnTo>
                  <a:cubicBezTo>
                    <a:pt x="38100" y="1870456"/>
                    <a:pt x="50673" y="1883283"/>
                    <a:pt x="66929" y="1883283"/>
                  </a:cubicBezTo>
                  <a:lnTo>
                    <a:pt x="22159595" y="1883283"/>
                  </a:lnTo>
                  <a:cubicBezTo>
                    <a:pt x="22175851" y="1883283"/>
                    <a:pt x="22188424" y="1870456"/>
                    <a:pt x="22188424" y="1855343"/>
                  </a:cubicBezTo>
                  <a:lnTo>
                    <a:pt x="22188424" y="66040"/>
                  </a:lnTo>
                  <a:cubicBezTo>
                    <a:pt x="22188424" y="50927"/>
                    <a:pt x="22175851" y="38100"/>
                    <a:pt x="22159595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673" y="38100"/>
                    <a:pt x="38100" y="50927"/>
                    <a:pt x="38100" y="66040"/>
                  </a:cubicBezTo>
                  <a:close/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851892" y="6677174"/>
            <a:ext cx="941040" cy="1355377"/>
            <a:chOff x="0" y="0"/>
            <a:chExt cx="1254720" cy="180717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54633" cy="1807083"/>
            </a:xfrm>
            <a:custGeom>
              <a:avLst/>
              <a:gdLst/>
              <a:ahLst/>
              <a:cxnLst/>
              <a:rect l="l" t="t" r="r" b="b"/>
              <a:pathLst>
                <a:path w="1254633" h="1807083">
                  <a:moveTo>
                    <a:pt x="0" y="1270"/>
                  </a:moveTo>
                  <a:cubicBezTo>
                    <a:pt x="0" y="635"/>
                    <a:pt x="635" y="0"/>
                    <a:pt x="1270" y="0"/>
                  </a:cubicBezTo>
                  <a:lnTo>
                    <a:pt x="1253363" y="0"/>
                  </a:lnTo>
                  <a:cubicBezTo>
                    <a:pt x="1254125" y="0"/>
                    <a:pt x="1254633" y="635"/>
                    <a:pt x="1254633" y="1270"/>
                  </a:cubicBezTo>
                  <a:lnTo>
                    <a:pt x="1254633" y="1805813"/>
                  </a:lnTo>
                  <a:cubicBezTo>
                    <a:pt x="1254633" y="1806575"/>
                    <a:pt x="1253998" y="1807083"/>
                    <a:pt x="1253363" y="1807083"/>
                  </a:cubicBezTo>
                  <a:lnTo>
                    <a:pt x="1270" y="1807083"/>
                  </a:lnTo>
                  <a:cubicBezTo>
                    <a:pt x="508" y="1807083"/>
                    <a:pt x="0" y="1806448"/>
                    <a:pt x="0" y="1805813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1145976" y="7178427"/>
            <a:ext cx="352871" cy="352871"/>
          </a:xfrm>
          <a:custGeom>
            <a:avLst/>
            <a:gdLst/>
            <a:ahLst/>
            <a:cxnLst/>
            <a:rect l="l" t="t" r="r" b="b"/>
            <a:pathLst>
              <a:path w="352871" h="352871">
                <a:moveTo>
                  <a:pt x="0" y="0"/>
                </a:moveTo>
                <a:lnTo>
                  <a:pt x="352871" y="0"/>
                </a:lnTo>
                <a:lnTo>
                  <a:pt x="352871" y="352872"/>
                </a:lnTo>
                <a:lnTo>
                  <a:pt x="0" y="352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315" b="-1315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028081" y="6883747"/>
            <a:ext cx="2940695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AD1E6"/>
                </a:solidFill>
                <a:latin typeface="Arimo Bold"/>
                <a:ea typeface="Arimo Bold"/>
                <a:cs typeface="Arimo Bold"/>
                <a:sym typeface="Arimo Bold"/>
              </a:rPr>
              <a:t>Key Categories: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28081" y="7335291"/>
            <a:ext cx="15172879" cy="46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OOP, File Handling, System Programming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3317" y="8211443"/>
            <a:ext cx="16641366" cy="535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2812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This project showcases a blend of foundational C++ principles and practical system-level interactions.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91325" y="9007376"/>
            <a:ext cx="4705201" cy="63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687" b="1">
                <a:solidFill>
                  <a:srgbClr val="F94CAF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1508</Words>
  <Application>Microsoft Office PowerPoint</Application>
  <PresentationFormat>Custom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Consolas</vt:lpstr>
      <vt:lpstr>Arial</vt:lpstr>
      <vt:lpstr>Fira Sans</vt:lpstr>
      <vt:lpstr>Arimo Bold</vt:lpstr>
      <vt:lpstr>Calibri</vt:lpstr>
      <vt:lpstr>Fira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 Simple Tasks</dc:title>
  <dc:creator>Nivas</dc:creator>
  <cp:lastModifiedBy>Swarupa Khot</cp:lastModifiedBy>
  <cp:revision>3</cp:revision>
  <dcterms:created xsi:type="dcterms:W3CDTF">2006-08-16T00:00:00Z</dcterms:created>
  <dcterms:modified xsi:type="dcterms:W3CDTF">2025-10-28T06:38:50Z</dcterms:modified>
  <dc:identifier>DAG3BKDBiD4</dc:identifier>
</cp:coreProperties>
</file>